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3b3bb6e3aa48a9" /><Relationship Type="http://schemas.openxmlformats.org/officeDocument/2006/relationships/extended-properties" Target="/docProps/app.xml" Id="R23639a0f9e94465b" /><Relationship Type="http://schemas.openxmlformats.org/officeDocument/2006/relationships/officeDocument" Target="/ppt/presentation.xml" Id="R94bd9c55fde44f98" /></Relationships>
</file>

<file path=ppt/presentation.xml><?xml version="1.0" encoding="utf-8"?>
<p:presentation xmlns:p="http://schemas.openxmlformats.org/presentationml/2006/main">
  <p:sldMasterIdLst>
    <p:sldMasterId xmlns:r="http://schemas.openxmlformats.org/officeDocument/2006/relationships" id="2147483648" r:id="R3bf2a4af17164ec5"/>
  </p:sldMasterIdLst>
  <p:notesMasterIdLst>
    <p:notesMasterId xmlns:r="http://schemas.openxmlformats.org/officeDocument/2006/relationships" r:id="R708c0e9ea3064555"/>
  </p:notesMasterIdLst>
  <p:sldIdLst>
    <p:sldId xmlns:r="http://schemas.openxmlformats.org/officeDocument/2006/relationships" id="256" r:id="R95d8a802a277412b"/>
    <p:sldId xmlns:r="http://schemas.openxmlformats.org/officeDocument/2006/relationships" id="257" r:id="R73ddf3b6e77c4d09"/>
    <p:sldId xmlns:r="http://schemas.openxmlformats.org/officeDocument/2006/relationships" id="258" r:id="R583e8865ad0c44f1"/>
    <p:sldId xmlns:r="http://schemas.openxmlformats.org/officeDocument/2006/relationships" id="259" r:id="R5748af47be05473b"/>
    <p:sldId xmlns:r="http://schemas.openxmlformats.org/officeDocument/2006/relationships" id="260" r:id="R3f0155561ee44eab"/>
    <p:sldId xmlns:r="http://schemas.openxmlformats.org/officeDocument/2006/relationships" id="261" r:id="R1e1d983f67234a01"/>
    <p:sldId xmlns:r="http://schemas.openxmlformats.org/officeDocument/2006/relationships" id="262" r:id="R80b97ece8f124343"/>
    <p:sldId xmlns:r="http://schemas.openxmlformats.org/officeDocument/2006/relationships" id="263" r:id="Re83843285acb4136"/>
    <p:sldId xmlns:r="http://schemas.openxmlformats.org/officeDocument/2006/relationships" id="264" r:id="Rfacf110e162241a4"/>
    <p:sldId xmlns:r="http://schemas.openxmlformats.org/officeDocument/2006/relationships" id="265" r:id="Rcd22325462084df6"/>
    <p:sldId xmlns:r="http://schemas.openxmlformats.org/officeDocument/2006/relationships" id="266" r:id="R325a37b8af3e4858"/>
    <p:sldId xmlns:r="http://schemas.openxmlformats.org/officeDocument/2006/relationships" id="267" r:id="Re87abda51a654305"/>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62e30f945814a03" /><Relationship Type="http://schemas.openxmlformats.org/officeDocument/2006/relationships/slideMaster" Target="/ppt/slideMasters/slideMaster1.xml" Id="R3bf2a4af17164ec5" /><Relationship Type="http://schemas.openxmlformats.org/officeDocument/2006/relationships/notesMaster" Target="/ppt/notesMasters/notesMaster1.xml" Id="R708c0e9ea3064555" /><Relationship Type="http://schemas.openxmlformats.org/officeDocument/2006/relationships/presProps" Target="/ppt/presProps.xml" Id="Rf9712d0ab32849a0" /><Relationship Type="http://schemas.openxmlformats.org/officeDocument/2006/relationships/viewProps" Target="/ppt/viewProps.xml" Id="R92f415edc6d84561" /><Relationship Type="http://schemas.openxmlformats.org/officeDocument/2006/relationships/tableStyles" Target="/ppt/tableStyles.xml" Id="R9061fcdf07b74964" /><Relationship Type="http://schemas.openxmlformats.org/officeDocument/2006/relationships/slide" Target="/ppt/slides/slide1.xml" Id="R95d8a802a277412b" /><Relationship Type="http://schemas.openxmlformats.org/officeDocument/2006/relationships/slide" Target="/ppt/slides/slide2.xml" Id="R73ddf3b6e77c4d09" /><Relationship Type="http://schemas.openxmlformats.org/officeDocument/2006/relationships/slide" Target="/ppt/slides/slide3.xml" Id="R583e8865ad0c44f1" /><Relationship Type="http://schemas.openxmlformats.org/officeDocument/2006/relationships/slide" Target="/ppt/slides/slide4.xml" Id="R5748af47be05473b" /><Relationship Type="http://schemas.openxmlformats.org/officeDocument/2006/relationships/slide" Target="/ppt/slides/slide5.xml" Id="R3f0155561ee44eab" /><Relationship Type="http://schemas.openxmlformats.org/officeDocument/2006/relationships/slide" Target="/ppt/slides/slide6.xml" Id="R1e1d983f67234a01" /><Relationship Type="http://schemas.openxmlformats.org/officeDocument/2006/relationships/slide" Target="/ppt/slides/slide7.xml" Id="R80b97ece8f124343" /><Relationship Type="http://schemas.openxmlformats.org/officeDocument/2006/relationships/slide" Target="/ppt/slides/slide8.xml" Id="Re83843285acb4136" /><Relationship Type="http://schemas.openxmlformats.org/officeDocument/2006/relationships/slide" Target="/ppt/slides/slide9.xml" Id="Rfacf110e162241a4" /><Relationship Type="http://schemas.openxmlformats.org/officeDocument/2006/relationships/slide" Target="/ppt/slides/slide10.xml" Id="Rcd22325462084df6" /><Relationship Type="http://schemas.openxmlformats.org/officeDocument/2006/relationships/slide" Target="/ppt/slides/slide11.xml" Id="R325a37b8af3e4858" /><Relationship Type="http://schemas.openxmlformats.org/officeDocument/2006/relationships/slide" Target="/ppt/slides/slide12.xml" Id="Re87abda51a6543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46c67bdc244b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6d41977e2743cb" /><Relationship Type="http://schemas.openxmlformats.org/officeDocument/2006/relationships/notesMaster" Target="/ppt/notesMasters/notesMaster1.xml" Id="R10da8b11fb474e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a602b8fd7f40d3" /><Relationship Type="http://schemas.openxmlformats.org/officeDocument/2006/relationships/notesMaster" Target="/ppt/notesMasters/notesMaster1.xml" Id="R8da2131cba7342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aa243c9c8443f9" /><Relationship Type="http://schemas.openxmlformats.org/officeDocument/2006/relationships/notesMaster" Target="/ppt/notesMasters/notesMaster1.xml" Id="R23baf20a113242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36eb86d1bb4dca" /><Relationship Type="http://schemas.openxmlformats.org/officeDocument/2006/relationships/notesMaster" Target="/ppt/notesMasters/notesMaster1.xml" Id="R0692b05e2a264c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6e7ad38e884f42" /><Relationship Type="http://schemas.openxmlformats.org/officeDocument/2006/relationships/notesMaster" Target="/ppt/notesMasters/notesMaster1.xml" Id="Ra553c1150bf441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11d3cd5e5048b8" /><Relationship Type="http://schemas.openxmlformats.org/officeDocument/2006/relationships/notesMaster" Target="/ppt/notesMasters/notesMaster1.xml" Id="R110c3156002d4f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475dbd6ad74fe9" /><Relationship Type="http://schemas.openxmlformats.org/officeDocument/2006/relationships/notesMaster" Target="/ppt/notesMasters/notesMaster1.xml" Id="R680aa5905a3941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ba01dad8104dc5" /><Relationship Type="http://schemas.openxmlformats.org/officeDocument/2006/relationships/notesMaster" Target="/ppt/notesMasters/notesMaster1.xml" Id="R1c495e9a92264d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0ab4db1e1143d2" /><Relationship Type="http://schemas.openxmlformats.org/officeDocument/2006/relationships/notesMaster" Target="/ppt/notesMasters/notesMaster1.xml" Id="Rf937891419da4d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390eb7f61d4c2d" /><Relationship Type="http://schemas.openxmlformats.org/officeDocument/2006/relationships/notesMaster" Target="/ppt/notesMasters/notesMaster1.xml" Id="R590e02860d5543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47341560df4612" /><Relationship Type="http://schemas.openxmlformats.org/officeDocument/2006/relationships/notesMaster" Target="/ppt/notesMasters/notesMaster1.xml" Id="R8018274234dd4a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ef8f39f9034247" /><Relationship Type="http://schemas.openxmlformats.org/officeDocument/2006/relationships/notesMaster" Target="/ppt/notesMasters/notesMaster1.xml" Id="Rfbf3d5d8d5ae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Open with the personal experience that started SmartKids. The supplied deck describes a progression from gaming to the wider digital environment, then to practical alternatives and AI-assisted personalization. Present the dates and 500+ conversations as Joolian's own account, not as independently audited evidence.</a:t>
            </a:r>
          </a:p>
          <a:p xmlns:a="http://schemas.openxmlformats.org/drawingml/2006/main">
            <a:r>
              <a:t/>
            </a:r>
          </a:p>
          <a:p xmlns:a="http://schemas.openxmlformats.org/drawingml/2006/main">
            <a:r>
              <a:t>Tell the class: we will alternate six Joolian case slides with six practical AI slides. Half the discussion concerns the problem and business, and half concerns tools and models students can use. The technology examples are proposed approaches to evaluate, not a claim about Joolian's deployed stack.</a:t>
            </a:r>
          </a:p>
          <a:p xmlns:a="http://schemas.openxmlformats.org/drawingml/2006/main">
            <a:r>
              <a:t/>
            </a:r>
          </a:p>
          <a:p xmlns:a="http://schemas.openxmlformats.org/drawingml/2006/main">
            <a:r>
              <a:t>Transition: which parts of this venture could a small team test faster with AI?</a:t>
            </a:r>
          </a:p>
          <a:p xmlns:a="http://schemas.openxmlformats.org/drawingml/2006/main">
            <a:r>
              <a:t/>
            </a:r>
          </a:p>
          <a:p xmlns:a="http://schemas.openxmlformats.org/drawingml/2006/main">
            <a:r>
              <a:t>Sources</a:t>
            </a:r>
          </a:p>
          <a:p xmlns:a="http://schemas.openxmlformats.org/drawingml/2006/main">
            <a:r>
              <a:t>User-supplied Joolian presentation, original slide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This is a suggested startup toolkit, not a list of tools Joolian is known to use. Explain the artifact produced at each stage. For discovery, load permissioned, anonymized interview excerpts into Gemini Notebook and ask for themes with links to the original passages. For coding, ask Codex or Claude Code to build a self-check using fictional data, then personally review the behavior. For communication, use a general assistant to draft copy. Publishing or sending remains a human action. For operations, n8n can connect forms, model calls and review steps.</a:t>
            </a:r>
          </a:p>
          <a:p xmlns:a="http://schemas.openxmlformats.org/drawingml/2006/main">
            <a:r>
              <a:t/>
            </a:r>
          </a:p>
          <a:p xmlns:a="http://schemas.openxmlformats.org/drawingml/2006/main">
            <a:r>
              <a:t>Prompt for discovery: Using only these anonymized interviews, identify recurring parent needs. For each theme, cite the source passage and include a counterexample. Separate what participants said from your interpretation. End with one assumption we should test before building.</a:t>
            </a:r>
          </a:p>
          <a:p xmlns:a="http://schemas.openxmlformats.org/drawingml/2006/main">
            <a:r>
              <a:t/>
            </a:r>
          </a:p>
          <a:p xmlns:a="http://schemas.openxmlformats.org/drawingml/2006/main">
            <a:r>
              <a:t>These tools speed preparation. Synthetic interviews cannot validate demand, and generated code still requires review and testing.</a:t>
            </a:r>
          </a:p>
          <a:p xmlns:a="http://schemas.openxmlformats.org/drawingml/2006/main">
            <a:r>
              <a:t/>
            </a:r>
          </a:p>
          <a:p xmlns:a="http://schemas.openxmlformats.org/drawingml/2006/main">
            <a:r>
              <a:t>Sources</a:t>
            </a:r>
          </a:p>
          <a:p xmlns:a="http://schemas.openxmlformats.org/drawingml/2006/main">
            <a:r>
              <a:t>https://support.google.com/gemininotebook/answer/16262519?hl=en</a:t>
            </a:r>
          </a:p>
          <a:p xmlns:a="http://schemas.openxmlformats.org/drawingml/2006/main">
            <a:r>
              <a:t>https://code.claude.com/docs/en/overview</a:t>
            </a:r>
          </a:p>
          <a:p xmlns:a="http://schemas.openxmlformats.org/drawingml/2006/main">
            <a:r>
              <a:t>https://learn.chatgpt.com/docs</a:t>
            </a:r>
          </a:p>
          <a:p xmlns:a="http://schemas.openxmlformats.org/drawingml/2006/main">
            <a:r>
              <a:t>https://docs.n8n.io/build/integrate-ai.md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These statistics concern different samples, years and measures, so do not combine them into a causal story. The Common Sense Media release dated October 27, 2026 describes about eight hours of daily entertainment screen media among teens, excluding school and homework. Pew's 2025 survey gives 40% almost constantly online, replacing the previous deck's 46% from 2024. CDC reports roughly one in four for daily physical activity and separately for eight hours of sleep on an average school night. The 48% parental-stress figure is 2023 data cited by the Surgeon General's 2024 advisory.</a:t>
            </a:r>
          </a:p>
          <a:p xmlns:a="http://schemas.openxmlformats.org/drawingml/2006/main">
            <a:r>
              <a:t/>
            </a:r>
          </a:p>
          <a:p xmlns:a="http://schemas.openxmlformats.org/drawingml/2006/main">
            <a:r>
              <a:t>The product questions beneath the figures are Joolian design hypotheses. These surveys neither demonstrate Joolian's effectiveness nor establish that screen exposure caused the reported sleep, activity or stress patterns. Ask students which problem they would validate through interviews before building a feature.</a:t>
            </a:r>
          </a:p>
          <a:p xmlns:a="http://schemas.openxmlformats.org/drawingml/2006/main">
            <a:r>
              <a:t/>
            </a:r>
          </a:p>
          <a:p xmlns:a="http://schemas.openxmlformats.org/drawingml/2006/main">
            <a:r>
              <a:t>Sources</a:t>
            </a:r>
          </a:p>
          <a:p xmlns:a="http://schemas.openxmlformats.org/drawingml/2006/main">
            <a:r>
              <a:t>https://about.commonsensemedia.org/press-room/press-releases/half-tweens-and-teens-use-social-media-and-ai-chatbots-built-older-users-common-sense-media-research</a:t>
            </a:r>
          </a:p>
          <a:p xmlns:a="http://schemas.openxmlformats.org/drawingml/2006/main">
            <a:r>
              <a:t>https://www.pewresearch.org/internet/2025/12/09/teens-social-media-and-ai-chatbots-2025/</a:t>
            </a:r>
          </a:p>
          <a:p xmlns:a="http://schemas.openxmlformats.org/drawingml/2006/main">
            <a:r>
              <a:t>https://www.cdc.gov/yrbs/dstr/dietary-physical-sleep-behaviors.html</a:t>
            </a:r>
          </a:p>
          <a:p xmlns:a="http://schemas.openxmlformats.org/drawingml/2006/main">
            <a:r>
              <a:t>https://www.hhs.gov/surgeongeneral/reports-and-publications/parents/index.html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Demonstrate this using the reports behind the previous slide. Start with a deliberately small, vetted collection. Ask the tool to extract evidence rather than to invent a compelling story. Show how the result retains source dates and populations.</a:t>
            </a:r>
          </a:p>
          <a:p xmlns:a="http://schemas.openxmlformats.org/drawingml/2006/main">
            <a:r>
              <a:t/>
            </a:r>
          </a:p>
          <a:p xmlns:a="http://schemas.openxmlformats.org/drawingml/2006/main">
            <a:r>
              <a:t>A fuller classroom prompt: Using only the supplied reports, produce a table with claim, exact population, data-collection year, publication year, source passage and limitation. Say not found when the material does not support a claim. Separate observed associations from causal evidence. Do not extrapolate a population statistic to an individual child.</a:t>
            </a:r>
          </a:p>
          <a:p xmlns:a="http://schemas.openxmlformats.org/drawingml/2006/main">
            <a:r>
              <a:t/>
            </a:r>
          </a:p>
          <a:p xmlns:a="http://schemas.openxmlformats.org/drawingml/2006/main">
            <a:r>
              <a:t>The 46% to 40% Pew update is a useful example of why checking dates matters. Likewise, the CDC page's publication date differs from the survey year. These sources describe the problem environment. They do not validate Joolian's product outcomes.</a:t>
            </a:r>
          </a:p>
          <a:p xmlns:a="http://schemas.openxmlformats.org/drawingml/2006/main">
            <a:r>
              <a:t/>
            </a:r>
          </a:p>
          <a:p xmlns:a="http://schemas.openxmlformats.org/drawingml/2006/main">
            <a:r>
              <a:t>For a production knowledge base, a reviewer approves source material and updates it on a defined schedule. Retrieval can later bring relevant passages to a model without claiming the model itself has become a clinical expert.</a:t>
            </a:r>
          </a:p>
          <a:p xmlns:a="http://schemas.openxmlformats.org/drawingml/2006/main">
            <a:r>
              <a:t/>
            </a:r>
          </a:p>
          <a:p xmlns:a="http://schemas.openxmlformats.org/drawingml/2006/main">
            <a:r>
              <a:t>Sources</a:t>
            </a:r>
          </a:p>
          <a:p xmlns:a="http://schemas.openxmlformats.org/drawingml/2006/main">
            <a:r>
              <a:t>https://support.google.com/gemininotebook/answer/16262519?hl=en</a:t>
            </a:r>
          </a:p>
          <a:p xmlns:a="http://schemas.openxmlformats.org/drawingml/2006/main">
            <a:r>
              <a:t>https://www.pewresearch.org/internet/2025/12/09/teens-social-media-and-ai-chatbots-2025/</a:t>
            </a:r>
          </a:p>
          <a:p xmlns:a="http://schemas.openxmlformats.org/drawingml/2006/main">
            <a:r>
              <a:t>https://www.cdc.gov/yrbs/dstr/dietary-physical-sleep-behaviors.html</a:t>
            </a:r>
          </a:p>
          <a:p xmlns:a="http://schemas.openxmlformats.org/drawingml/2006/main">
            <a:r>
              <a:t>https://developers.openai.com/api/docs/guides/tools-file-search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Use the two columns as product-design questions rather than a universal judgment about technology. A child may use a screen to create, learn or stay connected. The same product can create interruptions, expose private information, or consume time the family wanted for something else. Avoid presenting dopamine as inherently harmful or implying that time alone diagnoses addiction.</a:t>
            </a:r>
          </a:p>
          <a:p xmlns:a="http://schemas.openxmlformats.org/drawingml/2006/main">
            <a:r>
              <a:t/>
            </a:r>
          </a:p>
          <a:p xmlns:a="http://schemas.openxmlformats.org/drawingml/2006/main">
            <a:r>
              <a:t>Ask: if Joolian uses AI to help a family, which familiar engagement tactics would undermine its purpose? Examples for discussion include endless chat, pressure to maintain streaks, and rewards for staying in the product. These are design considerations, not evidence about a particular child's health.</a:t>
            </a:r>
          </a:p>
          <a:p xmlns:a="http://schemas.openxmlformats.org/drawingml/2006/main">
            <a:r>
              <a:t/>
            </a:r>
          </a:p>
          <a:p xmlns:a="http://schemas.openxmlformats.org/drawingml/2006/main">
            <a:r>
              <a:t>Transition: the model should suit the job. A more expensive model does not automatically make a family product safer.</a:t>
            </a:r>
          </a:p>
          <a:p xmlns:a="http://schemas.openxmlformats.org/drawingml/2006/main">
            <a:r>
              <a:t/>
            </a:r>
          </a:p>
          <a:p xmlns:a="http://schemas.openxmlformats.org/drawingml/2006/main">
            <a:r>
              <a:t>Sources</a:t>
            </a:r>
          </a:p>
          <a:p xmlns:a="http://schemas.openxmlformats.org/drawingml/2006/main">
            <a:r>
              <a:t>User-supplied Joolian presentation, original slide 3.</a:t>
            </a:r>
          </a:p>
          <a:p xmlns:a="http://schemas.openxmlformats.org/drawingml/2006/main">
            <a:r>
              <a:t>https://about.commonsensemedia.org/press-room/press-releases/half-tweens-and-teens-use-social-media-and-ai-chatbots-built-older-users-common-sense-media-research</a:t>
            </a:r>
          </a:p>
          <a:p xmlns:a="http://schemas.openxmlformats.org/drawingml/2006/main">
            <a:r>
              <a:t>https://www.cdc.gov/yrbs/dstr/dietary-physical-sleep-behaviors.html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Define the layers. ChatGPT and Claude are user-facing applications. GPT-6.1 Sol and Claude Sonnet 5.5 are examples of models developers can call. Retrieval, maps and databases are tools around the model. The table groups possible candidates by workload, using providers' descriptions as a starting point. It does not establish that these models perform best on Joolian tasks.</a:t>
            </a:r>
          </a:p>
          <a:p xmlns:a="http://schemas.openxmlformats.org/drawingml/2006/main">
            <a:r>
              <a:t/>
            </a:r>
          </a:p>
          <a:p xmlns:a="http://schemas.openxmlformats.org/drawingml/2006/main">
            <a:r>
              <a:t>For the self-check, compare whether each model correctly extracts age band, interests, constraints and an unknown field. For agreement drafting, check whether it represents both parent and child fairly. Use a stronger reasoning model only where the observed quality gain warrants it. A model escalation is separate from escalation to a qualified person. High-stakes situations still follow a defined human-support route.</a:t>
            </a:r>
          </a:p>
          <a:p xmlns:a="http://schemas.openxmlformats.org/drawingml/2006/main">
            <a:r>
              <a:t/>
            </a:r>
          </a:p>
          <a:p xmlns:a="http://schemas.openxmlformats.org/drawingml/2006/main">
            <a:r>
              <a:t>Suggested classroom test design: 20 fictional cases covering normal, ambiguous, missing-data and unsafe requests. Measure factual errors, schema accuracy, policy adherence, response time and cost per useful completion. Twenty cases are a starting classroom exercise, not evidence of readiness for deployment. Verify product access, settings and model availability before implementation.</a:t>
            </a:r>
          </a:p>
          <a:p xmlns:a="http://schemas.openxmlformats.org/drawingml/2006/main">
            <a:r>
              <a:t/>
            </a:r>
          </a:p>
          <a:p xmlns:a="http://schemas.openxmlformats.org/drawingml/2006/main">
            <a:r>
              <a:t>Sources</a:t>
            </a:r>
          </a:p>
          <a:p xmlns:a="http://schemas.openxmlformats.org/drawingml/2006/main">
            <a:r>
              <a:t>https://developers.openai.com/api/docs/models</a:t>
            </a:r>
          </a:p>
          <a:p xmlns:a="http://schemas.openxmlformats.org/drawingml/2006/main">
            <a:r>
              <a:t>https://platform.claude.com/docs/en/models/overview</a:t>
            </a:r>
          </a:p>
          <a:p xmlns:a="http://schemas.openxmlformats.org/drawingml/2006/main">
            <a:r>
              <a:t>https://ai.google.dev/gemini-api/docs/models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Explain Give Choice through a family negotiation, not a restriction engine. For example, a child wants more independence and a parent wants an evening routine with less conflict. The product can help them agree on a small experiment and an alternative the child actually likes.</a:t>
            </a:r>
          </a:p>
          <a:p xmlns:a="http://schemas.openxmlformats.org/drawingml/2006/main">
            <a:r>
              <a:t/>
            </a:r>
          </a:p>
          <a:p xmlns:a="http://schemas.openxmlformats.org/drawingml/2006/main">
            <a:r>
              <a:t>Research informs the conversation, the whole family participates, the proposed change stays manageable, and every request for less screen use needs a credible answer to what happens instead. The original deck used the word diagnose in the process. Here, understand avoids suggesting that a family self-check produces a clinical diagnosis.</a:t>
            </a:r>
          </a:p>
          <a:p xmlns:a="http://schemas.openxmlformats.org/drawingml/2006/main">
            <a:r>
              <a:t/>
            </a:r>
          </a:p>
          <a:p xmlns:a="http://schemas.openxmlformats.org/drawingml/2006/main">
            <a:r>
              <a:t>Transition: useful personalization needs evidence, current data and a clear decision boundary. A language model alone supplies none of those reliably.</a:t>
            </a:r>
          </a:p>
          <a:p xmlns:a="http://schemas.openxmlformats.org/drawingml/2006/main">
            <a:r>
              <a:t/>
            </a:r>
          </a:p>
          <a:p xmlns:a="http://schemas.openxmlformats.org/drawingml/2006/main">
            <a:r>
              <a:t>Sources</a:t>
            </a:r>
          </a:p>
          <a:p xmlns:a="http://schemas.openxmlformats.org/drawingml/2006/main">
            <a:r>
              <a:t>User-supplied Joolian presentation, original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Walk through one request: find something a child could do on Saturday within the family's budget. The application retrieves only the family fields required for the request. It finds relevant reviewed guidance and queries current activity records. The model uses those results to explain possible choices. The family confirms before a booking, payment or disclosure.</a:t>
            </a:r>
          </a:p>
          <a:p xmlns:a="http://schemas.openxmlformats.org/drawingml/2006/main">
            <a:r>
              <a:t/>
            </a:r>
          </a:p>
          <a:p xmlns:a="http://schemas.openxmlformats.org/drawingml/2006/main">
            <a:r>
              <a:t>RAG stands for retrieval-augmented generation. It means looking up relevant evidence and including it in the model's working context. Retrieval reduces dependence on remembered facts, but citations and source quality still require checking. The database holds approved memory, so we do not imply that the model automatically remembers everything safely.</a:t>
            </a:r>
          </a:p>
          <a:p xmlns:a="http://schemas.openxmlformats.org/drawingml/2006/main">
            <a:r>
              <a:t/>
            </a:r>
          </a:p>
          <a:p xmlns:a="http://schemas.openxmlformats.org/drawingml/2006/main">
            <a:r>
              <a:t>Google Places identifies locations and associated place details. A separate provider feed, verified record or direct confirmation must establish class suitability, schedules, fees and availability. These sources may be stale or incomplete. Treat external text as data, not instructions that can change system permissions. Tool calls should use approved functions and validated arguments. A human confirmation belongs immediately before a consequential action.</a:t>
            </a:r>
          </a:p>
          <a:p xmlns:a="http://schemas.openxmlformats.org/drawingml/2006/main">
            <a:r>
              <a:t/>
            </a:r>
          </a:p>
          <a:p xmlns:a="http://schemas.openxmlformats.org/drawingml/2006/main">
            <a:r>
              <a:t>Sources</a:t>
            </a:r>
          </a:p>
          <a:p xmlns:a="http://schemas.openxmlformats.org/drawingml/2006/main">
            <a:r>
              <a:t>https://developers.openai.com/api/docs/guides/tools-file-search</a:t>
            </a:r>
          </a:p>
          <a:p xmlns:a="http://schemas.openxmlformats.org/drawingml/2006/main">
            <a:r>
              <a:t>https://developers.openai.com/api/docs/guides/function-calling</a:t>
            </a:r>
          </a:p>
          <a:p xmlns:a="http://schemas.openxmlformats.org/drawingml/2006/main">
            <a:r>
              <a:t>https://developers.google.com/maps/documentation/places/web-service/overview</a:t>
            </a:r>
          </a:p>
          <a:p xmlns:a="http://schemas.openxmlformats.org/drawingml/2006/main">
            <a:r>
              <a:t>https://docs.n8n.io/build/integrate-ai.md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Walk through each job in one sentence. Understand is a family self-check, Agree is a shared pact, Choose supports a readiness conversation, Change is a small reset, Live finds real-world alternatives, and Grow supports greater independence over time. These describe the supplied Joolian concept, not verified product availability.</a:t>
            </a:r>
          </a:p>
          <a:p xmlns:a="http://schemas.openxmlformats.org/drawingml/2006/main">
            <a:r>
              <a:t/>
            </a:r>
          </a:p>
          <a:p xmlns:a="http://schemas.openxmlformats.org/drawingml/2006/main">
            <a:r>
              <a:t>The horizontal capabilities connect the steps: approved context, review of outcomes, and a route to people when routine support is insufficient. Present the revenue lines as proposed business-model routes from the source deck, not established revenue. Families could subscribe, providers could offer bookings and tools, and organizations could provide distribution.</a:t>
            </a:r>
          </a:p>
          <a:p xmlns:a="http://schemas.openxmlformats.org/drawingml/2006/main">
            <a:r>
              <a:t/>
            </a:r>
          </a:p>
          <a:p xmlns:a="http://schemas.openxmlformats.org/drawingml/2006/main">
            <a:r>
              <a:t>A class discussion worth raising: how can Joolian earn booking revenue while keeping recommendation quality and family choice first? Proposed answers include disclosing commercial relationships and separating suitability ranking from payment.</a:t>
            </a:r>
          </a:p>
          <a:p xmlns:a="http://schemas.openxmlformats.org/drawingml/2006/main">
            <a:r>
              <a:t/>
            </a:r>
          </a:p>
          <a:p xmlns:a="http://schemas.openxmlformats.org/drawingml/2006/main">
            <a:r>
              <a:t>Sources</a:t>
            </a:r>
          </a:p>
          <a:p xmlns:a="http://schemas.openxmlformats.org/drawingml/2006/main">
            <a:r>
              <a:t>User-supplied Joolian presentation, original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This table is the practical translation of the Joolian journey. Each row combines a model with input data, rules or tools. The implementation ideas are proposals.</a:t>
            </a:r>
          </a:p>
          <a:p xmlns:a="http://schemas.openxmlformats.org/drawingml/2006/main">
            <a:r>
              <a:t/>
            </a:r>
          </a:p>
          <a:p xmlns:a="http://schemas.openxmlformats.org/drawingml/2006/main">
            <a:r>
              <a:t>Understand: extract a structured profile from questionnaire answers. Preserve unknown fields rather than inventing them. Agree: draft a pact with commitments from both parent and child. Choose: retrieve reviewed ratings and explain the match against family rules, including source dates. Change: select a small experiment from an approved, nonclinical playbook and agree on a follow-up. Live: obtain candidate activities, filter against constraints and explain why an option fits. Grow: create scenarios and assess answers against a transparent rubric, leaving privileges to the parent.</a:t>
            </a:r>
          </a:p>
          <a:p xmlns:a="http://schemas.openxmlformats.org/drawingml/2006/main">
            <a:r>
              <a:t/>
            </a:r>
          </a:p>
          <a:p xmlns:a="http://schemas.openxmlformats.org/drawingml/2006/main">
            <a:r>
              <a:t>Across all rows, moderation may flag categories of harmful content. Add explicit product rules, output checks and human review. Measure both missed concerning cases and unnecessary escalations. A classifier is neither a clinical assessment nor complete child-safety coverage. Keep professional or emergency pathways defined by appropriate human experts and location, rather than letting the model invent a referral.</a:t>
            </a:r>
          </a:p>
          <a:p xmlns:a="http://schemas.openxmlformats.org/drawingml/2006/main">
            <a:r>
              <a:t/>
            </a:r>
          </a:p>
          <a:p xmlns:a="http://schemas.openxmlformats.org/drawingml/2006/main">
            <a:r>
              <a:t>Sources</a:t>
            </a:r>
          </a:p>
          <a:p xmlns:a="http://schemas.openxmlformats.org/drawingml/2006/main">
            <a:r>
              <a:t>https://developers.openai.com/api/docs/models</a:t>
            </a:r>
          </a:p>
          <a:p xmlns:a="http://schemas.openxmlformats.org/drawingml/2006/main">
            <a:r>
              <a:t>https://platform.claude.com/docs/en/models/overview</a:t>
            </a:r>
          </a:p>
          <a:p xmlns:a="http://schemas.openxmlformats.org/drawingml/2006/main">
            <a:r>
              <a:t>https://developers.openai.com/api/docs/guides/tools-file-search</a:t>
            </a:r>
          </a:p>
          <a:p xmlns:a="http://schemas.openxmlformats.org/drawingml/2006/main">
            <a:r>
              <a:t>https://developers.google.com/maps/documentation/places/web-service/overview</a:t>
            </a:r>
          </a:p>
          <a:p xmlns:a="http://schemas.openxmlformats.org/drawingml/2006/main">
            <a:r>
              <a:t>https://developers.openai.com/api/docs/guides/moderation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These are proposed success criteria, not measured Joolian results. Ask whether the family found the result accurate, chose an action and benefited from trying it. The outcome should matter outside the chat. Avoid treating longer sessions or more messages as proof of benefit.</a:t>
            </a:r>
          </a:p>
          <a:p xmlns:a="http://schemas.openxmlformats.org/drawingml/2006/main">
            <a:r>
              <a:t/>
            </a:r>
          </a:p>
          <a:p xmlns:a="http://schemas.openxmlformats.org/drawingml/2006/main">
            <a:r>
              <a:t>For a pilot, collect a simple outcome and a reason: accepted, edited, rejected, or tried, followed by a short explanation. Keep account-level memory separate from model training. Let families review and delete their stored context. Do not infer a child's diagnosis from a survey or use a model score to automatically grant privileges.</a:t>
            </a:r>
          </a:p>
          <a:p xmlns:a="http://schemas.openxmlformats.org/drawingml/2006/main">
            <a:r>
              <a:t/>
            </a:r>
          </a:p>
          <a:p xmlns:a="http://schemas.openxmlformats.org/drawingml/2006/main">
            <a:r>
              <a:t>Prototype evaluation can begin with fictional cases, then involve consented participants and appropriate review. Measure factual errors, unsuitable suggestions, cost per useful result and response time alongside family feedback.</a:t>
            </a:r>
          </a:p>
          <a:p xmlns:a="http://schemas.openxmlformats.org/drawingml/2006/main">
            <a:r>
              <a:t/>
            </a:r>
          </a:p>
          <a:p xmlns:a="http://schemas.openxmlformats.org/drawingml/2006/main">
            <a:r>
              <a:t>Transition: the final slide is a class exercise that makes the Live step concrete.</a:t>
            </a:r>
          </a:p>
          <a:p xmlns:a="http://schemas.openxmlformats.org/drawingml/2006/main">
            <a:r>
              <a:t/>
            </a:r>
          </a:p>
          <a:p xmlns:a="http://schemas.openxmlformats.org/drawingml/2006/main">
            <a:r>
              <a:t>Sources</a:t>
            </a:r>
          </a:p>
          <a:p xmlns:a="http://schemas.openxmlformats.org/drawingml/2006/main">
            <a:r>
              <a:t>User-supplied Joolian presentation, original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or extend to a five-minute activity with discussion. All family details and activity records on this slide are fictional. The records describe alternative activities, not an itinerary. Their durations, travel times and availability are intentionally unspecified.</a:t>
            </a:r>
          </a:p>
          <a:p xmlns:a="http://schemas.openxmlformats.org/drawingml/2006/main">
            <a:r>
              <a:t/>
            </a:r>
          </a:p>
          <a:p xmlns:a="http://schemas.openxmlformats.org/drawingml/2006/main">
            <a:r>
              <a:t>Run a vague prompt first: Find a fun Saturday activity for a 12-year-old in Santa Clara. Then compare it with the complete grounded prompt below. Students can observe invented details, irrelevant suggestions and missing questions. No personal child data is required.</a:t>
            </a:r>
          </a:p>
          <a:p xmlns:a="http://schemas.openxmlformats.org/drawingml/2006/main">
            <a:r>
              <a:t/>
            </a:r>
          </a:p>
          <a:p xmlns:a="http://schemas.openxmlformats.org/drawingml/2006/main">
            <a:r>
              <a:t>Copyable prompt:</a:t>
            </a:r>
          </a:p>
          <a:p xmlns:a="http://schemas.openxmlformats.org/drawingml/2006/main">
            <a:r>
              <a:t>Act as a family activity assistant. This is a fictional classroom exercise. A child aged 12 in Santa Clara likes drawing and soccer, has Saturday 2–4 p.m. available, and a $20 budget per activity. Use only these fictional records: A, drawing at 2 p.m., $15, ages 10–14. B, soccer at 3 p.m., free, ages 11–13. C, robotics at 2 p.m., $35, ages 10–14. Suggest two alternatives. For each, cite its record letter and explain which constraints it meets. Do not invent a venue, distance, duration, booking link, available place or health benefit. List what remains unknown and ask one useful follow-up question. Ask an adult for approval before any booking or sharing.</a:t>
            </a:r>
          </a:p>
          <a:p xmlns:a="http://schemas.openxmlformats.org/drawingml/2006/main">
            <a:r>
              <a:t/>
            </a:r>
          </a:p>
          <a:p xmlns:a="http://schemas.openxmlformats.org/drawingml/2006/main">
            <a:r>
              <a:t>Expected behavior: suggest A and B as alternatives, explain the age and interest fit, reject C because it exceeds the stated budget, and say that duration and availability are unknown. Ask for a suitable travel radius or whether either activity actually has space. Score groundedness, constraint fit, and appropriate action boundaries. The expected behavior is an authored teaching example, not a captured model output.</a:t>
            </a:r>
          </a:p>
          <a:p xmlns:a="http://schemas.openxmlformats.org/drawingml/2006/main">
            <a:r>
              <a:t/>
            </a:r>
          </a:p>
          <a:p xmlns:a="http://schemas.openxmlformats.org/drawingml/2006/main">
            <a:r>
              <a:t>Closing discussion: what would have to be connected and verified before this classroom prompt could become a reliable product?</a:t>
            </a:r>
          </a:p>
          <a:p xmlns:a="http://schemas.openxmlformats.org/drawingml/2006/main">
            <a:r>
              <a:t/>
            </a:r>
          </a:p>
          <a:p xmlns:a="http://schemas.openxmlformats.org/drawingml/2006/main">
            <a:r>
              <a:t>Sources</a:t>
            </a:r>
          </a:p>
          <a:p xmlns:a="http://schemas.openxmlformats.org/drawingml/2006/main">
            <a:r>
              <a:t>https://developers.openai.com/api/docs/guides/function-calling</a:t>
            </a:r>
          </a:p>
          <a:p xmlns:a="http://schemas.openxmlformats.org/drawingml/2006/main">
            <a:r>
              <a:t>https://developers.google.com/maps/documentation/places/web-service/overview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d114fc781041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45689b04384ae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JOOLIAN">
    <p:bg>
      <p:bgPr>
        <a:solidFill xmlns:a="http://schemas.openxmlformats.org/drawingml/2006/main">
          <a:srgbClr val="F6F1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DBA4ED-C7DE-4A21-9344-C960B0965EC6}"/>
              </a:ext>
            </a:extLst>
          </p:cNvPr>
          <p:cNvSpPr>
            <a:spLocks xmlns:a="http://schemas.openxmlformats.org/drawingml/2006/main" noGrp="1"/>
          </p:cNvSpPr>
          <p:nvPr/>
        </p:nvSpPr>
        <p:spPr>
          <a:xfrm xmlns:a="http://schemas.openxmlformats.org/drawingml/2006/main">
            <a:off x="347472" y="201168"/>
            <a:ext cx="10972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F57C00"/>
                </a:solidFill>
                <a:latin typeface="Aptos"/>
                <a:ea typeface="Aptos"/>
                <a:cs typeface="Aptos"/>
              </a:rPr>
              <a:t>Joolian</a:t>
            </a:r>
            <a:endParaRPr sz="1000"/>
          </a:p>
        </p:txBody>
      </p:sp>
      <p:sp>
        <p:nvSpPr>
          <p:cNvPr id="3" name="Text 1">
            <a:extLst xmlns:a="http://schemas.openxmlformats.org/drawingml/2006/main">
              <a:ext uri="{FF2B5EF4-FFF2-40B4-BE49-F238E27FC236}">
                <a16:creationId xmlns:a16="http://schemas.microsoft.com/office/drawing/2014/main" id="{1BFBCDF9-EF33-4B37-8AB7-C0C89D92897C}"/>
              </a:ext>
            </a:extLst>
          </p:cNvPr>
          <p:cNvSpPr>
            <a:spLocks xmlns:a="http://schemas.openxmlformats.org/drawingml/2006/main" noGrp="1"/>
          </p:cNvSpPr>
          <p:nvPr/>
        </p:nvSpPr>
        <p:spPr>
          <a:xfrm xmlns:a="http://schemas.openxmlformats.org/drawingml/2006/main">
            <a:off x="8458200" y="6510528"/>
            <a:ext cx="33375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A7A7A"/>
                </a:solidFill>
              </a:rPr>
              <a:t>Joolian.ai  |  Santa Clara University  |  October 2026</a:t>
            </a:r>
            <a:endParaRPr sz="750"/>
          </a:p>
        </p:txBody>
      </p:sp>
      <p:sp>
        <p:nvSpPr>
          <p:cNvPr id="25" name="Slide Number Placeholder 0">
            <a:extLst xmlns:a="http://schemas.openxmlformats.org/drawingml/2006/main">
              <a:ext uri="{FF2B5EF4-FFF2-40B4-BE49-F238E27FC236}">
                <a16:creationId xmlns:a16="http://schemas.microsoft.com/office/drawing/2014/main" id="{5496F597-D11A-49C2-A1DF-0D904B1E80E9}"/>
              </a:ext>
            </a:extLst>
          </p:cNvPr>
          <p:cNvSpPr>
            <a:spLocks xmlns:a="http://schemas.openxmlformats.org/drawingml/2006/main" noGrp="1"/>
          </p:cNvSpPr>
          <p:nvPr>
            <p:ph type="sldNum" idx="4294967295"/>
          </p:nvPr>
        </p:nvSpPr>
        <p:spPr>
          <a:xfrm xmlns:a="http://schemas.openxmlformats.org/drawingml/2006/main">
            <a:off x="11841480" y="201168"/>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A0A0A0"/>
                </a:solidFill>
              </a:defRPr>
            </a:lvl1pPr>
          </a:lstStyle>
          <a:p xmlns:a="http://schemas.openxmlformats.org/drawingml/2006/main">
            <a:pPr algn="l">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feb75634bc4825" /><Relationship Type="http://schemas.openxmlformats.org/officeDocument/2006/relationships/slideLayout" Target="/ppt/slideLayouts/slideLayout1.xml" Id="R42c5d8513d074a7a" /><Relationship Type="http://schemas.openxmlformats.org/officeDocument/2006/relationships/slideLayout" Target="/ppt/slideLayouts/slideLayout2.xml" Id="Ref632641a8f8493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E672D639-8DE7-4764-A7FF-2887DC3B3F6E}"/>
              </a:ext>
            </a:extLst>
          </p:cNvPr>
          <p:cNvSpPr>
            <a:spLocks xmlns:a="http://schemas.openxmlformats.org/drawingml/2006/main" noGrp="1"/>
          </p:cNvSpPr>
          <p:nvPr>
            <p:ph type="sldNum" idx="4294967295"/>
          </p:nvPr>
        </p:nvSpPr>
        <p:spPr>
          <a:xfrm xmlns:a="http://schemas.openxmlformats.org/drawingml/2006/main">
            <a:off x="11841480" y="201168"/>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A0A0A0"/>
                </a:solidFill>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c5d8513d074a7a"/>
    <p:sldLayoutId xmlns:r="http://schemas.openxmlformats.org/officeDocument/2006/relationships" id="2147483650" r:id="Ref632641a8f8493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f96077cdb7eb4360" /><Relationship Type="http://schemas.openxmlformats.org/officeDocument/2006/relationships/notesSlide" Target="/ppt/notesSlides/notesSlide1.xml" Id="R03d8812e49304c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1e44f9f623742c4" /><Relationship Type="http://schemas.openxmlformats.org/officeDocument/2006/relationships/notesSlide" Target="/ppt/notesSlides/notesSlide2.xml" Id="R5f175ac9d8f548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eb298f3fdc341f9" /><Relationship Type="http://schemas.openxmlformats.org/officeDocument/2006/relationships/notesSlide" Target="/ppt/notesSlides/notesSlide3.xml" Id="Rbdfda923618a43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e754e4ddae9451c" /><Relationship Type="http://schemas.openxmlformats.org/officeDocument/2006/relationships/notesSlide" Target="/ppt/notesSlides/notesSlide4.xml" Id="R579b83be11634b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b1b3ad304104bd5" /><Relationship Type="http://schemas.openxmlformats.org/officeDocument/2006/relationships/notesSlide" Target="/ppt/notesSlides/notesSlide5.xml" Id="R758c7fdf58f04e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e8b1893f77f4061" /><Relationship Type="http://schemas.openxmlformats.org/officeDocument/2006/relationships/notesSlide" Target="/ppt/notesSlides/notesSlide6.xml" Id="Rbbd1586a2df447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224464bc07c4f67" /><Relationship Type="http://schemas.openxmlformats.org/officeDocument/2006/relationships/notesSlide" Target="/ppt/notesSlides/notesSlide7.xml" Id="R8b440793a95149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add8750b2464673" /><Relationship Type="http://schemas.openxmlformats.org/officeDocument/2006/relationships/notesSlide" Target="/ppt/notesSlides/notesSlide8.xml" Id="R190579a5dadb48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35e32724ddd4fd9" /><Relationship Type="http://schemas.openxmlformats.org/officeDocument/2006/relationships/notesSlide" Target="/ppt/notesSlides/notesSlide9.xml" Id="Rae9a31aaf6114c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85ab9f1c6924341" /><Relationship Type="http://schemas.openxmlformats.org/officeDocument/2006/relationships/notesSlide" Target="/ppt/notesSlides/notesSlide10.xml" Id="Red7b3410f1164d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e30d3eb55c94991" /><Relationship Type="http://schemas.openxmlformats.org/officeDocument/2006/relationships/notesSlide" Target="/ppt/notesSlides/notesSlide11.xml" Id="R17ff75681f3c4d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e5ed3b727a84506" /><Relationship Type="http://schemas.openxmlformats.org/officeDocument/2006/relationships/notesSlide" Target="/ppt/notesSlides/notesSlide12.xml" Id="R680a64aff597435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1412F8-233A-43B5-856F-2A0290D3C9E0}"/>
              </a:ext>
            </a:extLst>
          </p:cNvPr>
          <p:cNvSpPr>
            <a:spLocks xmlns:a="http://schemas.openxmlformats.org/drawingml/2006/main" noGrp="1"/>
          </p:cNvSpPr>
          <p:nvPr/>
        </p:nvSpPr>
        <p:spPr>
          <a:xfrm xmlns:a="http://schemas.openxmlformats.org/drawingml/2006/main">
            <a:off x="502920" y="5029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80">
                <a:solidFill>
                  <a:srgbClr val="F57C00"/>
                </a:solidFill>
              </a:rPr>
              <a:t>JOOLIAN CASE 1 OF 6</a:t>
            </a:r>
            <a:endParaRPr sz="1000"/>
          </a:p>
        </p:txBody>
      </p:sp>
      <p:sp>
        <p:nvSpPr>
          <p:cNvPr id="3" name="Text 1">
            <a:extLst xmlns:a="http://schemas.openxmlformats.org/drawingml/2006/main">
              <a:ext uri="{FF2B5EF4-FFF2-40B4-BE49-F238E27FC236}">
                <a16:creationId xmlns:a16="http://schemas.microsoft.com/office/drawing/2014/main" id="{9BC31A37-3F34-4F43-9F2D-278DC56EC61F}"/>
              </a:ext>
            </a:extLst>
          </p:cNvPr>
          <p:cNvSpPr>
            <a:spLocks xmlns:a="http://schemas.openxmlformats.org/drawingml/2006/main" noGrp="1"/>
          </p:cNvSpPr>
          <p:nvPr/>
        </p:nvSpPr>
        <p:spPr>
          <a:xfrm xmlns:a="http://schemas.openxmlformats.org/drawingml/2006/main">
            <a:off x="502920" y="786384"/>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72033"/>
                </a:solidFill>
              </a:rPr>
              <a:t>Joolian: a family problem becomes a platform</a:t>
            </a:r>
            <a:endParaRPr sz="2700"/>
          </a:p>
        </p:txBody>
      </p:sp>
      <p:sp>
        <p:nvSpPr>
          <p:cNvPr id="4" name="Text 2">
            <a:extLst xmlns:a="http://schemas.openxmlformats.org/drawingml/2006/main">
              <a:ext uri="{FF2B5EF4-FFF2-40B4-BE49-F238E27FC236}">
                <a16:creationId xmlns:a16="http://schemas.microsoft.com/office/drawing/2014/main" id="{736ABEF5-AD09-4CDD-B095-5B090032C12E}"/>
              </a:ext>
            </a:extLst>
          </p:cNvPr>
          <p:cNvSpPr>
            <a:spLocks xmlns:a="http://schemas.openxmlformats.org/drawingml/2006/main" noGrp="1"/>
          </p:cNvSpPr>
          <p:nvPr/>
        </p:nvSpPr>
        <p:spPr>
          <a:xfrm xmlns:a="http://schemas.openxmlformats.org/drawingml/2006/main">
            <a:off x="502920" y="1353312"/>
            <a:ext cx="109728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buNone/>
            </a:pPr>
            <a:r>
              <a:rPr sz="1650">
                <a:solidFill>
                  <a:srgbClr val="6F7782"/>
                </a:solidFill>
              </a:rPr>
              <a:t>A Santa Clara University case study in building a business with AI.</a:t>
            </a:r>
            <a:endParaRPr sz="1600"/>
          </a:p>
        </p:txBody>
      </p:sp>
      <p:sp>
        <p:nvSpPr>
          <p:cNvPr id="5" name="Shape 3">
            <a:extLst xmlns:a="http://schemas.openxmlformats.org/drawingml/2006/main">
              <a:ext uri="{FF2B5EF4-FFF2-40B4-BE49-F238E27FC236}">
                <a16:creationId xmlns:a16="http://schemas.microsoft.com/office/drawing/2014/main" id="{53599F0F-261A-4946-BC0E-D63E9F499BF3}"/>
              </a:ext>
            </a:extLst>
          </p:cNvPr>
          <p:cNvSpPr>
            <a:spLocks xmlns:a="http://schemas.openxmlformats.org/drawingml/2006/main" noGrp="1"/>
          </p:cNvSpPr>
          <p:nvPr/>
        </p:nvSpPr>
        <p:spPr>
          <a:xfrm xmlns:a="http://schemas.openxmlformats.org/drawingml/2006/main">
            <a:off x="1097280" y="2193510"/>
            <a:ext cx="9966960" cy="0"/>
          </a:xfrm>
          <a:prstGeom xmlns:a="http://schemas.openxmlformats.org/drawingml/2006/main" prst="line">
            <a:avLst/>
          </a:prstGeom>
          <a:noFill xmlns:a="http://schemas.openxmlformats.org/drawingml/2006/main"/>
          <a:ln xmlns:a="http://schemas.openxmlformats.org/drawingml/2006/main" w="25400">
            <a:solidFill>
              <a:srgbClr val="C8B89F"/>
            </a:solidFill>
            <a:prstDash val="solid"/>
          </a:ln>
        </p:spPr>
        <p:txBody>
          <a:bodyPr xmlns:a="http://schemas.openxmlformats.org/drawingml/2006/main"/>
          <a:lstStyle xmlns:a="http://schemas.openxmlformats.org/drawingml/2006/main"/>
          <a:p xmlns:a="http://schemas.openxmlformats.org/drawingml/2006/main">
            <a:endParaRPr sz="3200"/>
          </a:p>
        </p:txBody>
      </p:sp>
      <p:sp>
        <p:nvSpPr>
          <p:cNvPr id="6" name="Shape 4">
            <a:extLst xmlns:a="http://schemas.openxmlformats.org/drawingml/2006/main">
              <a:ext uri="{FF2B5EF4-FFF2-40B4-BE49-F238E27FC236}">
                <a16:creationId xmlns:a16="http://schemas.microsoft.com/office/drawing/2014/main" id="{C4F54DB8-FBE3-47D7-A688-424568E09CF0}"/>
              </a:ext>
            </a:extLst>
          </p:cNvPr>
          <p:cNvSpPr>
            <a:spLocks xmlns:a="http://schemas.openxmlformats.org/drawingml/2006/main" noGrp="1"/>
          </p:cNvSpPr>
          <p:nvPr/>
        </p:nvSpPr>
        <p:spPr>
          <a:xfrm xmlns:a="http://schemas.openxmlformats.org/drawingml/2006/main">
            <a:off x="1143000" y="1873470"/>
            <a:ext cx="640080" cy="640080"/>
          </a:xfrm>
          <a:prstGeom xmlns:a="http://schemas.openxmlformats.org/drawingml/2006/main" prst="ellipse">
            <a:avLst/>
          </a:prstGeom>
          <a:solidFill xmlns:a="http://schemas.openxmlformats.org/drawingml/2006/main">
            <a:srgbClr val="172033"/>
          </a:solidFill>
          <a:ln xmlns:a="http://schemas.openxmlformats.org/drawingml/2006/main" w="25400">
            <a:solidFill>
              <a:srgbClr val="F6F1E8"/>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sz="3200"/>
          </a:p>
        </p:txBody>
      </p:sp>
      <p:sp>
        <p:nvSpPr>
          <p:cNvPr id="7" name="Text 5">
            <a:extLst xmlns:a="http://schemas.openxmlformats.org/drawingml/2006/main">
              <a:ext uri="{FF2B5EF4-FFF2-40B4-BE49-F238E27FC236}">
                <a16:creationId xmlns:a16="http://schemas.microsoft.com/office/drawing/2014/main" id="{208F7368-D1CC-4478-9A5F-970BF132734E}"/>
              </a:ext>
            </a:extLst>
          </p:cNvPr>
          <p:cNvSpPr>
            <a:spLocks xmlns:a="http://schemas.openxmlformats.org/drawingml/2006/main" noGrp="1"/>
          </p:cNvSpPr>
          <p:nvPr/>
        </p:nvSpPr>
        <p:spPr>
          <a:xfrm xmlns:a="http://schemas.openxmlformats.org/drawingml/2006/main">
            <a:off x="1143000" y="2079210"/>
            <a:ext cx="6400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rPr>
              <a:t>1</a:t>
            </a:r>
            <a:endParaRPr sz="2400"/>
          </a:p>
        </p:txBody>
      </p:sp>
      <p:sp>
        <p:nvSpPr>
          <p:cNvPr id="8" name="Text 6">
            <a:extLst xmlns:a="http://schemas.openxmlformats.org/drawingml/2006/main">
              <a:ext uri="{FF2B5EF4-FFF2-40B4-BE49-F238E27FC236}">
                <a16:creationId xmlns:a16="http://schemas.microsoft.com/office/drawing/2014/main" id="{D0325E8C-9B51-4040-8787-4EA2478CD3FB}"/>
              </a:ext>
            </a:extLst>
          </p:cNvPr>
          <p:cNvSpPr>
            <a:spLocks xmlns:a="http://schemas.openxmlformats.org/drawingml/2006/main" noGrp="1"/>
          </p:cNvSpPr>
          <p:nvPr/>
        </p:nvSpPr>
        <p:spPr>
          <a:xfrm xmlns:a="http://schemas.openxmlformats.org/drawingml/2006/main">
            <a:off x="640080" y="2565051"/>
            <a:ext cx="1645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b="1">
                <a:solidFill>
                  <a:srgbClr val="F57C00"/>
                </a:solidFill>
              </a:rPr>
              <a:t>2020–22</a:t>
            </a:r>
            <a:endParaRPr/>
          </a:p>
        </p:txBody>
      </p:sp>
      <p:sp>
        <p:nvSpPr>
          <p:cNvPr id="9" name="Text 7">
            <a:extLst xmlns:a="http://schemas.openxmlformats.org/drawingml/2006/main">
              <a:ext uri="{FF2B5EF4-FFF2-40B4-BE49-F238E27FC236}">
                <a16:creationId xmlns:a16="http://schemas.microsoft.com/office/drawing/2014/main" id="{76154755-AC47-4458-A3E2-BA48B876C8C1}"/>
              </a:ext>
            </a:extLst>
          </p:cNvPr>
          <p:cNvSpPr>
            <a:spLocks xmlns:a="http://schemas.openxmlformats.org/drawingml/2006/main" noGrp="1"/>
          </p:cNvSpPr>
          <p:nvPr/>
        </p:nvSpPr>
        <p:spPr>
          <a:xfrm xmlns:a="http://schemas.openxmlformats.org/drawingml/2006/main">
            <a:off x="411480" y="2885091"/>
            <a:ext cx="2240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b="1">
                <a:solidFill>
                  <a:srgbClr val="172033"/>
                </a:solidFill>
              </a:rPr>
              <a:t>SmartKids</a:t>
            </a:r>
            <a:endParaRPr/>
          </a:p>
        </p:txBody>
      </p:sp>
      <p:sp>
        <p:nvSpPr>
          <p:cNvPr id="10" name="Text 8">
            <a:extLst xmlns:a="http://schemas.openxmlformats.org/drawingml/2006/main">
              <a:ext uri="{FF2B5EF4-FFF2-40B4-BE49-F238E27FC236}">
                <a16:creationId xmlns:a16="http://schemas.microsoft.com/office/drawing/2014/main" id="{CED79CBA-AEDC-4895-B4F5-EF1021E3417B}"/>
              </a:ext>
            </a:extLst>
          </p:cNvPr>
          <p:cNvSpPr>
            <a:spLocks xmlns:a="http://schemas.openxmlformats.org/drawingml/2006/main" noGrp="1"/>
          </p:cNvSpPr>
          <p:nvPr/>
        </p:nvSpPr>
        <p:spPr>
          <a:xfrm xmlns:a="http://schemas.openxmlformats.org/drawingml/2006/main">
            <a:off x="274320" y="3296571"/>
            <a:ext cx="2377440" cy="12344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t"/>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lgn="ctr">
              <a:buNone/>
            </a:pPr>
            <a:r>
              <a:rPr sz="1500">
                <a:solidFill>
                  <a:srgbClr val="6F7782"/>
                </a:solidFill>
              </a:rPr>
              <a:t>Understand gaming.</a:t>
            </a:r>
            <a:endParaRPr sz="1400"/>
          </a:p>
          <a:p xmlns:a="http://schemas.openxmlformats.org/drawingml/2006/main">
            <a:pPr marL="0" indent="0" algn="ctr">
              <a:buNone/>
            </a:pPr>
            <a:r>
              <a:rPr sz="1500">
                <a:solidFill>
                  <a:srgbClr val="6F7782"/>
                </a:solidFill>
              </a:rPr>
              <a:t>Help parents assess risks and set boundaries.</a:t>
            </a:r>
            <a:endParaRPr sz="1400"/>
          </a:p>
        </p:txBody>
      </p:sp>
      <p:sp>
        <p:nvSpPr>
          <p:cNvPr id="11" name="Shape 9">
            <a:extLst xmlns:a="http://schemas.openxmlformats.org/drawingml/2006/main">
              <a:ext uri="{FF2B5EF4-FFF2-40B4-BE49-F238E27FC236}">
                <a16:creationId xmlns:a16="http://schemas.microsoft.com/office/drawing/2014/main" id="{7C6FFD19-7888-47D9-AB24-49F0B21F741A}"/>
              </a:ext>
            </a:extLst>
          </p:cNvPr>
          <p:cNvSpPr>
            <a:spLocks xmlns:a="http://schemas.openxmlformats.org/drawingml/2006/main" noGrp="1"/>
          </p:cNvSpPr>
          <p:nvPr/>
        </p:nvSpPr>
        <p:spPr>
          <a:xfrm xmlns:a="http://schemas.openxmlformats.org/drawingml/2006/main">
            <a:off x="3840480" y="1873470"/>
            <a:ext cx="640080" cy="640080"/>
          </a:xfrm>
          <a:prstGeom xmlns:a="http://schemas.openxmlformats.org/drawingml/2006/main" prst="ellipse">
            <a:avLst/>
          </a:prstGeom>
          <a:solidFill xmlns:a="http://schemas.openxmlformats.org/drawingml/2006/main">
            <a:srgbClr val="F57C00"/>
          </a:solidFill>
          <a:ln xmlns:a="http://schemas.openxmlformats.org/drawingml/2006/main" w="25400">
            <a:solidFill>
              <a:srgbClr val="F6F1E8"/>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sz="3200"/>
          </a:p>
        </p:txBody>
      </p:sp>
      <p:sp>
        <p:nvSpPr>
          <p:cNvPr id="12" name="Text 10">
            <a:extLst xmlns:a="http://schemas.openxmlformats.org/drawingml/2006/main">
              <a:ext uri="{FF2B5EF4-FFF2-40B4-BE49-F238E27FC236}">
                <a16:creationId xmlns:a16="http://schemas.microsoft.com/office/drawing/2014/main" id="{8225F813-AB4E-4366-B887-00A57B7F4CF5}"/>
              </a:ext>
            </a:extLst>
          </p:cNvPr>
          <p:cNvSpPr>
            <a:spLocks xmlns:a="http://schemas.openxmlformats.org/drawingml/2006/main" noGrp="1"/>
          </p:cNvSpPr>
          <p:nvPr/>
        </p:nvSpPr>
        <p:spPr>
          <a:xfrm xmlns:a="http://schemas.openxmlformats.org/drawingml/2006/main">
            <a:off x="3840480" y="2079210"/>
            <a:ext cx="6400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rPr>
              <a:t>2</a:t>
            </a:r>
            <a:endParaRPr sz="2400"/>
          </a:p>
        </p:txBody>
      </p:sp>
      <p:sp>
        <p:nvSpPr>
          <p:cNvPr id="13" name="Text 11">
            <a:extLst xmlns:a="http://schemas.openxmlformats.org/drawingml/2006/main">
              <a:ext uri="{FF2B5EF4-FFF2-40B4-BE49-F238E27FC236}">
                <a16:creationId xmlns:a16="http://schemas.microsoft.com/office/drawing/2014/main" id="{DE166477-7573-4D8F-9163-AF30658FA4AF}"/>
              </a:ext>
            </a:extLst>
          </p:cNvPr>
          <p:cNvSpPr>
            <a:spLocks xmlns:a="http://schemas.openxmlformats.org/drawingml/2006/main" noGrp="1"/>
          </p:cNvSpPr>
          <p:nvPr/>
        </p:nvSpPr>
        <p:spPr>
          <a:xfrm xmlns:a="http://schemas.openxmlformats.org/drawingml/2006/main">
            <a:off x="3337560" y="2565051"/>
            <a:ext cx="1645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b="1">
                <a:solidFill>
                  <a:srgbClr val="F57C00"/>
                </a:solidFill>
              </a:rPr>
              <a:t>2023–24</a:t>
            </a:r>
            <a:endParaRPr/>
          </a:p>
        </p:txBody>
      </p:sp>
      <p:sp>
        <p:nvSpPr>
          <p:cNvPr id="14" name="Text 12">
            <a:extLst xmlns:a="http://schemas.openxmlformats.org/drawingml/2006/main">
              <a:ext uri="{FF2B5EF4-FFF2-40B4-BE49-F238E27FC236}">
                <a16:creationId xmlns:a16="http://schemas.microsoft.com/office/drawing/2014/main" id="{9049AE47-6291-4723-B5A0-567F16FD247A}"/>
              </a:ext>
            </a:extLst>
          </p:cNvPr>
          <p:cNvSpPr>
            <a:spLocks xmlns:a="http://schemas.openxmlformats.org/drawingml/2006/main" noGrp="1"/>
          </p:cNvSpPr>
          <p:nvPr/>
        </p:nvSpPr>
        <p:spPr>
          <a:xfrm xmlns:a="http://schemas.openxmlformats.org/drawingml/2006/main">
            <a:off x="3108960" y="2885091"/>
            <a:ext cx="2240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b="1">
                <a:solidFill>
                  <a:srgbClr val="172033"/>
                </a:solidFill>
              </a:rPr>
              <a:t>Reframe the problem</a:t>
            </a:r>
            <a:endParaRPr/>
          </a:p>
        </p:txBody>
      </p:sp>
      <p:sp>
        <p:nvSpPr>
          <p:cNvPr id="15" name="Text 13">
            <a:extLst xmlns:a="http://schemas.openxmlformats.org/drawingml/2006/main">
              <a:ext uri="{FF2B5EF4-FFF2-40B4-BE49-F238E27FC236}">
                <a16:creationId xmlns:a16="http://schemas.microsoft.com/office/drawing/2014/main" id="{FF990680-60F6-470A-9ECB-9E44C8395BC1}"/>
              </a:ext>
            </a:extLst>
          </p:cNvPr>
          <p:cNvSpPr>
            <a:spLocks xmlns:a="http://schemas.openxmlformats.org/drawingml/2006/main" noGrp="1"/>
          </p:cNvSpPr>
          <p:nvPr/>
        </p:nvSpPr>
        <p:spPr>
          <a:xfrm xmlns:a="http://schemas.openxmlformats.org/drawingml/2006/main">
            <a:off x="2971800" y="3296571"/>
            <a:ext cx="2377440" cy="12344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t"/>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lgn="ctr">
              <a:buNone/>
            </a:pPr>
            <a:r>
              <a:rPr sz="1500">
                <a:solidFill>
                  <a:srgbClr val="6F7782"/>
                </a:solidFill>
              </a:rPr>
              <a:t>Expand to digital life.</a:t>
            </a:r>
            <a:endParaRPr sz="1400"/>
          </a:p>
          <a:p xmlns:a="http://schemas.openxmlformats.org/drawingml/2006/main">
            <a:pPr marL="0" indent="0" algn="ctr">
              <a:buNone/>
            </a:pPr>
            <a:r>
              <a:rPr sz="1500">
                <a:solidFill>
                  <a:srgbClr val="6F7782"/>
                </a:solidFill>
              </a:rPr>
              <a:t>Families need practical alternatives as well as rules.</a:t>
            </a:r>
            <a:endParaRPr sz="1400"/>
          </a:p>
        </p:txBody>
      </p:sp>
      <p:sp>
        <p:nvSpPr>
          <p:cNvPr id="16" name="Shape 14">
            <a:extLst xmlns:a="http://schemas.openxmlformats.org/drawingml/2006/main">
              <a:ext uri="{FF2B5EF4-FFF2-40B4-BE49-F238E27FC236}">
                <a16:creationId xmlns:a16="http://schemas.microsoft.com/office/drawing/2014/main" id="{F3C37B4B-1139-4936-A8C2-5DE5BBD9CE84}"/>
              </a:ext>
            </a:extLst>
          </p:cNvPr>
          <p:cNvSpPr>
            <a:spLocks xmlns:a="http://schemas.openxmlformats.org/drawingml/2006/main" noGrp="1"/>
          </p:cNvSpPr>
          <p:nvPr/>
        </p:nvSpPr>
        <p:spPr>
          <a:xfrm xmlns:a="http://schemas.openxmlformats.org/drawingml/2006/main">
            <a:off x="6537960" y="1873470"/>
            <a:ext cx="640080" cy="640080"/>
          </a:xfrm>
          <a:prstGeom xmlns:a="http://schemas.openxmlformats.org/drawingml/2006/main" prst="ellipse">
            <a:avLst/>
          </a:prstGeom>
          <a:solidFill xmlns:a="http://schemas.openxmlformats.org/drawingml/2006/main">
            <a:srgbClr val="F57C00"/>
          </a:solidFill>
          <a:ln xmlns:a="http://schemas.openxmlformats.org/drawingml/2006/main" w="25400">
            <a:solidFill>
              <a:srgbClr val="F6F1E8"/>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sz="3200"/>
          </a:p>
        </p:txBody>
      </p:sp>
      <p:sp>
        <p:nvSpPr>
          <p:cNvPr id="17" name="Text 15">
            <a:extLst xmlns:a="http://schemas.openxmlformats.org/drawingml/2006/main">
              <a:ext uri="{FF2B5EF4-FFF2-40B4-BE49-F238E27FC236}">
                <a16:creationId xmlns:a16="http://schemas.microsoft.com/office/drawing/2014/main" id="{F0182D79-0041-48D0-90F2-AED46C684DD9}"/>
              </a:ext>
            </a:extLst>
          </p:cNvPr>
          <p:cNvSpPr>
            <a:spLocks xmlns:a="http://schemas.openxmlformats.org/drawingml/2006/main" noGrp="1"/>
          </p:cNvSpPr>
          <p:nvPr/>
        </p:nvSpPr>
        <p:spPr>
          <a:xfrm xmlns:a="http://schemas.openxmlformats.org/drawingml/2006/main">
            <a:off x="6537960" y="2079210"/>
            <a:ext cx="6400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rPr>
              <a:t>3</a:t>
            </a:r>
            <a:endParaRPr sz="2400"/>
          </a:p>
        </p:txBody>
      </p:sp>
      <p:sp>
        <p:nvSpPr>
          <p:cNvPr id="18" name="Text 16">
            <a:extLst xmlns:a="http://schemas.openxmlformats.org/drawingml/2006/main">
              <a:ext uri="{FF2B5EF4-FFF2-40B4-BE49-F238E27FC236}">
                <a16:creationId xmlns:a16="http://schemas.microsoft.com/office/drawing/2014/main" id="{8F35DD2E-2A67-4832-9244-A1DF58D664AF}"/>
              </a:ext>
            </a:extLst>
          </p:cNvPr>
          <p:cNvSpPr>
            <a:spLocks xmlns:a="http://schemas.openxmlformats.org/drawingml/2006/main" noGrp="1"/>
          </p:cNvSpPr>
          <p:nvPr/>
        </p:nvSpPr>
        <p:spPr>
          <a:xfrm xmlns:a="http://schemas.openxmlformats.org/drawingml/2006/main">
            <a:off x="6035040" y="2565051"/>
            <a:ext cx="1645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b="1">
                <a:solidFill>
                  <a:srgbClr val="F57C00"/>
                </a:solidFill>
              </a:rPr>
              <a:t>2025</a:t>
            </a:r>
            <a:endParaRPr/>
          </a:p>
        </p:txBody>
      </p:sp>
      <p:sp>
        <p:nvSpPr>
          <p:cNvPr id="19" name="Text 17">
            <a:extLst xmlns:a="http://schemas.openxmlformats.org/drawingml/2006/main">
              <a:ext uri="{FF2B5EF4-FFF2-40B4-BE49-F238E27FC236}">
                <a16:creationId xmlns:a16="http://schemas.microsoft.com/office/drawing/2014/main" id="{A6BEDB4E-1E45-462B-878E-A9125E4ED2C1}"/>
              </a:ext>
            </a:extLst>
          </p:cNvPr>
          <p:cNvSpPr>
            <a:spLocks xmlns:a="http://schemas.openxmlformats.org/drawingml/2006/main" noGrp="1"/>
          </p:cNvSpPr>
          <p:nvPr/>
        </p:nvSpPr>
        <p:spPr>
          <a:xfrm xmlns:a="http://schemas.openxmlformats.org/drawingml/2006/main">
            <a:off x="5806440" y="2885091"/>
            <a:ext cx="2240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b="1">
                <a:solidFill>
                  <a:srgbClr val="172033"/>
                </a:solidFill>
              </a:rPr>
              <a:t>Joolian.ai</a:t>
            </a:r>
            <a:endParaRPr/>
          </a:p>
        </p:txBody>
      </p:sp>
      <p:sp>
        <p:nvSpPr>
          <p:cNvPr id="20" name="Text 18">
            <a:extLst xmlns:a="http://schemas.openxmlformats.org/drawingml/2006/main">
              <a:ext uri="{FF2B5EF4-FFF2-40B4-BE49-F238E27FC236}">
                <a16:creationId xmlns:a16="http://schemas.microsoft.com/office/drawing/2014/main" id="{55ECF5D2-5198-42F7-8072-E64D4FDC52F6}"/>
              </a:ext>
            </a:extLst>
          </p:cNvPr>
          <p:cNvSpPr>
            <a:spLocks xmlns:a="http://schemas.openxmlformats.org/drawingml/2006/main" noGrp="1"/>
          </p:cNvSpPr>
          <p:nvPr/>
        </p:nvSpPr>
        <p:spPr>
          <a:xfrm xmlns:a="http://schemas.openxmlformats.org/drawingml/2006/main">
            <a:off x="5669280" y="3296571"/>
            <a:ext cx="2377440" cy="12344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t"/>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lgn="ctr">
              <a:buNone/>
            </a:pPr>
            <a:r>
              <a:rPr sz="1500">
                <a:solidFill>
                  <a:srgbClr val="6F7782"/>
                </a:solidFill>
              </a:rPr>
              <a:t>Help families agree on habits and discover real-world activities.</a:t>
            </a:r>
            <a:endParaRPr sz="1400"/>
          </a:p>
        </p:txBody>
      </p:sp>
      <p:sp>
        <p:nvSpPr>
          <p:cNvPr id="21" name="Shape 19">
            <a:extLst xmlns:a="http://schemas.openxmlformats.org/drawingml/2006/main">
              <a:ext uri="{FF2B5EF4-FFF2-40B4-BE49-F238E27FC236}">
                <a16:creationId xmlns:a16="http://schemas.microsoft.com/office/drawing/2014/main" id="{5E116903-EAA6-4368-B9AE-388207E4A1C4}"/>
              </a:ext>
            </a:extLst>
          </p:cNvPr>
          <p:cNvSpPr>
            <a:spLocks xmlns:a="http://schemas.openxmlformats.org/drawingml/2006/main" noGrp="1"/>
          </p:cNvSpPr>
          <p:nvPr/>
        </p:nvSpPr>
        <p:spPr>
          <a:xfrm xmlns:a="http://schemas.openxmlformats.org/drawingml/2006/main">
            <a:off x="9235440" y="1873470"/>
            <a:ext cx="640080" cy="640080"/>
          </a:xfrm>
          <a:prstGeom xmlns:a="http://schemas.openxmlformats.org/drawingml/2006/main" prst="ellipse">
            <a:avLst/>
          </a:prstGeom>
          <a:solidFill xmlns:a="http://schemas.openxmlformats.org/drawingml/2006/main">
            <a:srgbClr val="F57C00"/>
          </a:solidFill>
          <a:ln xmlns:a="http://schemas.openxmlformats.org/drawingml/2006/main" w="25400">
            <a:solidFill>
              <a:srgbClr val="F6F1E8"/>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sz="3200"/>
          </a:p>
        </p:txBody>
      </p:sp>
      <p:sp>
        <p:nvSpPr>
          <p:cNvPr id="22" name="Text 20">
            <a:extLst xmlns:a="http://schemas.openxmlformats.org/drawingml/2006/main">
              <a:ext uri="{FF2B5EF4-FFF2-40B4-BE49-F238E27FC236}">
                <a16:creationId xmlns:a16="http://schemas.microsoft.com/office/drawing/2014/main" id="{DA17DC98-A510-4624-B687-F849EDCBCC36}"/>
              </a:ext>
            </a:extLst>
          </p:cNvPr>
          <p:cNvSpPr>
            <a:spLocks xmlns:a="http://schemas.openxmlformats.org/drawingml/2006/main" noGrp="1"/>
          </p:cNvSpPr>
          <p:nvPr/>
        </p:nvSpPr>
        <p:spPr>
          <a:xfrm xmlns:a="http://schemas.openxmlformats.org/drawingml/2006/main">
            <a:off x="9235440" y="2079210"/>
            <a:ext cx="6400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rPr>
              <a:t>4</a:t>
            </a:r>
            <a:endParaRPr sz="2400"/>
          </a:p>
        </p:txBody>
      </p:sp>
      <p:sp>
        <p:nvSpPr>
          <p:cNvPr id="23" name="Text 21">
            <a:extLst xmlns:a="http://schemas.openxmlformats.org/drawingml/2006/main">
              <a:ext uri="{FF2B5EF4-FFF2-40B4-BE49-F238E27FC236}">
                <a16:creationId xmlns:a16="http://schemas.microsoft.com/office/drawing/2014/main" id="{93178AE6-333C-4B7B-9343-BE7CB6742484}"/>
              </a:ext>
            </a:extLst>
          </p:cNvPr>
          <p:cNvSpPr>
            <a:spLocks xmlns:a="http://schemas.openxmlformats.org/drawingml/2006/main" noGrp="1"/>
          </p:cNvSpPr>
          <p:nvPr/>
        </p:nvSpPr>
        <p:spPr>
          <a:xfrm xmlns:a="http://schemas.openxmlformats.org/drawingml/2006/main">
            <a:off x="8732520" y="2565051"/>
            <a:ext cx="1645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b="1">
                <a:solidFill>
                  <a:srgbClr val="F57C00"/>
                </a:solidFill>
              </a:rPr>
              <a:t>2026</a:t>
            </a:r>
            <a:endParaRPr/>
          </a:p>
        </p:txBody>
      </p:sp>
      <p:sp>
        <p:nvSpPr>
          <p:cNvPr id="24" name="Text 22">
            <a:extLst xmlns:a="http://schemas.openxmlformats.org/drawingml/2006/main">
              <a:ext uri="{FF2B5EF4-FFF2-40B4-BE49-F238E27FC236}">
                <a16:creationId xmlns:a16="http://schemas.microsoft.com/office/drawing/2014/main" id="{28C2DB65-70F2-46D6-ACF2-09343DF31B4E}"/>
              </a:ext>
            </a:extLst>
          </p:cNvPr>
          <p:cNvSpPr>
            <a:spLocks xmlns:a="http://schemas.openxmlformats.org/drawingml/2006/main" noGrp="1"/>
          </p:cNvSpPr>
          <p:nvPr/>
        </p:nvSpPr>
        <p:spPr>
          <a:xfrm xmlns:a="http://schemas.openxmlformats.org/drawingml/2006/main">
            <a:off x="8503920" y="2885091"/>
            <a:ext cx="2240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b="1">
                <a:solidFill>
                  <a:srgbClr val="172033"/>
                </a:solidFill>
              </a:rPr>
              <a:t>Local action + AI</a:t>
            </a:r>
            <a:endParaRPr/>
          </a:p>
        </p:txBody>
      </p:sp>
      <p:sp>
        <p:nvSpPr>
          <p:cNvPr id="25" name="Text 23">
            <a:extLst xmlns:a="http://schemas.openxmlformats.org/drawingml/2006/main">
              <a:ext uri="{FF2B5EF4-FFF2-40B4-BE49-F238E27FC236}">
                <a16:creationId xmlns:a16="http://schemas.microsoft.com/office/drawing/2014/main" id="{25960460-01F9-4A37-9E85-3F89AE7FF70A}"/>
              </a:ext>
            </a:extLst>
          </p:cNvPr>
          <p:cNvSpPr>
            <a:spLocks xmlns:a="http://schemas.openxmlformats.org/drawingml/2006/main" noGrp="1"/>
          </p:cNvSpPr>
          <p:nvPr/>
        </p:nvSpPr>
        <p:spPr>
          <a:xfrm xmlns:a="http://schemas.openxmlformats.org/drawingml/2006/main">
            <a:off x="8366760" y="3296571"/>
            <a:ext cx="2527212" cy="12344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t"/>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lgn="ctr">
              <a:buNone/>
            </a:pPr>
            <a:r>
              <a:rPr sz="1500">
                <a:solidFill>
                  <a:srgbClr val="6F7782"/>
                </a:solidFill>
              </a:rPr>
              <a:t>Use family context and trusted information to suggest a useful next step.</a:t>
            </a:r>
            <a:endParaRPr sz="1400"/>
          </a:p>
        </p:txBody>
      </p:sp>
      <p:sp>
        <p:nvSpPr>
          <p:cNvPr id="26" name="Shape 24">
            <a:extLst xmlns:a="http://schemas.openxmlformats.org/drawingml/2006/main">
              <a:ext uri="{FF2B5EF4-FFF2-40B4-BE49-F238E27FC236}">
                <a16:creationId xmlns:a16="http://schemas.microsoft.com/office/drawing/2014/main" id="{646D2E07-B0A5-427E-9CF6-1617BB80434C}"/>
              </a:ext>
            </a:extLst>
          </p:cNvPr>
          <p:cNvSpPr>
            <a:spLocks xmlns:a="http://schemas.openxmlformats.org/drawingml/2006/main" noGrp="1"/>
          </p:cNvSpPr>
          <p:nvPr/>
        </p:nvSpPr>
        <p:spPr>
          <a:xfrm xmlns:a="http://schemas.openxmlformats.org/drawingml/2006/main">
            <a:off x="914400" y="5440680"/>
            <a:ext cx="10332720" cy="749808"/>
          </a:xfrm>
          <a:prstGeom xmlns:a="http://schemas.openxmlformats.org/drawingml/2006/main" prst="roundRect">
            <a:avLst/>
          </a:prstGeom>
          <a:solidFill xmlns:a="http://schemas.openxmlformats.org/drawingml/2006/main">
            <a:srgbClr val="172033"/>
          </a:solidFill>
          <a:ln xmlns:a="http://schemas.openxmlformats.org/drawingml/2006/main" w="12700">
            <a:solidFill>
              <a:srgbClr val="172033"/>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ADC663AC-D7AC-4ADD-BAA7-0948401BBF86}"/>
              </a:ext>
            </a:extLst>
          </p:cNvPr>
          <p:cNvSpPr>
            <a:spLocks xmlns:a="http://schemas.openxmlformats.org/drawingml/2006/main" noGrp="1"/>
          </p:cNvSpPr>
          <p:nvPr/>
        </p:nvSpPr>
        <p:spPr>
          <a:xfrm xmlns:a="http://schemas.openxmlformats.org/drawingml/2006/main">
            <a:off x="1143000" y="5715000"/>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buNone/>
            </a:pPr>
            <a:r>
              <a:rPr sz="1650" b="1">
                <a:solidFill>
                  <a:srgbClr val="F57C00"/>
                </a:solidFill>
              </a:rPr>
              <a:t>Our core</a:t>
            </a:r>
            <a:endParaRPr sz="1600"/>
          </a:p>
          <a:p xmlns:a="http://schemas.openxmlformats.org/drawingml/2006/main">
            <a:pPr marL="0" indent="0">
              <a:buNone/>
            </a:pPr>
            <a:r>
              <a:rPr sz="1650" b="1">
                <a:solidFill>
                  <a:srgbClr val="F57C00"/>
                </a:solidFill>
              </a:rPr>
              <a:t>insight</a:t>
            </a:r>
            <a:endParaRPr sz="1600"/>
          </a:p>
        </p:txBody>
      </p:sp>
      <p:sp>
        <p:nvSpPr>
          <p:cNvPr id="28" name="Text 26">
            <a:extLst xmlns:a="http://schemas.openxmlformats.org/drawingml/2006/main">
              <a:ext uri="{FF2B5EF4-FFF2-40B4-BE49-F238E27FC236}">
                <a16:creationId xmlns:a16="http://schemas.microsoft.com/office/drawing/2014/main" id="{6D98C2CE-4E4F-4C54-893C-CB12F133EA92}"/>
              </a:ext>
            </a:extLst>
          </p:cNvPr>
          <p:cNvSpPr>
            <a:spLocks xmlns:a="http://schemas.openxmlformats.org/drawingml/2006/main" noGrp="1"/>
          </p:cNvSpPr>
          <p:nvPr/>
        </p:nvSpPr>
        <p:spPr>
          <a:xfrm xmlns:a="http://schemas.openxmlformats.org/drawingml/2006/main">
            <a:off x="3246120" y="5669280"/>
            <a:ext cx="7543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buNone/>
            </a:pPr>
            <a:r>
              <a:rPr sz="1650" b="1">
                <a:solidFill>
                  <a:srgbClr val="FFFFFF"/>
                </a:solidFill>
              </a:rPr>
              <a:t>Parents need practical help turning concern into action.</a:t>
            </a:r>
            <a:endParaRPr sz="1600"/>
          </a:p>
          <a:p xmlns:a="http://schemas.openxmlformats.org/drawingml/2006/main">
            <a:pPr marL="0" indent="0">
              <a:buNone/>
            </a:pPr>
            <a:r>
              <a:rPr sz="1650" b="1">
                <a:solidFill>
                  <a:srgbClr val="FFFFFF"/>
                </a:solidFill>
              </a:rPr>
              <a:t>Joolian reports 500+ interviews and conversations.</a:t>
            </a:r>
            <a:endParaRPr sz="1600"/>
          </a:p>
        </p:txBody>
      </p:sp>
      <p:sp>
        <p:nvSpPr>
          <p:cNvPr id="29" name="Slide Number Placeholder 0">
            <a:extLst xmlns:a="http://schemas.openxmlformats.org/drawingml/2006/main">
              <a:ext uri="{FF2B5EF4-FFF2-40B4-BE49-F238E27FC236}">
                <a16:creationId xmlns:a16="http://schemas.microsoft.com/office/drawing/2014/main" id="{AEDCCF92-EFC4-4324-9264-75466EC300C9}"/>
              </a:ext>
            </a:extLst>
          </p:cNvPr>
          <p:cNvSpPr>
            <a:spLocks xmlns:a="http://schemas.openxmlformats.org/drawingml/2006/main" noGrp="1"/>
          </p:cNvSpPr>
          <p:nvPr>
            <p:ph type="sldNum" idx="4294967295"/>
          </p:nvPr>
        </p:nvSpPr>
        <p:spPr>
          <a:xfrm xmlns:a="http://schemas.openxmlformats.org/drawingml/2006/main">
            <a:off x="11887200" y="201168"/>
            <a:ext cx="1905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A0A0A0"/>
                </a:solidFill>
              </a:defRPr>
            </a:lvl1pPr>
          </a:lstStyle>
          <a:p xmlns:a="http://schemas.openxmlformats.org/drawingml/2006/main">
            <a:pPr algn="l">
              <a:buNone/>
            </a:pPr>
            <a:fld id="{AD75FED6-38D0-DE9C-92C0-6E7FA635581C}" type="slidenum">
              <a:rPr b="0"/>
              <a:t>1</a:t>
            </a:fld>
            <a:endParaRPr/>
          </a:p>
        </p:txBody>
      </p:sp>
      <p:sp>
        <p:nvSpPr>
          <p:cNvPr id="39" name="Text 7">
            <a:extLst xmlns:a="http://schemas.openxmlformats.org/drawingml/2006/main">
              <a:ext uri="{FF2B5EF4-FFF2-40B4-BE49-F238E27FC236}">
                <a16:creationId xmlns:a16="http://schemas.microsoft.com/office/drawing/2014/main" id="{F6FEB18B-17F8-8294-4C56-9A036C587E1A}"/>
              </a:ext>
            </a:extLst>
          </p:cNvPr>
          <p:cNvSpPr>
            <a:spLocks xmlns:a="http://schemas.openxmlformats.org/drawingml/2006/main" noGrp="1"/>
          </p:cNvSpPr>
          <p:nvPr/>
        </p:nvSpPr>
        <p:spPr>
          <a:xfrm xmlns:a="http://schemas.openxmlformats.org/drawingml/2006/main">
            <a:off x="332653" y="4705583"/>
            <a:ext cx="2240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i="1">
                <a:solidFill>
                  <a:srgbClr val="172033"/>
                </a:solidFill>
              </a:rPr>
              <a:t>Game ratings</a:t>
            </a:r>
            <a:endParaRPr i="1"/>
          </a:p>
        </p:txBody>
      </p:sp>
      <p:sp>
        <p:nvSpPr>
          <p:cNvPr id="41" name="Text 12">
            <a:extLst xmlns:a="http://schemas.openxmlformats.org/drawingml/2006/main">
              <a:ext uri="{FF2B5EF4-FFF2-40B4-BE49-F238E27FC236}">
                <a16:creationId xmlns:a16="http://schemas.microsoft.com/office/drawing/2014/main" id="{3E292CA6-8D86-965C-46EF-BDB2AABB764E}"/>
              </a:ext>
            </a:extLst>
          </p:cNvPr>
          <p:cNvSpPr>
            <a:spLocks xmlns:a="http://schemas.openxmlformats.org/drawingml/2006/main" noGrp="1"/>
          </p:cNvSpPr>
          <p:nvPr/>
        </p:nvSpPr>
        <p:spPr>
          <a:xfrm xmlns:a="http://schemas.openxmlformats.org/drawingml/2006/main">
            <a:off x="3030133" y="4705583"/>
            <a:ext cx="2240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i="1">
                <a:solidFill>
                  <a:srgbClr val="172033"/>
                </a:solidFill>
              </a:rPr>
              <a:t>Family self-check</a:t>
            </a:r>
            <a:endParaRPr i="1"/>
          </a:p>
        </p:txBody>
      </p:sp>
      <p:sp>
        <p:nvSpPr>
          <p:cNvPr id="43" name="Text 17">
            <a:extLst xmlns:a="http://schemas.openxmlformats.org/drawingml/2006/main">
              <a:ext uri="{FF2B5EF4-FFF2-40B4-BE49-F238E27FC236}">
                <a16:creationId xmlns:a16="http://schemas.microsoft.com/office/drawing/2014/main" id="{BEC499E0-A124-F1FF-AF21-9DE8AC24AFFF}"/>
              </a:ext>
            </a:extLst>
          </p:cNvPr>
          <p:cNvSpPr>
            <a:spLocks xmlns:a="http://schemas.openxmlformats.org/drawingml/2006/main" noGrp="1"/>
          </p:cNvSpPr>
          <p:nvPr/>
        </p:nvSpPr>
        <p:spPr>
          <a:xfrm xmlns:a="http://schemas.openxmlformats.org/drawingml/2006/main">
            <a:off x="5727613" y="4705583"/>
            <a:ext cx="2240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i="1">
                <a:solidFill>
                  <a:srgbClr val="172033"/>
                </a:solidFill>
              </a:rPr>
              <a:t>Local providers</a:t>
            </a:r>
            <a:endParaRPr i="1"/>
          </a:p>
        </p:txBody>
      </p:sp>
      <p:sp>
        <p:nvSpPr>
          <p:cNvPr id="45" name="Text 22">
            <a:extLst xmlns:a="http://schemas.openxmlformats.org/drawingml/2006/main">
              <a:ext uri="{FF2B5EF4-FFF2-40B4-BE49-F238E27FC236}">
                <a16:creationId xmlns:a16="http://schemas.microsoft.com/office/drawing/2014/main" id="{331E9A0C-EEEC-2971-68B6-09B581116EA1}"/>
              </a:ext>
            </a:extLst>
          </p:cNvPr>
          <p:cNvSpPr>
            <a:spLocks xmlns:a="http://schemas.openxmlformats.org/drawingml/2006/main" noGrp="1"/>
          </p:cNvSpPr>
          <p:nvPr/>
        </p:nvSpPr>
        <p:spPr>
          <a:xfrm xmlns:a="http://schemas.openxmlformats.org/drawingml/2006/main">
            <a:off x="8425092" y="4705583"/>
            <a:ext cx="2468879"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i="1">
                <a:solidFill>
                  <a:srgbClr val="172033"/>
                </a:solidFill>
              </a:rPr>
              <a:t>Personalized support</a:t>
            </a:r>
            <a:endParaRPr i="1"/>
          </a:p>
        </p:txBody>
      </p:sp>
    </p:spTree>
    <p:extLst>
      <p:ext uri="{BB962C8B-B14F-4D97-AF65-F5344CB8AC3E}">
        <p14:creationId xmlns:p14="http://schemas.microsoft.com/office/powerpoint/2010/main" val="141944831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0B29F906-5D2F-49DD-B205-BC0C13BA7CF7}"/>
              </a:ext>
            </a:extLst>
          </p:cNvPr>
          <p:cNvSpPr>
            <a:spLocks xmlns:a="http://schemas.openxmlformats.org/drawingml/2006/main" noGrp="1"/>
          </p:cNvSpPr>
          <p:nvPr/>
        </p:nvSpPr>
        <p:spPr>
          <a:xfrm xmlns:a="http://schemas.openxmlformats.org/drawingml/2006/main">
            <a:off x="504825" y="5334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1">
                <a:solidFill>
                  <a:srgbClr val="2F73B9"/>
                </a:solidFill>
                <a:latin typeface="Aptos"/>
                <a:ea typeface="Aptos"/>
                <a:cs typeface="Aptos"/>
              </a:defRPr>
            </a:defPPr>
            <a:lvl1pPr>
              <a:defRPr sz="1050" b="1">
                <a:solidFill>
                  <a:srgbClr val="2F73B9"/>
                </a:solidFill>
                <a:latin typeface="Aptos"/>
                <a:ea typeface="Aptos"/>
                <a:cs typeface="Aptos"/>
              </a:defRPr>
            </a:lvl1pPr>
            <a:lvl2pPr>
              <a:defRPr sz="1050" b="1">
                <a:solidFill>
                  <a:srgbClr val="2F73B9"/>
                </a:solidFill>
                <a:latin typeface="Aptos"/>
                <a:ea typeface="Aptos"/>
                <a:cs typeface="Aptos"/>
              </a:defRPr>
            </a:lvl2pPr>
            <a:lvl3pPr>
              <a:defRPr sz="1050" b="1">
                <a:solidFill>
                  <a:srgbClr val="2F73B9"/>
                </a:solidFill>
                <a:latin typeface="Aptos"/>
                <a:ea typeface="Aptos"/>
                <a:cs typeface="Aptos"/>
              </a:defRPr>
            </a:lvl3pPr>
            <a:lvl4pPr>
              <a:defRPr sz="1050" b="1">
                <a:solidFill>
                  <a:srgbClr val="2F73B9"/>
                </a:solidFill>
                <a:latin typeface="Aptos"/>
                <a:ea typeface="Aptos"/>
                <a:cs typeface="Aptos"/>
              </a:defRPr>
            </a:lvl4pPr>
            <a:lvl5pPr>
              <a:defRPr sz="1050" b="1">
                <a:solidFill>
                  <a:srgbClr val="2F73B9"/>
                </a:solidFill>
                <a:latin typeface="Aptos"/>
                <a:ea typeface="Aptos"/>
                <a:cs typeface="Aptos"/>
              </a:defRPr>
            </a:lvl5pPr>
            <a:lvl6pPr>
              <a:defRPr sz="1050" b="1">
                <a:solidFill>
                  <a:srgbClr val="2F73B9"/>
                </a:solidFill>
                <a:latin typeface="Aptos"/>
                <a:ea typeface="Aptos"/>
                <a:cs typeface="Aptos"/>
              </a:defRPr>
            </a:lvl6pPr>
            <a:lvl7pPr>
              <a:defRPr sz="1050" b="1">
                <a:solidFill>
                  <a:srgbClr val="2F73B9"/>
                </a:solidFill>
                <a:latin typeface="Aptos"/>
                <a:ea typeface="Aptos"/>
                <a:cs typeface="Aptos"/>
              </a:defRPr>
            </a:lvl7pPr>
            <a:lvl8pPr>
              <a:defRPr sz="1050" b="1">
                <a:solidFill>
                  <a:srgbClr val="2F73B9"/>
                </a:solidFill>
                <a:latin typeface="Aptos"/>
                <a:ea typeface="Aptos"/>
                <a:cs typeface="Aptos"/>
              </a:defRPr>
            </a:lvl8pPr>
            <a:lvl9pPr>
              <a:defRPr sz="1050" b="1">
                <a:solidFill>
                  <a:srgbClr val="2F73B9"/>
                </a:solidFill>
                <a:latin typeface="Aptos"/>
                <a:ea typeface="Aptos"/>
                <a:cs typeface="Aptos"/>
              </a:defRPr>
            </a:lvl9pPr>
          </a:lstStyle>
          <a:p xmlns:a="http://schemas.openxmlformats.org/drawingml/2006/main">
            <a:pPr>
              <a:defRPr sz="1050" b="1">
                <a:solidFill>
                  <a:srgbClr val="2F73B9"/>
                </a:solidFill>
                <a:latin typeface="Aptos"/>
                <a:ea typeface="Aptos"/>
                <a:cs typeface="Aptos"/>
              </a:defRPr>
            </a:pPr>
            <a:r>
              <a:rPr sz="1050" b="1">
                <a:solidFill>
                  <a:srgbClr val="2F73B9"/>
                </a:solidFill>
                <a:latin typeface="Aptos"/>
                <a:ea typeface="Aptos"/>
                <a:cs typeface="Aptos"/>
              </a:rPr>
              <a:t>AI PRACTICE 1 OF 6</a:t>
            </a:r>
          </a:p>
        </p:txBody>
      </p:sp>
      <p:sp>
        <p:nvSpPr>
          <p:cNvPr id="2" name="title">
            <a:extLst xmlns:a="http://schemas.openxmlformats.org/drawingml/2006/main">
              <a:ext uri="{FF2B5EF4-FFF2-40B4-BE49-F238E27FC236}">
                <a16:creationId xmlns:a16="http://schemas.microsoft.com/office/drawing/2014/main" id="{198C8733-CE89-4189-AFB6-E6398316FFFB}"/>
              </a:ext>
            </a:extLst>
          </p:cNvPr>
          <p:cNvSpPr>
            <a:spLocks xmlns:a="http://schemas.openxmlformats.org/drawingml/2006/main" noGrp="1"/>
          </p:cNvSpPr>
          <p:nvPr/>
        </p:nvSpPr>
        <p:spPr>
          <a:xfrm xmlns:a="http://schemas.openxmlformats.org/drawingml/2006/main">
            <a:off x="504825" y="885825"/>
            <a:ext cx="11182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2033"/>
                </a:solidFill>
                <a:latin typeface="Aptos"/>
                <a:ea typeface="Aptos"/>
                <a:cs typeface="Aptos"/>
              </a:defRPr>
            </a:defPPr>
            <a:lvl1pPr>
              <a:defRPr sz="2850" b="1">
                <a:solidFill>
                  <a:srgbClr val="172033"/>
                </a:solidFill>
                <a:latin typeface="Aptos"/>
                <a:ea typeface="Aptos"/>
                <a:cs typeface="Aptos"/>
              </a:defRPr>
            </a:lvl1pPr>
            <a:lvl2pPr>
              <a:defRPr sz="2850" b="1">
                <a:solidFill>
                  <a:srgbClr val="172033"/>
                </a:solidFill>
                <a:latin typeface="Aptos"/>
                <a:ea typeface="Aptos"/>
                <a:cs typeface="Aptos"/>
              </a:defRPr>
            </a:lvl2pPr>
            <a:lvl3pPr>
              <a:defRPr sz="2850" b="1">
                <a:solidFill>
                  <a:srgbClr val="172033"/>
                </a:solidFill>
                <a:latin typeface="Aptos"/>
                <a:ea typeface="Aptos"/>
                <a:cs typeface="Aptos"/>
              </a:defRPr>
            </a:lvl3pPr>
            <a:lvl4pPr>
              <a:defRPr sz="2850" b="1">
                <a:solidFill>
                  <a:srgbClr val="172033"/>
                </a:solidFill>
                <a:latin typeface="Aptos"/>
                <a:ea typeface="Aptos"/>
                <a:cs typeface="Aptos"/>
              </a:defRPr>
            </a:lvl4pPr>
            <a:lvl5pPr>
              <a:defRPr sz="2850" b="1">
                <a:solidFill>
                  <a:srgbClr val="172033"/>
                </a:solidFill>
                <a:latin typeface="Aptos"/>
                <a:ea typeface="Aptos"/>
                <a:cs typeface="Aptos"/>
              </a:defRPr>
            </a:lvl5pPr>
            <a:lvl6pPr>
              <a:defRPr sz="2850" b="1">
                <a:solidFill>
                  <a:srgbClr val="172033"/>
                </a:solidFill>
                <a:latin typeface="Aptos"/>
                <a:ea typeface="Aptos"/>
                <a:cs typeface="Aptos"/>
              </a:defRPr>
            </a:lvl6pPr>
            <a:lvl7pPr>
              <a:defRPr sz="2850" b="1">
                <a:solidFill>
                  <a:srgbClr val="172033"/>
                </a:solidFill>
                <a:latin typeface="Aptos"/>
                <a:ea typeface="Aptos"/>
                <a:cs typeface="Aptos"/>
              </a:defRPr>
            </a:lvl7pPr>
            <a:lvl8pPr>
              <a:defRPr sz="2850" b="1">
                <a:solidFill>
                  <a:srgbClr val="172033"/>
                </a:solidFill>
                <a:latin typeface="Aptos"/>
                <a:ea typeface="Aptos"/>
                <a:cs typeface="Aptos"/>
              </a:defRPr>
            </a:lvl8pPr>
            <a:lvl9pPr>
              <a:defRPr sz="2850" b="1">
                <a:solidFill>
                  <a:srgbClr val="172033"/>
                </a:solidFill>
                <a:latin typeface="Aptos"/>
                <a:ea typeface="Aptos"/>
                <a:cs typeface="Aptos"/>
              </a:defRPr>
            </a:lvl9pPr>
          </a:lstStyle>
          <a:p xmlns:a="http://schemas.openxmlformats.org/drawingml/2006/main">
            <a:pPr>
              <a:defRPr sz="2850" b="1">
                <a:solidFill>
                  <a:srgbClr val="172033"/>
                </a:solidFill>
                <a:latin typeface="Aptos"/>
                <a:ea typeface="Aptos"/>
                <a:cs typeface="Aptos"/>
              </a:defRPr>
            </a:pPr>
            <a:r>
              <a:rPr sz="2850" b="1">
                <a:solidFill>
                  <a:srgbClr val="172033"/>
                </a:solidFill>
                <a:latin typeface="Aptos"/>
                <a:ea typeface="Aptos"/>
                <a:cs typeface="Aptos"/>
              </a:rPr>
              <a:t>AI tools for building the venture</a:t>
            </a:r>
          </a:p>
        </p:txBody>
      </p:sp>
      <p:sp>
        <p:nvSpPr>
          <p:cNvPr id="3" name="subtitle">
            <a:extLst xmlns:a="http://schemas.openxmlformats.org/drawingml/2006/main">
              <a:ext uri="{FF2B5EF4-FFF2-40B4-BE49-F238E27FC236}">
                <a16:creationId xmlns:a16="http://schemas.microsoft.com/office/drawing/2014/main" id="{F5908516-7F62-4680-8F1A-BAB7F45F4427}"/>
              </a:ext>
            </a:extLst>
          </p:cNvPr>
          <p:cNvSpPr>
            <a:spLocks xmlns:a="http://schemas.openxmlformats.org/drawingml/2006/main" noGrp="1"/>
          </p:cNvSpPr>
          <p:nvPr/>
        </p:nvSpPr>
        <p:spPr>
          <a:xfrm xmlns:a="http://schemas.openxmlformats.org/drawingml/2006/main">
            <a:off x="504825" y="1457325"/>
            <a:ext cx="11182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F7782"/>
                </a:solidFill>
                <a:latin typeface="Aptos"/>
                <a:ea typeface="Aptos"/>
                <a:cs typeface="Aptos"/>
              </a:defRPr>
            </a:defPPr>
            <a:lvl1pPr>
              <a:defRPr sz="1650" b="0">
                <a:solidFill>
                  <a:srgbClr val="6F7782"/>
                </a:solidFill>
                <a:latin typeface="Aptos"/>
                <a:ea typeface="Aptos"/>
                <a:cs typeface="Aptos"/>
              </a:defRPr>
            </a:lvl1pPr>
            <a:lvl2pPr>
              <a:defRPr sz="1650" b="0">
                <a:solidFill>
                  <a:srgbClr val="6F7782"/>
                </a:solidFill>
                <a:latin typeface="Aptos"/>
                <a:ea typeface="Aptos"/>
                <a:cs typeface="Aptos"/>
              </a:defRPr>
            </a:lvl2pPr>
            <a:lvl3pPr>
              <a:defRPr sz="1650" b="0">
                <a:solidFill>
                  <a:srgbClr val="6F7782"/>
                </a:solidFill>
                <a:latin typeface="Aptos"/>
                <a:ea typeface="Aptos"/>
                <a:cs typeface="Aptos"/>
              </a:defRPr>
            </a:lvl3pPr>
            <a:lvl4pPr>
              <a:defRPr sz="1650" b="0">
                <a:solidFill>
                  <a:srgbClr val="6F7782"/>
                </a:solidFill>
                <a:latin typeface="Aptos"/>
                <a:ea typeface="Aptos"/>
                <a:cs typeface="Aptos"/>
              </a:defRPr>
            </a:lvl4pPr>
            <a:lvl5pPr>
              <a:defRPr sz="1650" b="0">
                <a:solidFill>
                  <a:srgbClr val="6F7782"/>
                </a:solidFill>
                <a:latin typeface="Aptos"/>
                <a:ea typeface="Aptos"/>
                <a:cs typeface="Aptos"/>
              </a:defRPr>
            </a:lvl5pPr>
            <a:lvl6pPr>
              <a:defRPr sz="1650" b="0">
                <a:solidFill>
                  <a:srgbClr val="6F7782"/>
                </a:solidFill>
                <a:latin typeface="Aptos"/>
                <a:ea typeface="Aptos"/>
                <a:cs typeface="Aptos"/>
              </a:defRPr>
            </a:lvl6pPr>
            <a:lvl7pPr>
              <a:defRPr sz="1650" b="0">
                <a:solidFill>
                  <a:srgbClr val="6F7782"/>
                </a:solidFill>
                <a:latin typeface="Aptos"/>
                <a:ea typeface="Aptos"/>
                <a:cs typeface="Aptos"/>
              </a:defRPr>
            </a:lvl7pPr>
            <a:lvl8pPr>
              <a:defRPr sz="1650" b="0">
                <a:solidFill>
                  <a:srgbClr val="6F7782"/>
                </a:solidFill>
                <a:latin typeface="Aptos"/>
                <a:ea typeface="Aptos"/>
                <a:cs typeface="Aptos"/>
              </a:defRPr>
            </a:lvl8pPr>
            <a:lvl9pPr>
              <a:defRPr sz="1650" b="0">
                <a:solidFill>
                  <a:srgbClr val="6F7782"/>
                </a:solidFill>
                <a:latin typeface="Aptos"/>
                <a:ea typeface="Aptos"/>
                <a:cs typeface="Aptos"/>
              </a:defRPr>
            </a:lvl9pPr>
          </a:lstStyle>
          <a:p xmlns:a="http://schemas.openxmlformats.org/drawingml/2006/main">
            <a:pPr>
              <a:defRPr sz="1650" b="0">
                <a:solidFill>
                  <a:srgbClr val="6F7782"/>
                </a:solidFill>
                <a:latin typeface="Aptos"/>
                <a:ea typeface="Aptos"/>
                <a:cs typeface="Aptos"/>
              </a:defRPr>
            </a:pPr>
            <a:r>
              <a:rPr sz="1650" b="0">
                <a:solidFill>
                  <a:srgbClr val="6F7782"/>
                </a:solidFill>
                <a:latin typeface="Aptos"/>
                <a:ea typeface="Aptos"/>
                <a:cs typeface="Aptos"/>
              </a:rPr>
              <a:t>Suggested tools for the team. Each workflow should produce something you can check.</a:t>
            </a:r>
          </a:p>
        </p:txBody>
      </p:sp>
      <p:graphicFrame>
        <p:nvGraphicFramePr>
          <p:cNvPr id="4" name="">
            <a:extLst xmlns:a="http://schemas.openxmlformats.org/drawingml/2006/main">
              <a:ext uri="{FF2B5EF4-FFF2-40B4-BE49-F238E27FC236}">
                <a16:creationId xmlns:a16="http://schemas.microsoft.com/office/drawing/2014/main" id="{9137A25C-4CA1-46D9-A923-110202798642}"/>
              </a:ext>
            </a:extLst>
          </p:cNvPr>
          <p:cNvGraphicFramePr/>
          <p:nvPr/>
        </p:nvGraphicFramePr>
        <p:xfrm>
          <a:off xmlns:a="http://schemas.openxmlformats.org/drawingml/2006/main" x="504825" y="1981200"/>
          <a:ext xmlns:a="http://schemas.openxmlformats.org/drawingml/2006/main" cx="11182350" cy="3476625"/>
        </p:xfrm>
        <a:graphic xmlns:a="http://schemas.openxmlformats.org/drawingml/2006/main">
          <a:graphicData uri="http://schemas.openxmlformats.org/drawingml/2006/table">
            <a:tbl>
              <a:tblPr/>
              <a:tblGrid>
                <a:gridCol w="1714500"/>
                <a:gridCol w="2476500"/>
                <a:gridCol w="3495675"/>
                <a:gridCol w="3495675"/>
              </a:tblGrid>
              <a:tr h="695325">
                <a:tc>
                  <a:txBody>
                    <a:bodyPr/>
                    <a:lstStyle/>
                    <a:p>
                      <a:r>
                        <a:rPr sz="1425" b="1">
                          <a:solidFill>
                            <a:srgbClr val="FFFFFF"/>
                          </a:solidFill>
                          <a:latin typeface="Aptos"/>
                          <a:ea typeface="Aptos"/>
                          <a:cs typeface="Aptos"/>
                        </a:rPr>
                        <a:t>Area</a:t>
                      </a:r>
                    </a:p>
                  </a:txBody>
                  <a:tcPr marL="133350" marR="114300" marT="114300" marB="95250" anchor="ctr">
                    <a:lnL w="6668">
                      <a:solidFill>
                        <a:srgbClr val="E2D8C9"/>
                      </a:solidFill>
                    </a:lnL>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Tools to try</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Concrete output</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Human check</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r>
              <a:tr h="695325">
                <a:tc>
                  <a:txBody>
                    <a:bodyPr/>
                    <a:lstStyle/>
                    <a:p>
                      <a:r>
                        <a:rPr sz="1575" b="1">
                          <a:solidFill>
                            <a:srgbClr val="172033"/>
                          </a:solidFill>
                          <a:latin typeface="Aptos"/>
                          <a:ea typeface="Aptos"/>
                          <a:cs typeface="Aptos"/>
                        </a:rPr>
                        <a:t>Discovery</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575" b="0">
                          <a:solidFill>
                            <a:srgbClr val="172033"/>
                          </a:solidFill>
                          <a:latin typeface="Aptos"/>
                          <a:ea typeface="Aptos"/>
                          <a:cs typeface="Aptos"/>
                        </a:rPr>
                        <a:t>Gemini Notebook</a:t>
                      </a:r>
                    </a:p>
                    <a:p>
                      <a:r>
                        <a:rPr sz="1575" b="0">
                          <a:solidFill>
                            <a:srgbClr val="172033"/>
                          </a:solidFill>
                          <a:latin typeface="Aptos"/>
                          <a:ea typeface="Aptos"/>
                          <a:cs typeface="Aptos"/>
                        </a:rPr>
                        <a:t>(NotebookLM)</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75" b="0">
                          <a:solidFill>
                            <a:srgbClr val="172033"/>
                          </a:solidFill>
                          <a:latin typeface="Aptos"/>
                          <a:ea typeface="Aptos"/>
                          <a:cs typeface="Aptos"/>
                        </a:rPr>
                        <a:t>Interview themes linked</a:t>
                      </a:r>
                    </a:p>
                    <a:p>
                      <a:r>
                        <a:rPr sz="1575" b="0">
                          <a:solidFill>
                            <a:srgbClr val="172033"/>
                          </a:solidFill>
                          <a:latin typeface="Aptos"/>
                          <a:ea typeface="Aptos"/>
                          <a:cs typeface="Aptos"/>
                        </a:rPr>
                        <a:t>to source passages</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75" b="0">
                          <a:solidFill>
                            <a:srgbClr val="172033"/>
                          </a:solidFill>
                          <a:latin typeface="Aptos"/>
                          <a:ea typeface="Aptos"/>
                          <a:cs typeface="Aptos"/>
                        </a:rPr>
                        <a:t>Original quotes and</a:t>
                      </a:r>
                    </a:p>
                    <a:p>
                      <a:r>
                        <a:rPr sz="1575" b="0">
                          <a:solidFill>
                            <a:srgbClr val="172033"/>
                          </a:solidFill>
                          <a:latin typeface="Aptos"/>
                          <a:ea typeface="Aptos"/>
                          <a:cs typeface="Aptos"/>
                        </a:rPr>
                        <a:t>contradicting evidence</a:t>
                      </a:r>
                    </a:p>
                  </a:txBody>
                  <a:tcPr marL="133350" marR="114300" marT="114300" marB="95250" anchor="ctr">
                    <a:lnR w="6668">
                      <a:solidFill>
                        <a:srgbClr val="E2D8C9"/>
                      </a:solidFill>
                    </a:lnR>
                    <a:lnB w="6668">
                      <a:solidFill>
                        <a:srgbClr val="E2D8C9"/>
                      </a:solidFill>
                    </a:lnB>
                    <a:solidFill>
                      <a:srgbClr val="FFFCF8"/>
                    </a:solidFill>
                  </a:tcPr>
                </a:tc>
              </a:tr>
              <a:tr h="695325">
                <a:tc>
                  <a:txBody>
                    <a:bodyPr/>
                    <a:lstStyle/>
                    <a:p>
                      <a:r>
                        <a:rPr sz="1575" b="1">
                          <a:solidFill>
                            <a:srgbClr val="172033"/>
                          </a:solidFill>
                          <a:latin typeface="Aptos"/>
                          <a:ea typeface="Aptos"/>
                          <a:cs typeface="Aptos"/>
                        </a:rPr>
                        <a:t>Prototype</a:t>
                      </a:r>
                    </a:p>
                  </a:txBody>
                  <a:tcPr marL="133350" marR="114300" marT="114300" marB="95250" anchor="ctr">
                    <a:lnL w="6668">
                      <a:solidFill>
                        <a:srgbClr val="E2D8C9"/>
                      </a:solidFill>
                    </a:lnL>
                    <a:lnR w="6668">
                      <a:solidFill>
                        <a:srgbClr val="E2D8C9"/>
                      </a:solidFill>
                    </a:lnR>
                    <a:lnB w="6668">
                      <a:solidFill>
                        <a:srgbClr val="E2D8C9"/>
                      </a:solidFill>
                    </a:lnB>
                    <a:solidFill>
                      <a:srgbClr val="F1EBE1"/>
                    </a:solidFill>
                  </a:tcPr>
                </a:tc>
                <a:tc>
                  <a:txBody>
                    <a:bodyPr/>
                    <a:lstStyle/>
                    <a:p>
                      <a:r>
                        <a:rPr sz="1575" b="0">
                          <a:solidFill>
                            <a:srgbClr val="172033"/>
                          </a:solidFill>
                          <a:latin typeface="Aptos"/>
                          <a:ea typeface="Aptos"/>
                          <a:cs typeface="Aptos"/>
                        </a:rPr>
                        <a:t>Codex or Claude Code</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75" b="0">
                          <a:solidFill>
                            <a:srgbClr val="172033"/>
                          </a:solidFill>
                          <a:latin typeface="Aptos"/>
                          <a:ea typeface="Aptos"/>
                          <a:cs typeface="Aptos"/>
                        </a:rPr>
                        <a:t>A working self-check</a:t>
                      </a:r>
                    </a:p>
                    <a:p>
                      <a:r>
                        <a:rPr sz="1575" b="0">
                          <a:solidFill>
                            <a:srgbClr val="172033"/>
                          </a:solidFill>
                          <a:latin typeface="Aptos"/>
                          <a:ea typeface="Aptos"/>
                          <a:cs typeface="Aptos"/>
                        </a:rPr>
                        <a:t>and sample family flow</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75" b="0">
                          <a:solidFill>
                            <a:srgbClr val="172033"/>
                          </a:solidFill>
                          <a:latin typeface="Aptos"/>
                          <a:ea typeface="Aptos"/>
                          <a:cs typeface="Aptos"/>
                        </a:rPr>
                        <a:t>Behavior, privacy,</a:t>
                      </a:r>
                    </a:p>
                    <a:p>
                      <a:r>
                        <a:rPr sz="1575" b="0">
                          <a:solidFill>
                            <a:srgbClr val="172033"/>
                          </a:solidFill>
                          <a:latin typeface="Aptos"/>
                          <a:ea typeface="Aptos"/>
                          <a:cs typeface="Aptos"/>
                        </a:rPr>
                        <a:t>and usability</a:t>
                      </a:r>
                    </a:p>
                  </a:txBody>
                  <a:tcPr marL="133350" marR="114300" marT="114300" marB="95250" anchor="ctr">
                    <a:lnR w="6668">
                      <a:solidFill>
                        <a:srgbClr val="E2D8C9"/>
                      </a:solidFill>
                    </a:lnR>
                    <a:lnB w="6668">
                      <a:solidFill>
                        <a:srgbClr val="E2D8C9"/>
                      </a:solidFill>
                    </a:lnB>
                    <a:solidFill>
                      <a:srgbClr val="F1EBE1"/>
                    </a:solidFill>
                  </a:tcPr>
                </a:tc>
              </a:tr>
              <a:tr h="695325">
                <a:tc>
                  <a:txBody>
                    <a:bodyPr/>
                    <a:lstStyle/>
                    <a:p>
                      <a:r>
                        <a:rPr sz="1575" b="1">
                          <a:solidFill>
                            <a:srgbClr val="172033"/>
                          </a:solidFill>
                          <a:latin typeface="Aptos"/>
                          <a:ea typeface="Aptos"/>
                          <a:cs typeface="Aptos"/>
                        </a:rPr>
                        <a:t>Outreach</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575" b="0">
                          <a:solidFill>
                            <a:srgbClr val="172033"/>
                          </a:solidFill>
                          <a:latin typeface="Aptos"/>
                          <a:ea typeface="Aptos"/>
                          <a:cs typeface="Aptos"/>
                        </a:rPr>
                        <a:t>ChatGPT or Claude</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75" b="0">
                          <a:solidFill>
                            <a:srgbClr val="172033"/>
                          </a:solidFill>
                          <a:latin typeface="Aptos"/>
                          <a:ea typeface="Aptos"/>
                          <a:cs typeface="Aptos"/>
                        </a:rPr>
                        <a:t>Two versions of an</a:t>
                      </a:r>
                    </a:p>
                    <a:p>
                      <a:r>
                        <a:rPr sz="1575" b="0">
                          <a:solidFill>
                            <a:srgbClr val="172033"/>
                          </a:solidFill>
                          <a:latin typeface="Aptos"/>
                          <a:ea typeface="Aptos"/>
                          <a:cs typeface="Aptos"/>
                        </a:rPr>
                        <a:t>activity-provider pitch</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75" b="0">
                          <a:solidFill>
                            <a:srgbClr val="172033"/>
                          </a:solidFill>
                          <a:latin typeface="Aptos"/>
                          <a:ea typeface="Aptos"/>
                          <a:cs typeface="Aptos"/>
                        </a:rPr>
                        <a:t>Facts, voice, and</a:t>
                      </a:r>
                    </a:p>
                    <a:p>
                      <a:r>
                        <a:rPr sz="1575" b="0">
                          <a:solidFill>
                            <a:srgbClr val="172033"/>
                          </a:solidFill>
                          <a:latin typeface="Aptos"/>
                          <a:ea typeface="Aptos"/>
                          <a:cs typeface="Aptos"/>
                        </a:rPr>
                        <a:t>permission to send</a:t>
                      </a:r>
                    </a:p>
                  </a:txBody>
                  <a:tcPr marL="133350" marR="114300" marT="114300" marB="95250" anchor="ctr">
                    <a:lnR w="6668">
                      <a:solidFill>
                        <a:srgbClr val="E2D8C9"/>
                      </a:solidFill>
                    </a:lnR>
                    <a:lnB w="6668">
                      <a:solidFill>
                        <a:srgbClr val="E2D8C9"/>
                      </a:solidFill>
                    </a:lnB>
                    <a:solidFill>
                      <a:srgbClr val="FFFCF8"/>
                    </a:solidFill>
                  </a:tcPr>
                </a:tc>
              </a:tr>
              <a:tr h="695325">
                <a:tc>
                  <a:txBody>
                    <a:bodyPr/>
                    <a:lstStyle/>
                    <a:p>
                      <a:r>
                        <a:rPr sz="1575" b="1">
                          <a:solidFill>
                            <a:srgbClr val="172033"/>
                          </a:solidFill>
                          <a:latin typeface="Aptos"/>
                          <a:ea typeface="Aptos"/>
                          <a:cs typeface="Aptos"/>
                        </a:rPr>
                        <a:t>Operations</a:t>
                      </a:r>
                    </a:p>
                  </a:txBody>
                  <a:tcPr marL="133350" marR="114300" marT="114300" marB="95250" anchor="ctr">
                    <a:lnL w="6668">
                      <a:solidFill>
                        <a:srgbClr val="E2D8C9"/>
                      </a:solidFill>
                    </a:lnL>
                    <a:lnR w="6668">
                      <a:solidFill>
                        <a:srgbClr val="E2D8C9"/>
                      </a:solidFill>
                    </a:lnR>
                    <a:lnB w="6668">
                      <a:solidFill>
                        <a:srgbClr val="E2D8C9"/>
                      </a:solidFill>
                    </a:lnB>
                    <a:solidFill>
                      <a:srgbClr val="F1EBE1"/>
                    </a:solidFill>
                  </a:tcPr>
                </a:tc>
                <a:tc>
                  <a:txBody>
                    <a:bodyPr/>
                    <a:lstStyle/>
                    <a:p>
                      <a:r>
                        <a:rPr sz="1575" b="0">
                          <a:solidFill>
                            <a:srgbClr val="172033"/>
                          </a:solidFill>
                          <a:latin typeface="Aptos"/>
                          <a:ea typeface="Aptos"/>
                          <a:cs typeface="Aptos"/>
                        </a:rPr>
                        <a:t>n8n + a model API</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75" b="0">
                          <a:solidFill>
                            <a:srgbClr val="172033"/>
                          </a:solidFill>
                          <a:latin typeface="Aptos"/>
                          <a:ea typeface="Aptos"/>
                          <a:cs typeface="Aptos"/>
                        </a:rPr>
                        <a:t>A draft follow-up after</a:t>
                      </a:r>
                    </a:p>
                    <a:p>
                      <a:r>
                        <a:rPr sz="1575" b="0">
                          <a:solidFill>
                            <a:srgbClr val="172033"/>
                          </a:solidFill>
                          <a:latin typeface="Aptos"/>
                          <a:ea typeface="Aptos"/>
                          <a:cs typeface="Aptos"/>
                        </a:rPr>
                        <a:t>a family check-in</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75" b="0">
                          <a:solidFill>
                            <a:srgbClr val="172033"/>
                          </a:solidFill>
                          <a:latin typeface="Aptos"/>
                          <a:ea typeface="Aptos"/>
                          <a:cs typeface="Aptos"/>
                        </a:rPr>
                        <a:t>Consent and review</a:t>
                      </a:r>
                    </a:p>
                    <a:p>
                      <a:r>
                        <a:rPr sz="1575" b="0">
                          <a:solidFill>
                            <a:srgbClr val="172033"/>
                          </a:solidFill>
                          <a:latin typeface="Aptos"/>
                          <a:ea typeface="Aptos"/>
                          <a:cs typeface="Aptos"/>
                        </a:rPr>
                        <a:t>before messages go out</a:t>
                      </a:r>
                    </a:p>
                  </a:txBody>
                  <a:tcPr marL="133350" marR="114300" marT="114300" marB="95250" anchor="ctr">
                    <a:lnR w="6668">
                      <a:solidFill>
                        <a:srgbClr val="E2D8C9"/>
                      </a:solidFill>
                    </a:lnR>
                    <a:lnB w="6668">
                      <a:solidFill>
                        <a:srgbClr val="E2D8C9"/>
                      </a:solidFill>
                    </a:lnB>
                    <a:solidFill>
                      <a:srgbClr val="F1EBE1"/>
                    </a:solidFill>
                  </a:tcPr>
                </a:tc>
              </a:tr>
            </a:tbl>
          </a:graphicData>
        </a:graphic>
      </p:graphicFrame>
      <p:sp>
        <p:nvSpPr>
          <p:cNvPr id="5" name="takeaway">
            <a:extLst xmlns:a="http://schemas.openxmlformats.org/drawingml/2006/main">
              <a:ext uri="{FF2B5EF4-FFF2-40B4-BE49-F238E27FC236}">
                <a16:creationId xmlns:a16="http://schemas.microsoft.com/office/drawing/2014/main" id="{A48116A5-05FC-48B5-BA11-EB736A5FDCD3}"/>
              </a:ext>
            </a:extLst>
          </p:cNvPr>
          <p:cNvSpPr>
            <a:spLocks xmlns:a="http://schemas.openxmlformats.org/drawingml/2006/main" noGrp="1"/>
          </p:cNvSpPr>
          <p:nvPr/>
        </p:nvSpPr>
        <p:spPr>
          <a:xfrm xmlns:a="http://schemas.openxmlformats.org/drawingml/2006/main">
            <a:off x="504825" y="5781675"/>
            <a:ext cx="11182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2033"/>
                </a:solidFill>
                <a:latin typeface="Aptos"/>
                <a:ea typeface="Aptos"/>
                <a:cs typeface="Aptos"/>
              </a:defRPr>
            </a:defPPr>
            <a:lvl1pPr>
              <a:defRPr sz="1800" b="1">
                <a:solidFill>
                  <a:srgbClr val="172033"/>
                </a:solidFill>
                <a:latin typeface="Aptos"/>
                <a:ea typeface="Aptos"/>
                <a:cs typeface="Aptos"/>
              </a:defRPr>
            </a:lvl1pPr>
            <a:lvl2pPr>
              <a:defRPr sz="1800" b="1">
                <a:solidFill>
                  <a:srgbClr val="172033"/>
                </a:solidFill>
                <a:latin typeface="Aptos"/>
                <a:ea typeface="Aptos"/>
                <a:cs typeface="Aptos"/>
              </a:defRPr>
            </a:lvl2pPr>
            <a:lvl3pPr>
              <a:defRPr sz="1800" b="1">
                <a:solidFill>
                  <a:srgbClr val="172033"/>
                </a:solidFill>
                <a:latin typeface="Aptos"/>
                <a:ea typeface="Aptos"/>
                <a:cs typeface="Aptos"/>
              </a:defRPr>
            </a:lvl3pPr>
            <a:lvl4pPr>
              <a:defRPr sz="1800" b="1">
                <a:solidFill>
                  <a:srgbClr val="172033"/>
                </a:solidFill>
                <a:latin typeface="Aptos"/>
                <a:ea typeface="Aptos"/>
                <a:cs typeface="Aptos"/>
              </a:defRPr>
            </a:lvl4pPr>
            <a:lvl5pPr>
              <a:defRPr sz="1800" b="1">
                <a:solidFill>
                  <a:srgbClr val="172033"/>
                </a:solidFill>
                <a:latin typeface="Aptos"/>
                <a:ea typeface="Aptos"/>
                <a:cs typeface="Aptos"/>
              </a:defRPr>
            </a:lvl5pPr>
            <a:lvl6pPr>
              <a:defRPr sz="1800" b="1">
                <a:solidFill>
                  <a:srgbClr val="172033"/>
                </a:solidFill>
                <a:latin typeface="Aptos"/>
                <a:ea typeface="Aptos"/>
                <a:cs typeface="Aptos"/>
              </a:defRPr>
            </a:lvl6pPr>
            <a:lvl7pPr>
              <a:defRPr sz="1800" b="1">
                <a:solidFill>
                  <a:srgbClr val="172033"/>
                </a:solidFill>
                <a:latin typeface="Aptos"/>
                <a:ea typeface="Aptos"/>
                <a:cs typeface="Aptos"/>
              </a:defRPr>
            </a:lvl7pPr>
            <a:lvl8pPr>
              <a:defRPr sz="1800" b="1">
                <a:solidFill>
                  <a:srgbClr val="172033"/>
                </a:solidFill>
                <a:latin typeface="Aptos"/>
                <a:ea typeface="Aptos"/>
                <a:cs typeface="Aptos"/>
              </a:defRPr>
            </a:lvl8pPr>
            <a:lvl9pPr>
              <a:defRPr sz="1800" b="1">
                <a:solidFill>
                  <a:srgbClr val="172033"/>
                </a:solidFill>
                <a:latin typeface="Aptos"/>
                <a:ea typeface="Aptos"/>
                <a:cs typeface="Aptos"/>
              </a:defRPr>
            </a:lvl9pPr>
          </a:lstStyle>
          <a:p xmlns:a="http://schemas.openxmlformats.org/drawingml/2006/main">
            <a:pPr>
              <a:defRPr sz="1800" b="1">
                <a:solidFill>
                  <a:srgbClr val="172033"/>
                </a:solidFill>
                <a:latin typeface="Aptos"/>
                <a:ea typeface="Aptos"/>
                <a:cs typeface="Aptos"/>
              </a:defRPr>
            </a:pPr>
            <a:r>
              <a:rPr sz="1800" b="1">
                <a:solidFill>
                  <a:srgbClr val="172033"/>
                </a:solidFill>
                <a:latin typeface="Aptos"/>
                <a:ea typeface="Aptos"/>
                <a:cs typeface="Aptos"/>
              </a:rPr>
              <a:t>Example: use anonymized interviews to draft a prototype brief.</a:t>
            </a:r>
          </a:p>
        </p:txBody>
      </p:sp>
      <p:sp>
        <p:nvSpPr>
          <p:cNvPr id="6" name="caption">
            <a:extLst xmlns:a="http://schemas.openxmlformats.org/drawingml/2006/main">
              <a:ext uri="{FF2B5EF4-FFF2-40B4-BE49-F238E27FC236}">
                <a16:creationId xmlns:a16="http://schemas.microsoft.com/office/drawing/2014/main" id="{FC95D189-FE4A-4971-BC88-BAF710C7CD36}"/>
              </a:ext>
            </a:extLst>
          </p:cNvPr>
          <p:cNvSpPr>
            <a:spLocks xmlns:a="http://schemas.openxmlformats.org/drawingml/2006/main" noGrp="1"/>
          </p:cNvSpPr>
          <p:nvPr/>
        </p:nvSpPr>
        <p:spPr>
          <a:xfrm xmlns:a="http://schemas.openxmlformats.org/drawingml/2006/main">
            <a:off x="504825" y="6372225"/>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75" b="0">
                <a:solidFill>
                  <a:srgbClr val="6F7782"/>
                </a:solidFill>
                <a:latin typeface="Aptos"/>
                <a:ea typeface="Aptos"/>
                <a:cs typeface="Aptos"/>
              </a:defRPr>
            </a:defPPr>
            <a:lvl1pPr>
              <a:defRPr sz="975" b="0">
                <a:solidFill>
                  <a:srgbClr val="6F7782"/>
                </a:solidFill>
                <a:latin typeface="Aptos"/>
                <a:ea typeface="Aptos"/>
                <a:cs typeface="Aptos"/>
              </a:defRPr>
            </a:lvl1pPr>
            <a:lvl2pPr>
              <a:defRPr sz="975" b="0">
                <a:solidFill>
                  <a:srgbClr val="6F7782"/>
                </a:solidFill>
                <a:latin typeface="Aptos"/>
                <a:ea typeface="Aptos"/>
                <a:cs typeface="Aptos"/>
              </a:defRPr>
            </a:lvl2pPr>
            <a:lvl3pPr>
              <a:defRPr sz="975" b="0">
                <a:solidFill>
                  <a:srgbClr val="6F7782"/>
                </a:solidFill>
                <a:latin typeface="Aptos"/>
                <a:ea typeface="Aptos"/>
                <a:cs typeface="Aptos"/>
              </a:defRPr>
            </a:lvl3pPr>
            <a:lvl4pPr>
              <a:defRPr sz="975" b="0">
                <a:solidFill>
                  <a:srgbClr val="6F7782"/>
                </a:solidFill>
                <a:latin typeface="Aptos"/>
                <a:ea typeface="Aptos"/>
                <a:cs typeface="Aptos"/>
              </a:defRPr>
            </a:lvl4pPr>
            <a:lvl5pPr>
              <a:defRPr sz="975" b="0">
                <a:solidFill>
                  <a:srgbClr val="6F7782"/>
                </a:solidFill>
                <a:latin typeface="Aptos"/>
                <a:ea typeface="Aptos"/>
                <a:cs typeface="Aptos"/>
              </a:defRPr>
            </a:lvl5pPr>
            <a:lvl6pPr>
              <a:defRPr sz="975" b="0">
                <a:solidFill>
                  <a:srgbClr val="6F7782"/>
                </a:solidFill>
                <a:latin typeface="Aptos"/>
                <a:ea typeface="Aptos"/>
                <a:cs typeface="Aptos"/>
              </a:defRPr>
            </a:lvl6pPr>
            <a:lvl7pPr>
              <a:defRPr sz="975" b="0">
                <a:solidFill>
                  <a:srgbClr val="6F7782"/>
                </a:solidFill>
                <a:latin typeface="Aptos"/>
                <a:ea typeface="Aptos"/>
                <a:cs typeface="Aptos"/>
              </a:defRPr>
            </a:lvl7pPr>
            <a:lvl8pPr>
              <a:defRPr sz="975" b="0">
                <a:solidFill>
                  <a:srgbClr val="6F7782"/>
                </a:solidFill>
                <a:latin typeface="Aptos"/>
                <a:ea typeface="Aptos"/>
                <a:cs typeface="Aptos"/>
              </a:defRPr>
            </a:lvl8pPr>
            <a:lvl9pPr>
              <a:defRPr sz="975" b="0">
                <a:solidFill>
                  <a:srgbClr val="6F7782"/>
                </a:solidFill>
                <a:latin typeface="Aptos"/>
                <a:ea typeface="Aptos"/>
                <a:cs typeface="Aptos"/>
              </a:defRPr>
            </a:lvl9pPr>
          </a:lstStyle>
          <a:p xmlns:a="http://schemas.openxmlformats.org/drawingml/2006/main">
            <a:pPr>
              <a:defRPr sz="975" b="0">
                <a:solidFill>
                  <a:srgbClr val="6F7782"/>
                </a:solidFill>
                <a:latin typeface="Aptos"/>
                <a:ea typeface="Aptos"/>
                <a:cs typeface="Aptos"/>
              </a:defRPr>
            </a:pPr>
            <a:r>
              <a:rPr sz="975" b="0">
                <a:solidFill>
                  <a:srgbClr val="6F7782"/>
                </a:solidFill>
                <a:latin typeface="Aptos"/>
                <a:ea typeface="Aptos"/>
                <a:cs typeface="Aptos"/>
              </a:rPr>
              <a:t>Proposed toolkit. Access and features vary by plan. Product names checked October 30, 2026.</a:t>
            </a:r>
          </a:p>
        </p:txBody>
      </p:sp>
      <p:sp>
        <p:nvSpPr>
          <p:cNvPr id="7" name="page-number">
            <a:extLst xmlns:a="http://schemas.openxmlformats.org/drawingml/2006/main">
              <a:ext uri="{FF2B5EF4-FFF2-40B4-BE49-F238E27FC236}">
                <a16:creationId xmlns:a16="http://schemas.microsoft.com/office/drawing/2014/main" id="{DC63D6E0-9D5D-4957-BC83-5F710B1E31FB}"/>
              </a:ext>
            </a:extLst>
          </p:cNvPr>
          <p:cNvSpPr>
            <a:spLocks xmlns:a="http://schemas.openxmlformats.org/drawingml/2006/main" noGrp="1"/>
          </p:cNvSpPr>
          <p:nvPr/>
        </p:nvSpPr>
        <p:spPr>
          <a:xfrm xmlns:a="http://schemas.openxmlformats.org/drawingml/2006/main">
            <a:off x="11896725" y="266700"/>
            <a:ext cx="190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825" b="0">
                <a:solidFill>
                  <a:srgbClr val="9F9F9F"/>
                </a:solidFill>
                <a:latin typeface="Aptos"/>
                <a:ea typeface="Aptos"/>
                <a:cs typeface="Aptos"/>
              </a:defRPr>
            </a:defPPr>
            <a:lvl1pPr>
              <a:defRPr sz="825" b="0">
                <a:solidFill>
                  <a:srgbClr val="9F9F9F"/>
                </a:solidFill>
                <a:latin typeface="Aptos"/>
                <a:ea typeface="Aptos"/>
                <a:cs typeface="Aptos"/>
              </a:defRPr>
            </a:lvl1pPr>
            <a:lvl2pPr>
              <a:defRPr sz="825" b="0">
                <a:solidFill>
                  <a:srgbClr val="9F9F9F"/>
                </a:solidFill>
                <a:latin typeface="Aptos"/>
                <a:ea typeface="Aptos"/>
                <a:cs typeface="Aptos"/>
              </a:defRPr>
            </a:lvl2pPr>
            <a:lvl3pPr>
              <a:defRPr sz="825" b="0">
                <a:solidFill>
                  <a:srgbClr val="9F9F9F"/>
                </a:solidFill>
                <a:latin typeface="Aptos"/>
                <a:ea typeface="Aptos"/>
                <a:cs typeface="Aptos"/>
              </a:defRPr>
            </a:lvl3pPr>
            <a:lvl4pPr>
              <a:defRPr sz="825" b="0">
                <a:solidFill>
                  <a:srgbClr val="9F9F9F"/>
                </a:solidFill>
                <a:latin typeface="Aptos"/>
                <a:ea typeface="Aptos"/>
                <a:cs typeface="Aptos"/>
              </a:defRPr>
            </a:lvl4pPr>
            <a:lvl5pPr>
              <a:defRPr sz="825" b="0">
                <a:solidFill>
                  <a:srgbClr val="9F9F9F"/>
                </a:solidFill>
                <a:latin typeface="Aptos"/>
                <a:ea typeface="Aptos"/>
                <a:cs typeface="Aptos"/>
              </a:defRPr>
            </a:lvl5pPr>
            <a:lvl6pPr>
              <a:defRPr sz="825" b="0">
                <a:solidFill>
                  <a:srgbClr val="9F9F9F"/>
                </a:solidFill>
                <a:latin typeface="Aptos"/>
                <a:ea typeface="Aptos"/>
                <a:cs typeface="Aptos"/>
              </a:defRPr>
            </a:lvl6pPr>
            <a:lvl7pPr>
              <a:defRPr sz="825" b="0">
                <a:solidFill>
                  <a:srgbClr val="9F9F9F"/>
                </a:solidFill>
                <a:latin typeface="Aptos"/>
                <a:ea typeface="Aptos"/>
                <a:cs typeface="Aptos"/>
              </a:defRPr>
            </a:lvl7pPr>
            <a:lvl8pPr>
              <a:defRPr sz="825" b="0">
                <a:solidFill>
                  <a:srgbClr val="9F9F9F"/>
                </a:solidFill>
                <a:latin typeface="Aptos"/>
                <a:ea typeface="Aptos"/>
                <a:cs typeface="Aptos"/>
              </a:defRPr>
            </a:lvl8pPr>
            <a:lvl9pPr>
              <a:defRPr sz="825" b="0">
                <a:solidFill>
                  <a:srgbClr val="9F9F9F"/>
                </a:solidFill>
                <a:latin typeface="Aptos"/>
                <a:ea typeface="Aptos"/>
                <a:cs typeface="Aptos"/>
              </a:defRPr>
            </a:lvl9pPr>
          </a:lstStyle>
          <a:p xmlns:a="http://schemas.openxmlformats.org/drawingml/2006/main">
            <a:pPr>
              <a:defRPr sz="825" b="0">
                <a:solidFill>
                  <a:srgbClr val="9F9F9F"/>
                </a:solidFill>
                <a:latin typeface="Aptos"/>
                <a:ea typeface="Aptos"/>
                <a:cs typeface="Aptos"/>
              </a:defRPr>
            </a:pPr>
            <a:r>
              <a:rPr sz="825" b="0">
                <a:solidFill>
                  <a:srgbClr val="9F9F9F"/>
                </a:solidFill>
                <a:latin typeface="Aptos"/>
                <a:ea typeface="Aptos"/>
                <a:cs typeface="Aptos"/>
              </a:rPr>
              <a:t>2</a:t>
            </a:r>
          </a:p>
        </p:txBody>
      </p:sp>
    </p:spTree>
    <p:extLst>
      <p:ext uri="{BB962C8B-B14F-4D97-AF65-F5344CB8AC3E}">
        <p14:creationId xmlns:p14="http://schemas.microsoft.com/office/powerpoint/2010/main" val="38248346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06C5AA-8F06-440E-AFC0-D287C366D6EE}"/>
              </a:ext>
            </a:extLst>
          </p:cNvPr>
          <p:cNvSpPr>
            <a:spLocks xmlns:a="http://schemas.openxmlformats.org/drawingml/2006/main" noGrp="1"/>
          </p:cNvSpPr>
          <p:nvPr/>
        </p:nvSpPr>
        <p:spPr>
          <a:xfrm xmlns:a="http://schemas.openxmlformats.org/drawingml/2006/main">
            <a:off x="502920" y="5029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80">
                <a:solidFill>
                  <a:srgbClr val="F57C00"/>
                </a:solidFill>
              </a:rPr>
              <a:t>JOOLIAN CASE 2 OF 6</a:t>
            </a:r>
            <a:endParaRPr sz="1000"/>
          </a:p>
        </p:txBody>
      </p:sp>
      <p:sp>
        <p:nvSpPr>
          <p:cNvPr id="3" name="Text 1">
            <a:extLst xmlns:a="http://schemas.openxmlformats.org/drawingml/2006/main">
              <a:ext uri="{FF2B5EF4-FFF2-40B4-BE49-F238E27FC236}">
                <a16:creationId xmlns:a16="http://schemas.microsoft.com/office/drawing/2014/main" id="{A67A39CC-C7D8-475E-ACAE-5B4E41B0CB47}"/>
              </a:ext>
            </a:extLst>
          </p:cNvPr>
          <p:cNvSpPr>
            <a:spLocks xmlns:a="http://schemas.openxmlformats.org/drawingml/2006/main" noGrp="1"/>
          </p:cNvSpPr>
          <p:nvPr/>
        </p:nvSpPr>
        <p:spPr>
          <a:xfrm xmlns:a="http://schemas.openxmlformats.org/drawingml/2006/main">
            <a:off x="502920" y="790575"/>
            <a:ext cx="109728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700"/>
            </a:defPPr>
            <a:lvl1pPr>
              <a:defRPr sz="2700"/>
            </a:lvl1pPr>
            <a:lvl2pPr>
              <a:defRPr sz="2700"/>
            </a:lvl2pPr>
            <a:lvl3pPr>
              <a:defRPr sz="2700"/>
            </a:lvl3pPr>
            <a:lvl4pPr>
              <a:defRPr sz="2700"/>
            </a:lvl4pPr>
            <a:lvl5pPr>
              <a:defRPr sz="2700"/>
            </a:lvl5pPr>
            <a:lvl6pPr>
              <a:defRPr sz="2700"/>
            </a:lvl6pPr>
            <a:lvl7pPr>
              <a:defRPr sz="2700"/>
            </a:lvl7pPr>
            <a:lvl8pPr>
              <a:defRPr sz="2700"/>
            </a:lvl8pPr>
            <a:lvl9pPr>
              <a:defRPr sz="2700"/>
            </a:lvl9pPr>
          </a:lstStyle>
          <a:p xmlns:a="http://schemas.openxmlformats.org/drawingml/2006/main">
            <a:pPr marL="0" indent="0">
              <a:buNone/>
            </a:pPr>
            <a:r>
              <a:rPr sz="2700" b="1">
                <a:solidFill>
                  <a:srgbClr val="172033"/>
                </a:solidFill>
              </a:rPr>
              <a:t>The family challenge in five data points</a:t>
            </a:r>
            <a:endParaRPr sz="2700"/>
          </a:p>
        </p:txBody>
      </p:sp>
      <p:sp>
        <p:nvSpPr>
          <p:cNvPr id="4" name="Text 2">
            <a:extLst xmlns:a="http://schemas.openxmlformats.org/drawingml/2006/main">
              <a:ext uri="{FF2B5EF4-FFF2-40B4-BE49-F238E27FC236}">
                <a16:creationId xmlns:a16="http://schemas.microsoft.com/office/drawing/2014/main" id="{EC539BA7-3106-4F47-B32C-E1876106D484}"/>
              </a:ext>
            </a:extLst>
          </p:cNvPr>
          <p:cNvSpPr>
            <a:spLocks xmlns:a="http://schemas.openxmlformats.org/drawingml/2006/main" noGrp="1"/>
          </p:cNvSpPr>
          <p:nvPr/>
        </p:nvSpPr>
        <p:spPr>
          <a:xfrm xmlns:a="http://schemas.openxmlformats.org/drawingml/2006/main">
            <a:off x="502920" y="1353312"/>
            <a:ext cx="109728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marL="0" indent="0">
              <a:buNone/>
            </a:pPr>
            <a:r>
              <a:rPr sz="1575">
                <a:solidFill>
                  <a:srgbClr val="6F7782"/>
                </a:solidFill>
              </a:rPr>
              <a:t>Different surveys describe the context. They do not prove that screens cause every outcome.</a:t>
            </a:r>
            <a:endParaRPr sz="1250"/>
          </a:p>
        </p:txBody>
      </p:sp>
      <p:sp>
        <p:nvSpPr>
          <p:cNvPr id="5" name="Shape 3">
            <a:extLst xmlns:a="http://schemas.openxmlformats.org/drawingml/2006/main">
              <a:ext uri="{FF2B5EF4-FFF2-40B4-BE49-F238E27FC236}">
                <a16:creationId xmlns:a16="http://schemas.microsoft.com/office/drawing/2014/main" id="{AC2E5D40-477F-42B0-8619-EEE60572464F}"/>
              </a:ext>
            </a:extLst>
          </p:cNvPr>
          <p:cNvSpPr>
            <a:spLocks xmlns:a="http://schemas.openxmlformats.org/drawingml/2006/main" noGrp="1"/>
          </p:cNvSpPr>
          <p:nvPr/>
        </p:nvSpPr>
        <p:spPr>
          <a:xfrm xmlns:a="http://schemas.openxmlformats.org/drawingml/2006/main">
            <a:off x="502920" y="2011680"/>
            <a:ext cx="2134210" cy="3429000"/>
          </a:xfrm>
          <a:prstGeom xmlns:a="http://schemas.openxmlformats.org/drawingml/2006/main" prst="roundRect">
            <a:avLst/>
          </a:prstGeom>
          <a:solidFill xmlns:a="http://schemas.openxmlformats.org/drawingml/2006/main">
            <a:srgbClr val="FFFCF7"/>
          </a:solidFill>
          <a:ln xmlns:a="http://schemas.openxmlformats.org/drawingml/2006/main" w="12700">
            <a:solidFill>
              <a:srgbClr val="E9DED0"/>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1306F8F-08E2-4E1B-BB96-005F2CB5DBDB}"/>
              </a:ext>
            </a:extLst>
          </p:cNvPr>
          <p:cNvSpPr>
            <a:spLocks xmlns:a="http://schemas.openxmlformats.org/drawingml/2006/main" noGrp="1"/>
          </p:cNvSpPr>
          <p:nvPr/>
        </p:nvSpPr>
        <p:spPr>
          <a:xfrm xmlns:a="http://schemas.openxmlformats.org/drawingml/2006/main">
            <a:off x="640080" y="2176272"/>
            <a:ext cx="185989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F57C00"/>
                </a:solidFill>
              </a:rPr>
              <a:t>~8h</a:t>
            </a:r>
            <a:endParaRPr sz="2500"/>
          </a:p>
        </p:txBody>
      </p:sp>
      <p:sp>
        <p:nvSpPr>
          <p:cNvPr id="7" name="Text 5">
            <a:extLst xmlns:a="http://schemas.openxmlformats.org/drawingml/2006/main">
              <a:ext uri="{FF2B5EF4-FFF2-40B4-BE49-F238E27FC236}">
                <a16:creationId xmlns:a16="http://schemas.microsoft.com/office/drawing/2014/main" id="{AF4528F7-9335-4C5A-9AF1-2731E64E18B2}"/>
              </a:ext>
            </a:extLst>
          </p:cNvPr>
          <p:cNvSpPr>
            <a:spLocks xmlns:a="http://schemas.openxmlformats.org/drawingml/2006/main" noGrp="1"/>
          </p:cNvSpPr>
          <p:nvPr/>
        </p:nvSpPr>
        <p:spPr>
          <a:xfrm xmlns:a="http://schemas.openxmlformats.org/drawingml/2006/main">
            <a:off x="640080" y="2862072"/>
            <a:ext cx="185989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Entertainment screen media</a:t>
            </a:r>
            <a:endParaRPr sz="1400"/>
          </a:p>
        </p:txBody>
      </p:sp>
      <p:sp>
        <p:nvSpPr>
          <p:cNvPr id="8" name="Text 6">
            <a:extLst xmlns:a="http://schemas.openxmlformats.org/drawingml/2006/main">
              <a:ext uri="{FF2B5EF4-FFF2-40B4-BE49-F238E27FC236}">
                <a16:creationId xmlns:a16="http://schemas.microsoft.com/office/drawing/2014/main" id="{8CF8C12C-5B2D-44E0-B5E7-C2C49A94E927}"/>
              </a:ext>
            </a:extLst>
          </p:cNvPr>
          <p:cNvSpPr>
            <a:spLocks xmlns:a="http://schemas.openxmlformats.org/drawingml/2006/main" noGrp="1"/>
          </p:cNvSpPr>
          <p:nvPr/>
        </p:nvSpPr>
        <p:spPr>
          <a:xfrm xmlns:a="http://schemas.openxmlformats.org/drawingml/2006/main">
            <a:off x="667512" y="3474720"/>
            <a:ext cx="1805026" cy="9144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Typical daily entertainment screen use among U.S. teens.</a:t>
            </a:r>
            <a:endParaRPr sz="1200"/>
          </a:p>
          <a:p xmlns:a="http://schemas.openxmlformats.org/drawingml/2006/main">
            <a:pPr marL="0" indent="0" algn="ctr">
              <a:buNone/>
            </a:pPr>
            <a:r>
              <a:rPr sz="1350">
                <a:solidFill>
                  <a:srgbClr val="6F7782"/>
                </a:solidFill>
              </a:rPr>
              <a:t>Common Sense, 2026.</a:t>
            </a:r>
            <a:endParaRPr sz="1200"/>
          </a:p>
        </p:txBody>
      </p:sp>
      <p:sp>
        <p:nvSpPr>
          <p:cNvPr id="9" name="Shape 7">
            <a:extLst xmlns:a="http://schemas.openxmlformats.org/drawingml/2006/main">
              <a:ext uri="{FF2B5EF4-FFF2-40B4-BE49-F238E27FC236}">
                <a16:creationId xmlns:a16="http://schemas.microsoft.com/office/drawing/2014/main" id="{26256A5F-38C0-4537-B703-A987479DBAE4}"/>
              </a:ext>
            </a:extLst>
          </p:cNvPr>
          <p:cNvSpPr>
            <a:spLocks xmlns:a="http://schemas.openxmlformats.org/drawingml/2006/main" noGrp="1"/>
          </p:cNvSpPr>
          <p:nvPr/>
        </p:nvSpPr>
        <p:spPr>
          <a:xfrm xmlns:a="http://schemas.openxmlformats.org/drawingml/2006/main">
            <a:off x="704088" y="4553712"/>
            <a:ext cx="1731874" cy="0"/>
          </a:xfrm>
          <a:prstGeom xmlns:a="http://schemas.openxmlformats.org/drawingml/2006/main" prst="line">
            <a:avLst/>
          </a:prstGeom>
          <a:noFill xmlns:a="http://schemas.openxmlformats.org/drawingml/2006/main"/>
          <a:ln xmlns:a="http://schemas.openxmlformats.org/drawingml/2006/main" w="12700">
            <a:solidFill>
              <a:srgbClr val="DED4C8"/>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79AEBD07-EC33-4283-B34F-7E132037F05D}"/>
              </a:ext>
            </a:extLst>
          </p:cNvPr>
          <p:cNvSpPr>
            <a:spLocks xmlns:a="http://schemas.openxmlformats.org/drawingml/2006/main" noGrp="1"/>
          </p:cNvSpPr>
          <p:nvPr/>
        </p:nvSpPr>
        <p:spPr>
          <a:xfrm xmlns:a="http://schemas.openxmlformats.org/drawingml/2006/main">
            <a:off x="667512" y="4709160"/>
            <a:ext cx="1805026" cy="56692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indent="0" algn="ctr">
              <a:buNone/>
            </a:pPr>
            <a:r>
              <a:rPr sz="1275" b="1">
                <a:solidFill>
                  <a:srgbClr val="172033"/>
                </a:solidFill>
              </a:rPr>
              <a:t>Joolian question:</a:t>
            </a:r>
            <a:endParaRPr sz="1050"/>
          </a:p>
          <a:p xmlns:a="http://schemas.openxmlformats.org/drawingml/2006/main">
            <a:pPr marL="0" indent="0" algn="ctr">
              <a:buNone/>
            </a:pPr>
            <a:r>
              <a:rPr sz="1275" b="1">
                <a:solidFill>
                  <a:srgbClr val="172033"/>
                </a:solidFill>
              </a:rPr>
              <a:t>What would families like more time for?</a:t>
            </a:r>
            <a:endParaRPr sz="1050"/>
          </a:p>
        </p:txBody>
      </p:sp>
      <p:sp>
        <p:nvSpPr>
          <p:cNvPr id="11" name="Shape 9">
            <a:extLst xmlns:a="http://schemas.openxmlformats.org/drawingml/2006/main">
              <a:ext uri="{FF2B5EF4-FFF2-40B4-BE49-F238E27FC236}">
                <a16:creationId xmlns:a16="http://schemas.microsoft.com/office/drawing/2014/main" id="{B53C02AC-E3A8-4010-BA61-9C84753F6216}"/>
              </a:ext>
            </a:extLst>
          </p:cNvPr>
          <p:cNvSpPr>
            <a:spLocks xmlns:a="http://schemas.openxmlformats.org/drawingml/2006/main" noGrp="1"/>
          </p:cNvSpPr>
          <p:nvPr/>
        </p:nvSpPr>
        <p:spPr>
          <a:xfrm xmlns:a="http://schemas.openxmlformats.org/drawingml/2006/main">
            <a:off x="2765146" y="2011680"/>
            <a:ext cx="2134210" cy="3429000"/>
          </a:xfrm>
          <a:prstGeom xmlns:a="http://schemas.openxmlformats.org/drawingml/2006/main" prst="roundRect">
            <a:avLst/>
          </a:prstGeom>
          <a:solidFill xmlns:a="http://schemas.openxmlformats.org/drawingml/2006/main">
            <a:srgbClr val="FFFCF7"/>
          </a:solidFill>
          <a:ln xmlns:a="http://schemas.openxmlformats.org/drawingml/2006/main" w="12700">
            <a:solidFill>
              <a:srgbClr val="E9DED0"/>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09792F64-E700-4C89-9F9E-4CC591312EB8}"/>
              </a:ext>
            </a:extLst>
          </p:cNvPr>
          <p:cNvSpPr>
            <a:spLocks xmlns:a="http://schemas.openxmlformats.org/drawingml/2006/main" noGrp="1"/>
          </p:cNvSpPr>
          <p:nvPr/>
        </p:nvSpPr>
        <p:spPr>
          <a:xfrm xmlns:a="http://schemas.openxmlformats.org/drawingml/2006/main">
            <a:off x="2902306" y="2176272"/>
            <a:ext cx="185989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F6FB0"/>
                </a:solidFill>
              </a:rPr>
              <a:t>40%</a:t>
            </a:r>
            <a:endParaRPr sz="2500"/>
          </a:p>
        </p:txBody>
      </p:sp>
      <p:sp>
        <p:nvSpPr>
          <p:cNvPr id="13" name="Text 11">
            <a:extLst xmlns:a="http://schemas.openxmlformats.org/drawingml/2006/main">
              <a:ext uri="{FF2B5EF4-FFF2-40B4-BE49-F238E27FC236}">
                <a16:creationId xmlns:a16="http://schemas.microsoft.com/office/drawing/2014/main" id="{FE318F0A-8642-4984-85B0-78E033F1F1F7}"/>
              </a:ext>
            </a:extLst>
          </p:cNvPr>
          <p:cNvSpPr>
            <a:spLocks xmlns:a="http://schemas.openxmlformats.org/drawingml/2006/main" noGrp="1"/>
          </p:cNvSpPr>
          <p:nvPr/>
        </p:nvSpPr>
        <p:spPr>
          <a:xfrm xmlns:a="http://schemas.openxmlformats.org/drawingml/2006/main">
            <a:off x="2902306" y="2862072"/>
            <a:ext cx="185989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Online almost constantly</a:t>
            </a:r>
            <a:endParaRPr sz="1400"/>
          </a:p>
        </p:txBody>
      </p:sp>
      <p:sp>
        <p:nvSpPr>
          <p:cNvPr id="14" name="Text 12">
            <a:extLst xmlns:a="http://schemas.openxmlformats.org/drawingml/2006/main">
              <a:ext uri="{FF2B5EF4-FFF2-40B4-BE49-F238E27FC236}">
                <a16:creationId xmlns:a16="http://schemas.microsoft.com/office/drawing/2014/main" id="{9A23CCDC-CEBF-4ED6-8AC1-BFD9E20996A6}"/>
              </a:ext>
            </a:extLst>
          </p:cNvPr>
          <p:cNvSpPr>
            <a:spLocks xmlns:a="http://schemas.openxmlformats.org/drawingml/2006/main" noGrp="1"/>
          </p:cNvSpPr>
          <p:nvPr/>
        </p:nvSpPr>
        <p:spPr>
          <a:xfrm xmlns:a="http://schemas.openxmlformats.org/drawingml/2006/main">
            <a:off x="2929738" y="3474720"/>
            <a:ext cx="1805026" cy="9144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U.S. teens ages 13–17 who say they are online almost constantly.</a:t>
            </a:r>
            <a:endParaRPr sz="1200"/>
          </a:p>
          <a:p xmlns:a="http://schemas.openxmlformats.org/drawingml/2006/main">
            <a:pPr marL="0" indent="0" algn="ctr">
              <a:buNone/>
            </a:pPr>
            <a:r>
              <a:rPr sz="1350">
                <a:solidFill>
                  <a:srgbClr val="6F7782"/>
                </a:solidFill>
              </a:rPr>
              <a:t>Pew, 2025.</a:t>
            </a:r>
            <a:endParaRPr sz="1200"/>
          </a:p>
        </p:txBody>
      </p:sp>
      <p:sp>
        <p:nvSpPr>
          <p:cNvPr id="15" name="Shape 13">
            <a:extLst xmlns:a="http://schemas.openxmlformats.org/drawingml/2006/main">
              <a:ext uri="{FF2B5EF4-FFF2-40B4-BE49-F238E27FC236}">
                <a16:creationId xmlns:a16="http://schemas.microsoft.com/office/drawing/2014/main" id="{8687EC1B-B4BF-4096-AB3E-34049B2A1444}"/>
              </a:ext>
            </a:extLst>
          </p:cNvPr>
          <p:cNvSpPr>
            <a:spLocks xmlns:a="http://schemas.openxmlformats.org/drawingml/2006/main" noGrp="1"/>
          </p:cNvSpPr>
          <p:nvPr/>
        </p:nvSpPr>
        <p:spPr>
          <a:xfrm xmlns:a="http://schemas.openxmlformats.org/drawingml/2006/main">
            <a:off x="2966314" y="4553712"/>
            <a:ext cx="1731874" cy="0"/>
          </a:xfrm>
          <a:prstGeom xmlns:a="http://schemas.openxmlformats.org/drawingml/2006/main" prst="line">
            <a:avLst/>
          </a:prstGeom>
          <a:noFill xmlns:a="http://schemas.openxmlformats.org/drawingml/2006/main"/>
          <a:ln xmlns:a="http://schemas.openxmlformats.org/drawingml/2006/main" w="12700">
            <a:solidFill>
              <a:srgbClr val="DED4C8"/>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DB245349-24C6-40EB-B8E3-79034C5AF891}"/>
              </a:ext>
            </a:extLst>
          </p:cNvPr>
          <p:cNvSpPr>
            <a:spLocks xmlns:a="http://schemas.openxmlformats.org/drawingml/2006/main" noGrp="1"/>
          </p:cNvSpPr>
          <p:nvPr/>
        </p:nvSpPr>
        <p:spPr>
          <a:xfrm xmlns:a="http://schemas.openxmlformats.org/drawingml/2006/main">
            <a:off x="2929738" y="4709160"/>
            <a:ext cx="1805026" cy="56692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indent="0" algn="ctr">
              <a:buNone/>
            </a:pPr>
            <a:r>
              <a:rPr sz="1275" b="1">
                <a:solidFill>
                  <a:srgbClr val="172033"/>
                </a:solidFill>
              </a:rPr>
              <a:t>Joolian question:</a:t>
            </a:r>
            <a:endParaRPr sz="1050"/>
          </a:p>
          <a:p xmlns:a="http://schemas.openxmlformats.org/drawingml/2006/main">
            <a:pPr marL="0" indent="0" algn="ctr">
              <a:buNone/>
            </a:pPr>
            <a:r>
              <a:rPr sz="1275" b="1">
                <a:solidFill>
                  <a:srgbClr val="172033"/>
                </a:solidFill>
              </a:rPr>
              <a:t>When does online life get in the way?</a:t>
            </a:r>
            <a:endParaRPr sz="1050"/>
          </a:p>
        </p:txBody>
      </p:sp>
      <p:sp>
        <p:nvSpPr>
          <p:cNvPr id="17" name="Shape 15">
            <a:extLst xmlns:a="http://schemas.openxmlformats.org/drawingml/2006/main">
              <a:ext uri="{FF2B5EF4-FFF2-40B4-BE49-F238E27FC236}">
                <a16:creationId xmlns:a16="http://schemas.microsoft.com/office/drawing/2014/main" id="{A3B30DF6-9376-46A3-ABDA-CA8AAC56D1F4}"/>
              </a:ext>
            </a:extLst>
          </p:cNvPr>
          <p:cNvSpPr>
            <a:spLocks xmlns:a="http://schemas.openxmlformats.org/drawingml/2006/main" noGrp="1"/>
          </p:cNvSpPr>
          <p:nvPr/>
        </p:nvSpPr>
        <p:spPr>
          <a:xfrm xmlns:a="http://schemas.openxmlformats.org/drawingml/2006/main">
            <a:off x="5027371" y="2011680"/>
            <a:ext cx="2134210" cy="3429000"/>
          </a:xfrm>
          <a:prstGeom xmlns:a="http://schemas.openxmlformats.org/drawingml/2006/main" prst="roundRect">
            <a:avLst/>
          </a:prstGeom>
          <a:solidFill xmlns:a="http://schemas.openxmlformats.org/drawingml/2006/main">
            <a:srgbClr val="FFFCF7"/>
          </a:solidFill>
          <a:ln xmlns:a="http://schemas.openxmlformats.org/drawingml/2006/main" w="12700">
            <a:solidFill>
              <a:srgbClr val="E9DED0"/>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544B067F-283C-41AB-9AE5-99C0BFB1B1A2}"/>
              </a:ext>
            </a:extLst>
          </p:cNvPr>
          <p:cNvSpPr>
            <a:spLocks xmlns:a="http://schemas.openxmlformats.org/drawingml/2006/main" noGrp="1"/>
          </p:cNvSpPr>
          <p:nvPr/>
        </p:nvSpPr>
        <p:spPr>
          <a:xfrm xmlns:a="http://schemas.openxmlformats.org/drawingml/2006/main">
            <a:off x="5164531" y="2176272"/>
            <a:ext cx="185989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D8A57"/>
                </a:solidFill>
              </a:rPr>
              <a:t>25%</a:t>
            </a:r>
            <a:endParaRPr sz="2500"/>
          </a:p>
        </p:txBody>
      </p:sp>
      <p:sp>
        <p:nvSpPr>
          <p:cNvPr id="19" name="Text 17">
            <a:extLst xmlns:a="http://schemas.openxmlformats.org/drawingml/2006/main">
              <a:ext uri="{FF2B5EF4-FFF2-40B4-BE49-F238E27FC236}">
                <a16:creationId xmlns:a16="http://schemas.microsoft.com/office/drawing/2014/main" id="{0A8A322E-0E8E-4953-BEAB-EE675CFBCBB5}"/>
              </a:ext>
            </a:extLst>
          </p:cNvPr>
          <p:cNvSpPr>
            <a:spLocks xmlns:a="http://schemas.openxmlformats.org/drawingml/2006/main" noGrp="1"/>
          </p:cNvSpPr>
          <p:nvPr/>
        </p:nvSpPr>
        <p:spPr>
          <a:xfrm xmlns:a="http://schemas.openxmlformats.org/drawingml/2006/main">
            <a:off x="5164531" y="2862072"/>
            <a:ext cx="185989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Meet daily activity target</a:t>
            </a:r>
            <a:endParaRPr sz="1400"/>
          </a:p>
        </p:txBody>
      </p:sp>
      <p:sp>
        <p:nvSpPr>
          <p:cNvPr id="20" name="Text 18">
            <a:extLst xmlns:a="http://schemas.openxmlformats.org/drawingml/2006/main">
              <a:ext uri="{FF2B5EF4-FFF2-40B4-BE49-F238E27FC236}">
                <a16:creationId xmlns:a16="http://schemas.microsoft.com/office/drawing/2014/main" id="{A4500D78-C931-44CC-98B7-0FEEBD68A469}"/>
              </a:ext>
            </a:extLst>
          </p:cNvPr>
          <p:cNvSpPr>
            <a:spLocks xmlns:a="http://schemas.openxmlformats.org/drawingml/2006/main" noGrp="1"/>
          </p:cNvSpPr>
          <p:nvPr/>
        </p:nvSpPr>
        <p:spPr>
          <a:xfrm xmlns:a="http://schemas.openxmlformats.org/drawingml/2006/main">
            <a:off x="5191963" y="3474720"/>
            <a:ext cx="1805026" cy="9144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U.S. high-school students active for 60+ minutes each day.</a:t>
            </a:r>
            <a:endParaRPr sz="1200"/>
          </a:p>
          <a:p xmlns:a="http://schemas.openxmlformats.org/drawingml/2006/main">
            <a:pPr marL="0" indent="0" algn="ctr">
              <a:buNone/>
            </a:pPr>
            <a:r>
              <a:rPr sz="1350">
                <a:solidFill>
                  <a:srgbClr val="6F7782"/>
                </a:solidFill>
              </a:rPr>
              <a:t>CDC, 2023 data.</a:t>
            </a:r>
            <a:endParaRPr sz="1200"/>
          </a:p>
        </p:txBody>
      </p:sp>
      <p:sp>
        <p:nvSpPr>
          <p:cNvPr id="21" name="Shape 19">
            <a:extLst xmlns:a="http://schemas.openxmlformats.org/drawingml/2006/main">
              <a:ext uri="{FF2B5EF4-FFF2-40B4-BE49-F238E27FC236}">
                <a16:creationId xmlns:a16="http://schemas.microsoft.com/office/drawing/2014/main" id="{CC61A4F2-8D67-4239-8771-7B0F10B0F0C1}"/>
              </a:ext>
            </a:extLst>
          </p:cNvPr>
          <p:cNvSpPr>
            <a:spLocks xmlns:a="http://schemas.openxmlformats.org/drawingml/2006/main" noGrp="1"/>
          </p:cNvSpPr>
          <p:nvPr/>
        </p:nvSpPr>
        <p:spPr>
          <a:xfrm xmlns:a="http://schemas.openxmlformats.org/drawingml/2006/main">
            <a:off x="5228539" y="4553712"/>
            <a:ext cx="1731874" cy="0"/>
          </a:xfrm>
          <a:prstGeom xmlns:a="http://schemas.openxmlformats.org/drawingml/2006/main" prst="line">
            <a:avLst/>
          </a:prstGeom>
          <a:noFill xmlns:a="http://schemas.openxmlformats.org/drawingml/2006/main"/>
          <a:ln xmlns:a="http://schemas.openxmlformats.org/drawingml/2006/main" w="12700">
            <a:solidFill>
              <a:srgbClr val="DED4C8"/>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DF1B2104-DFE3-4552-BEFB-CD34B698AE36}"/>
              </a:ext>
            </a:extLst>
          </p:cNvPr>
          <p:cNvSpPr>
            <a:spLocks xmlns:a="http://schemas.openxmlformats.org/drawingml/2006/main" noGrp="1"/>
          </p:cNvSpPr>
          <p:nvPr/>
        </p:nvSpPr>
        <p:spPr>
          <a:xfrm xmlns:a="http://schemas.openxmlformats.org/drawingml/2006/main">
            <a:off x="5191963" y="4709160"/>
            <a:ext cx="1805026" cy="56692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indent="0" algn="ctr">
              <a:buNone/>
            </a:pPr>
            <a:r>
              <a:rPr sz="1275" b="1">
                <a:solidFill>
                  <a:srgbClr val="172033"/>
                </a:solidFill>
              </a:rPr>
              <a:t>Joolian question:</a:t>
            </a:r>
            <a:endParaRPr sz="1050"/>
          </a:p>
          <a:p xmlns:a="http://schemas.openxmlformats.org/drawingml/2006/main">
            <a:pPr marL="0" indent="0" algn="ctr">
              <a:buNone/>
            </a:pPr>
            <a:r>
              <a:rPr sz="1275" b="1">
                <a:solidFill>
                  <a:srgbClr val="172033"/>
                </a:solidFill>
              </a:rPr>
              <a:t>Which activities would a child choose?</a:t>
            </a:r>
            <a:endParaRPr sz="1050"/>
          </a:p>
        </p:txBody>
      </p:sp>
      <p:sp>
        <p:nvSpPr>
          <p:cNvPr id="23" name="Shape 21">
            <a:extLst xmlns:a="http://schemas.openxmlformats.org/drawingml/2006/main">
              <a:ext uri="{FF2B5EF4-FFF2-40B4-BE49-F238E27FC236}">
                <a16:creationId xmlns:a16="http://schemas.microsoft.com/office/drawing/2014/main" id="{A2123004-43FF-4900-8FBE-A1E44E72A8F9}"/>
              </a:ext>
            </a:extLst>
          </p:cNvPr>
          <p:cNvSpPr>
            <a:spLocks xmlns:a="http://schemas.openxmlformats.org/drawingml/2006/main" noGrp="1"/>
          </p:cNvSpPr>
          <p:nvPr/>
        </p:nvSpPr>
        <p:spPr>
          <a:xfrm xmlns:a="http://schemas.openxmlformats.org/drawingml/2006/main">
            <a:off x="7289597" y="2011680"/>
            <a:ext cx="2134210" cy="3429000"/>
          </a:xfrm>
          <a:prstGeom xmlns:a="http://schemas.openxmlformats.org/drawingml/2006/main" prst="roundRect">
            <a:avLst/>
          </a:prstGeom>
          <a:solidFill xmlns:a="http://schemas.openxmlformats.org/drawingml/2006/main">
            <a:srgbClr val="FFFCF7"/>
          </a:solidFill>
          <a:ln xmlns:a="http://schemas.openxmlformats.org/drawingml/2006/main" w="12700">
            <a:solidFill>
              <a:srgbClr val="E9DED0"/>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E20D9A60-C273-49AB-A0AC-C17ECF64179B}"/>
              </a:ext>
            </a:extLst>
          </p:cNvPr>
          <p:cNvSpPr>
            <a:spLocks xmlns:a="http://schemas.openxmlformats.org/drawingml/2006/main" noGrp="1"/>
          </p:cNvSpPr>
          <p:nvPr/>
        </p:nvSpPr>
        <p:spPr>
          <a:xfrm xmlns:a="http://schemas.openxmlformats.org/drawingml/2006/main">
            <a:off x="7426757" y="2176272"/>
            <a:ext cx="185989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E4A11B"/>
                </a:solidFill>
              </a:rPr>
              <a:t>1 in 4</a:t>
            </a:r>
            <a:endParaRPr sz="2500"/>
          </a:p>
        </p:txBody>
      </p:sp>
      <p:sp>
        <p:nvSpPr>
          <p:cNvPr id="25" name="Text 23">
            <a:extLst xmlns:a="http://schemas.openxmlformats.org/drawingml/2006/main">
              <a:ext uri="{FF2B5EF4-FFF2-40B4-BE49-F238E27FC236}">
                <a16:creationId xmlns:a16="http://schemas.microsoft.com/office/drawing/2014/main" id="{3985C8B0-7D42-48F6-B0EE-62A3D8FA9D3E}"/>
              </a:ext>
            </a:extLst>
          </p:cNvPr>
          <p:cNvSpPr>
            <a:spLocks xmlns:a="http://schemas.openxmlformats.org/drawingml/2006/main" noGrp="1"/>
          </p:cNvSpPr>
          <p:nvPr/>
        </p:nvSpPr>
        <p:spPr>
          <a:xfrm xmlns:a="http://schemas.openxmlformats.org/drawingml/2006/main">
            <a:off x="7426757" y="2862072"/>
            <a:ext cx="185989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Get 8 hours of sleep</a:t>
            </a:r>
            <a:endParaRPr sz="1400"/>
          </a:p>
        </p:txBody>
      </p:sp>
      <p:sp>
        <p:nvSpPr>
          <p:cNvPr id="26" name="Text 24">
            <a:extLst xmlns:a="http://schemas.openxmlformats.org/drawingml/2006/main">
              <a:ext uri="{FF2B5EF4-FFF2-40B4-BE49-F238E27FC236}">
                <a16:creationId xmlns:a16="http://schemas.microsoft.com/office/drawing/2014/main" id="{26D2C4C3-03EF-449A-A628-017C49F66985}"/>
              </a:ext>
            </a:extLst>
          </p:cNvPr>
          <p:cNvSpPr>
            <a:spLocks xmlns:a="http://schemas.openxmlformats.org/drawingml/2006/main" noGrp="1"/>
          </p:cNvSpPr>
          <p:nvPr/>
        </p:nvSpPr>
        <p:spPr>
          <a:xfrm xmlns:a="http://schemas.openxmlformats.org/drawingml/2006/main">
            <a:off x="7454189" y="3474720"/>
            <a:ext cx="1805026" cy="9144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U.S. high-school students getting 8+ hours on a school night.</a:t>
            </a:r>
            <a:endParaRPr sz="1200"/>
          </a:p>
          <a:p xmlns:a="http://schemas.openxmlformats.org/drawingml/2006/main">
            <a:pPr marL="0" indent="0" algn="ctr">
              <a:buNone/>
            </a:pPr>
            <a:r>
              <a:rPr sz="1350">
                <a:solidFill>
                  <a:srgbClr val="6F7782"/>
                </a:solidFill>
              </a:rPr>
              <a:t>CDC, 2023 data.</a:t>
            </a:r>
            <a:endParaRPr sz="1200"/>
          </a:p>
        </p:txBody>
      </p:sp>
      <p:sp>
        <p:nvSpPr>
          <p:cNvPr id="27" name="Shape 25">
            <a:extLst xmlns:a="http://schemas.openxmlformats.org/drawingml/2006/main">
              <a:ext uri="{FF2B5EF4-FFF2-40B4-BE49-F238E27FC236}">
                <a16:creationId xmlns:a16="http://schemas.microsoft.com/office/drawing/2014/main" id="{A31F70B3-144E-464C-94A0-A6202D0DB102}"/>
              </a:ext>
            </a:extLst>
          </p:cNvPr>
          <p:cNvSpPr>
            <a:spLocks xmlns:a="http://schemas.openxmlformats.org/drawingml/2006/main" noGrp="1"/>
          </p:cNvSpPr>
          <p:nvPr/>
        </p:nvSpPr>
        <p:spPr>
          <a:xfrm xmlns:a="http://schemas.openxmlformats.org/drawingml/2006/main">
            <a:off x="7490765" y="4553712"/>
            <a:ext cx="1731874" cy="0"/>
          </a:xfrm>
          <a:prstGeom xmlns:a="http://schemas.openxmlformats.org/drawingml/2006/main" prst="line">
            <a:avLst/>
          </a:prstGeom>
          <a:noFill xmlns:a="http://schemas.openxmlformats.org/drawingml/2006/main"/>
          <a:ln xmlns:a="http://schemas.openxmlformats.org/drawingml/2006/main" w="12700">
            <a:solidFill>
              <a:srgbClr val="DED4C8"/>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F38523CF-AC1D-4996-84D9-4A1D3E3D5351}"/>
              </a:ext>
            </a:extLst>
          </p:cNvPr>
          <p:cNvSpPr>
            <a:spLocks xmlns:a="http://schemas.openxmlformats.org/drawingml/2006/main" noGrp="1"/>
          </p:cNvSpPr>
          <p:nvPr/>
        </p:nvSpPr>
        <p:spPr>
          <a:xfrm xmlns:a="http://schemas.openxmlformats.org/drawingml/2006/main">
            <a:off x="7454189" y="4709160"/>
            <a:ext cx="1805026" cy="56692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indent="0" algn="ctr">
              <a:buNone/>
            </a:pPr>
            <a:r>
              <a:rPr sz="1275" b="1">
                <a:solidFill>
                  <a:srgbClr val="172033"/>
                </a:solidFill>
              </a:rPr>
              <a:t>Joolian question:</a:t>
            </a:r>
            <a:endParaRPr sz="1050"/>
          </a:p>
          <a:p xmlns:a="http://schemas.openxmlformats.org/drawingml/2006/main">
            <a:pPr marL="0" indent="0" algn="ctr">
              <a:buNone/>
            </a:pPr>
            <a:r>
              <a:rPr sz="1275" b="1">
                <a:solidFill>
                  <a:srgbClr val="172033"/>
                </a:solidFill>
              </a:rPr>
              <a:t>Which evening routine could the family try?</a:t>
            </a:r>
            <a:endParaRPr sz="1050"/>
          </a:p>
        </p:txBody>
      </p:sp>
      <p:sp>
        <p:nvSpPr>
          <p:cNvPr id="29" name="Shape 27">
            <a:extLst xmlns:a="http://schemas.openxmlformats.org/drawingml/2006/main">
              <a:ext uri="{FF2B5EF4-FFF2-40B4-BE49-F238E27FC236}">
                <a16:creationId xmlns:a16="http://schemas.microsoft.com/office/drawing/2014/main" id="{15AAB6D1-C229-441E-9E30-399116958360}"/>
              </a:ext>
            </a:extLst>
          </p:cNvPr>
          <p:cNvSpPr>
            <a:spLocks xmlns:a="http://schemas.openxmlformats.org/drawingml/2006/main" noGrp="1"/>
          </p:cNvSpPr>
          <p:nvPr/>
        </p:nvSpPr>
        <p:spPr>
          <a:xfrm xmlns:a="http://schemas.openxmlformats.org/drawingml/2006/main">
            <a:off x="9551822" y="2011680"/>
            <a:ext cx="2134210" cy="3429000"/>
          </a:xfrm>
          <a:prstGeom xmlns:a="http://schemas.openxmlformats.org/drawingml/2006/main" prst="roundRect">
            <a:avLst/>
          </a:prstGeom>
          <a:solidFill xmlns:a="http://schemas.openxmlformats.org/drawingml/2006/main">
            <a:srgbClr val="FFFCF7"/>
          </a:solidFill>
          <a:ln xmlns:a="http://schemas.openxmlformats.org/drawingml/2006/main" w="12700">
            <a:solidFill>
              <a:srgbClr val="E9DED0"/>
            </a:solidFill>
            <a:prstDash val="solid"/>
          </a:ln>
          <a:effectLst xmlns:a="http://schemas.openxmlformats.org/drawingml/2006/main">
            <a:outerShdw blurRad="15240" dist="6350" dir="2700000" algn="bl" rotWithShape="0">
              <a:srgbClr val="000000">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86DB796-558E-4E7D-901B-7B51107A01DE}"/>
              </a:ext>
            </a:extLst>
          </p:cNvPr>
          <p:cNvSpPr>
            <a:spLocks xmlns:a="http://schemas.openxmlformats.org/drawingml/2006/main" noGrp="1"/>
          </p:cNvSpPr>
          <p:nvPr/>
        </p:nvSpPr>
        <p:spPr>
          <a:xfrm xmlns:a="http://schemas.openxmlformats.org/drawingml/2006/main">
            <a:off x="9688982" y="2176272"/>
            <a:ext cx="185989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C14B48"/>
                </a:solidFill>
              </a:rPr>
              <a:t>48%</a:t>
            </a:r>
            <a:endParaRPr sz="2500"/>
          </a:p>
        </p:txBody>
      </p:sp>
      <p:sp>
        <p:nvSpPr>
          <p:cNvPr id="31" name="Text 29">
            <a:extLst xmlns:a="http://schemas.openxmlformats.org/drawingml/2006/main">
              <a:ext uri="{FF2B5EF4-FFF2-40B4-BE49-F238E27FC236}">
                <a16:creationId xmlns:a16="http://schemas.microsoft.com/office/drawing/2014/main" id="{F1B20B66-9009-49FF-BECE-07CEF832E95C}"/>
              </a:ext>
            </a:extLst>
          </p:cNvPr>
          <p:cNvSpPr>
            <a:spLocks xmlns:a="http://schemas.openxmlformats.org/drawingml/2006/main" noGrp="1"/>
          </p:cNvSpPr>
          <p:nvPr/>
        </p:nvSpPr>
        <p:spPr>
          <a:xfrm xmlns:a="http://schemas.openxmlformats.org/drawingml/2006/main">
            <a:off x="9688982" y="2862072"/>
            <a:ext cx="185989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Parents feel overwhelmed</a:t>
            </a:r>
            <a:endParaRPr sz="1400"/>
          </a:p>
        </p:txBody>
      </p:sp>
      <p:sp>
        <p:nvSpPr>
          <p:cNvPr id="32" name="Text 30">
            <a:extLst xmlns:a="http://schemas.openxmlformats.org/drawingml/2006/main">
              <a:ext uri="{FF2B5EF4-FFF2-40B4-BE49-F238E27FC236}">
                <a16:creationId xmlns:a16="http://schemas.microsoft.com/office/drawing/2014/main" id="{E43C0BD8-D0C4-4F7F-A5FB-04F0C753A433}"/>
              </a:ext>
            </a:extLst>
          </p:cNvPr>
          <p:cNvSpPr>
            <a:spLocks xmlns:a="http://schemas.openxmlformats.org/drawingml/2006/main" noGrp="1"/>
          </p:cNvSpPr>
          <p:nvPr/>
        </p:nvSpPr>
        <p:spPr>
          <a:xfrm xmlns:a="http://schemas.openxmlformats.org/drawingml/2006/main">
            <a:off x="9716414" y="3474720"/>
            <a:ext cx="1805026" cy="9144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Parents reporting overwhelming stress on most days.</a:t>
            </a:r>
            <a:endParaRPr sz="1200"/>
          </a:p>
          <a:p xmlns:a="http://schemas.openxmlformats.org/drawingml/2006/main">
            <a:pPr marL="0" indent="0" algn="ctr">
              <a:buNone/>
            </a:pPr>
            <a:r>
              <a:rPr sz="1350">
                <a:solidFill>
                  <a:srgbClr val="6F7782"/>
                </a:solidFill>
              </a:rPr>
              <a:t>HHS, 2023 data.</a:t>
            </a:r>
            <a:endParaRPr sz="1200"/>
          </a:p>
        </p:txBody>
      </p:sp>
      <p:sp>
        <p:nvSpPr>
          <p:cNvPr id="33" name="Shape 31">
            <a:extLst xmlns:a="http://schemas.openxmlformats.org/drawingml/2006/main">
              <a:ext uri="{FF2B5EF4-FFF2-40B4-BE49-F238E27FC236}">
                <a16:creationId xmlns:a16="http://schemas.microsoft.com/office/drawing/2014/main" id="{FD370CF3-0E28-4DC0-A15A-7B98F5D9CB05}"/>
              </a:ext>
            </a:extLst>
          </p:cNvPr>
          <p:cNvSpPr>
            <a:spLocks xmlns:a="http://schemas.openxmlformats.org/drawingml/2006/main" noGrp="1"/>
          </p:cNvSpPr>
          <p:nvPr/>
        </p:nvSpPr>
        <p:spPr>
          <a:xfrm xmlns:a="http://schemas.openxmlformats.org/drawingml/2006/main">
            <a:off x="9752990" y="4553712"/>
            <a:ext cx="1731874" cy="0"/>
          </a:xfrm>
          <a:prstGeom xmlns:a="http://schemas.openxmlformats.org/drawingml/2006/main" prst="line">
            <a:avLst/>
          </a:prstGeom>
          <a:noFill xmlns:a="http://schemas.openxmlformats.org/drawingml/2006/main"/>
          <a:ln xmlns:a="http://schemas.openxmlformats.org/drawingml/2006/main" w="12700">
            <a:solidFill>
              <a:srgbClr val="DED4C8"/>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B22C6E86-68A6-4E69-8E9B-D31D4C78B24B}"/>
              </a:ext>
            </a:extLst>
          </p:cNvPr>
          <p:cNvSpPr>
            <a:spLocks xmlns:a="http://schemas.openxmlformats.org/drawingml/2006/main" noGrp="1"/>
          </p:cNvSpPr>
          <p:nvPr/>
        </p:nvSpPr>
        <p:spPr>
          <a:xfrm xmlns:a="http://schemas.openxmlformats.org/drawingml/2006/main">
            <a:off x="9716414" y="4709160"/>
            <a:ext cx="1805026" cy="56692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indent="0" algn="ctr">
              <a:buNone/>
            </a:pPr>
            <a:r>
              <a:rPr sz="1275" b="1">
                <a:solidFill>
                  <a:srgbClr val="172033"/>
                </a:solidFill>
              </a:rPr>
              <a:t>Joolian question:</a:t>
            </a:r>
            <a:endParaRPr sz="1050"/>
          </a:p>
          <a:p xmlns:a="http://schemas.openxmlformats.org/drawingml/2006/main">
            <a:pPr marL="0" indent="0" algn="ctr">
              <a:buNone/>
            </a:pPr>
            <a:r>
              <a:rPr sz="1275" b="1">
                <a:solidFill>
                  <a:srgbClr val="172033"/>
                </a:solidFill>
              </a:rPr>
              <a:t>How can the next step take less effort?</a:t>
            </a:r>
            <a:endParaRPr sz="1050"/>
          </a:p>
        </p:txBody>
      </p:sp>
      <p:sp>
        <p:nvSpPr>
          <p:cNvPr id="35" name="Shape 33">
            <a:extLst xmlns:a="http://schemas.openxmlformats.org/drawingml/2006/main">
              <a:ext uri="{FF2B5EF4-FFF2-40B4-BE49-F238E27FC236}">
                <a16:creationId xmlns:a16="http://schemas.microsoft.com/office/drawing/2014/main" id="{0FCBCAE2-4377-4D1E-83BC-F93460B4BD12}"/>
              </a:ext>
            </a:extLst>
          </p:cNvPr>
          <p:cNvSpPr>
            <a:spLocks xmlns:a="http://schemas.openxmlformats.org/drawingml/2006/main" noGrp="1"/>
          </p:cNvSpPr>
          <p:nvPr/>
        </p:nvSpPr>
        <p:spPr>
          <a:xfrm xmlns:a="http://schemas.openxmlformats.org/drawingml/2006/main">
            <a:off x="1234440" y="5715000"/>
            <a:ext cx="9738360" cy="365760"/>
          </a:xfrm>
          <a:prstGeom xmlns:a="http://schemas.openxmlformats.org/drawingml/2006/main" prst="roundRect">
            <a:avLst>
              <a:gd name="adj" fmla="val 20000"/>
            </a:avLst>
          </a:prstGeom>
          <a:solidFill xmlns:a="http://schemas.openxmlformats.org/drawingml/2006/main">
            <a:srgbClr val="172033"/>
          </a:solidFill>
          <a:ln xmlns:a="http://schemas.openxmlformats.org/drawingml/2006/main" w="12700">
            <a:solidFill>
              <a:srgbClr val="172033"/>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6E5D6677-71C2-475D-B61D-046A1774C2EC}"/>
              </a:ext>
            </a:extLst>
          </p:cNvPr>
          <p:cNvSpPr>
            <a:spLocks xmlns:a="http://schemas.openxmlformats.org/drawingml/2006/main" noGrp="1"/>
          </p:cNvSpPr>
          <p:nvPr/>
        </p:nvSpPr>
        <p:spPr>
          <a:xfrm xmlns:a="http://schemas.openxmlformats.org/drawingml/2006/main">
            <a:off x="1307592" y="5762625"/>
            <a:ext cx="9592056"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a:solidFill>
                  <a:srgbClr val="FFFFFF"/>
                </a:solidFill>
              </a:rPr>
              <a:t>Product opportunity: help families act on a goal they choose.</a:t>
            </a:r>
            <a:endParaRPr sz="1600"/>
          </a:p>
        </p:txBody>
      </p:sp>
      <p:sp>
        <p:nvSpPr>
          <p:cNvPr id="37" name="Text 35">
            <a:extLst xmlns:a="http://schemas.openxmlformats.org/drawingml/2006/main">
              <a:ext uri="{FF2B5EF4-FFF2-40B4-BE49-F238E27FC236}">
                <a16:creationId xmlns:a16="http://schemas.microsoft.com/office/drawing/2014/main" id="{71751D98-440C-46B7-B779-4FAF4DF5FC59}"/>
              </a:ext>
            </a:extLst>
          </p:cNvPr>
          <p:cNvSpPr>
            <a:spLocks xmlns:a="http://schemas.openxmlformats.org/drawingml/2006/main" noGrp="1"/>
          </p:cNvSpPr>
          <p:nvPr/>
        </p:nvSpPr>
        <p:spPr>
          <a:xfrm xmlns:a="http://schemas.openxmlformats.org/drawingml/2006/main">
            <a:off x="594360" y="6263640"/>
            <a:ext cx="10972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900"/>
            </a:defPPr>
            <a:lvl1pPr>
              <a:defRPr sz="900"/>
            </a:lvl1pPr>
            <a:lvl2pPr>
              <a:defRPr sz="900"/>
            </a:lvl2pPr>
            <a:lvl3pPr>
              <a:defRPr sz="900"/>
            </a:lvl3pPr>
            <a:lvl4pPr>
              <a:defRPr sz="900"/>
            </a:lvl4pPr>
            <a:lvl5pPr>
              <a:defRPr sz="900"/>
            </a:lvl5pPr>
            <a:lvl6pPr>
              <a:defRPr sz="900"/>
            </a:lvl6pPr>
            <a:lvl7pPr>
              <a:defRPr sz="900"/>
            </a:lvl7pPr>
            <a:lvl8pPr>
              <a:defRPr sz="900"/>
            </a:lvl8pPr>
            <a:lvl9pPr>
              <a:defRPr sz="900"/>
            </a:lvl9pPr>
          </a:lstStyle>
          <a:p xmlns:a="http://schemas.openxmlformats.org/drawingml/2006/main">
            <a:pPr marL="0" indent="0" algn="ctr">
              <a:buNone/>
            </a:pPr>
            <a:r>
              <a:rPr sz="900">
                <a:solidFill>
                  <a:srgbClr val="7D7D7D"/>
                </a:solidFill>
              </a:rPr>
              <a:t>Sources: Common Sense Media 2026; Pew 2025; CDC 2023 survey; HHS 2024 advisory using 2023 data.</a:t>
            </a:r>
            <a:endParaRPr sz="750"/>
          </a:p>
        </p:txBody>
      </p:sp>
      <p:sp>
        <p:nvSpPr>
          <p:cNvPr id="38" name="Slide Number Placeholder 0">
            <a:extLst xmlns:a="http://schemas.openxmlformats.org/drawingml/2006/main">
              <a:ext uri="{FF2B5EF4-FFF2-40B4-BE49-F238E27FC236}">
                <a16:creationId xmlns:a16="http://schemas.microsoft.com/office/drawing/2014/main" id="{558737FD-F47E-46FD-9472-AEC2739C701B}"/>
              </a:ext>
            </a:extLst>
          </p:cNvPr>
          <p:cNvSpPr>
            <a:spLocks xmlns:a="http://schemas.openxmlformats.org/drawingml/2006/main" noGrp="1"/>
          </p:cNvSpPr>
          <p:nvPr>
            <p:ph type="sldNum" idx="4294967295"/>
          </p:nvPr>
        </p:nvSpPr>
        <p:spPr>
          <a:xfrm xmlns:a="http://schemas.openxmlformats.org/drawingml/2006/main">
            <a:off x="11887200" y="201168"/>
            <a:ext cx="1905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A0A0A0"/>
                </a:solidFill>
              </a:defRPr>
            </a:lvl1pPr>
          </a:lstStyle>
          <a:p xmlns:a="http://schemas.openxmlformats.org/drawingml/2006/main">
            <a:pPr algn="l">
              <a:buNone/>
            </a:pPr>
            <a:fld id="{202359C0-8A7A-196E-DD58-8E6569619F09}" type="slidenum">
              <a:rPr b="0"/>
              <a:t>3</a:t>
            </a:fld>
            <a:endParaRPr/>
          </a:p>
        </p:txBody>
      </p:sp>
    </p:spTree>
    <p:extLst>
      <p:ext uri="{BB962C8B-B14F-4D97-AF65-F5344CB8AC3E}">
        <p14:creationId xmlns:p14="http://schemas.microsoft.com/office/powerpoint/2010/main" val="5054767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6565AB4B-F01F-4ED6-81B3-B6FFA7772074}"/>
              </a:ext>
            </a:extLst>
          </p:cNvPr>
          <p:cNvSpPr>
            <a:spLocks xmlns:a="http://schemas.openxmlformats.org/drawingml/2006/main" noGrp="1"/>
          </p:cNvSpPr>
          <p:nvPr/>
        </p:nvSpPr>
        <p:spPr>
          <a:xfrm xmlns:a="http://schemas.openxmlformats.org/drawingml/2006/main">
            <a:off x="504825" y="5334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1">
                <a:solidFill>
                  <a:srgbClr val="2F73B9"/>
                </a:solidFill>
                <a:latin typeface="Aptos"/>
                <a:ea typeface="Aptos"/>
                <a:cs typeface="Aptos"/>
              </a:defRPr>
            </a:defPPr>
            <a:lvl1pPr>
              <a:defRPr sz="1050" b="1">
                <a:solidFill>
                  <a:srgbClr val="2F73B9"/>
                </a:solidFill>
                <a:latin typeface="Aptos"/>
                <a:ea typeface="Aptos"/>
                <a:cs typeface="Aptos"/>
              </a:defRPr>
            </a:lvl1pPr>
            <a:lvl2pPr>
              <a:defRPr sz="1050" b="1">
                <a:solidFill>
                  <a:srgbClr val="2F73B9"/>
                </a:solidFill>
                <a:latin typeface="Aptos"/>
                <a:ea typeface="Aptos"/>
                <a:cs typeface="Aptos"/>
              </a:defRPr>
            </a:lvl2pPr>
            <a:lvl3pPr>
              <a:defRPr sz="1050" b="1">
                <a:solidFill>
                  <a:srgbClr val="2F73B9"/>
                </a:solidFill>
                <a:latin typeface="Aptos"/>
                <a:ea typeface="Aptos"/>
                <a:cs typeface="Aptos"/>
              </a:defRPr>
            </a:lvl3pPr>
            <a:lvl4pPr>
              <a:defRPr sz="1050" b="1">
                <a:solidFill>
                  <a:srgbClr val="2F73B9"/>
                </a:solidFill>
                <a:latin typeface="Aptos"/>
                <a:ea typeface="Aptos"/>
                <a:cs typeface="Aptos"/>
              </a:defRPr>
            </a:lvl4pPr>
            <a:lvl5pPr>
              <a:defRPr sz="1050" b="1">
                <a:solidFill>
                  <a:srgbClr val="2F73B9"/>
                </a:solidFill>
                <a:latin typeface="Aptos"/>
                <a:ea typeface="Aptos"/>
                <a:cs typeface="Aptos"/>
              </a:defRPr>
            </a:lvl5pPr>
            <a:lvl6pPr>
              <a:defRPr sz="1050" b="1">
                <a:solidFill>
                  <a:srgbClr val="2F73B9"/>
                </a:solidFill>
                <a:latin typeface="Aptos"/>
                <a:ea typeface="Aptos"/>
                <a:cs typeface="Aptos"/>
              </a:defRPr>
            </a:lvl6pPr>
            <a:lvl7pPr>
              <a:defRPr sz="1050" b="1">
                <a:solidFill>
                  <a:srgbClr val="2F73B9"/>
                </a:solidFill>
                <a:latin typeface="Aptos"/>
                <a:ea typeface="Aptos"/>
                <a:cs typeface="Aptos"/>
              </a:defRPr>
            </a:lvl7pPr>
            <a:lvl8pPr>
              <a:defRPr sz="1050" b="1">
                <a:solidFill>
                  <a:srgbClr val="2F73B9"/>
                </a:solidFill>
                <a:latin typeface="Aptos"/>
                <a:ea typeface="Aptos"/>
                <a:cs typeface="Aptos"/>
              </a:defRPr>
            </a:lvl8pPr>
            <a:lvl9pPr>
              <a:defRPr sz="1050" b="1">
                <a:solidFill>
                  <a:srgbClr val="2F73B9"/>
                </a:solidFill>
                <a:latin typeface="Aptos"/>
                <a:ea typeface="Aptos"/>
                <a:cs typeface="Aptos"/>
              </a:defRPr>
            </a:lvl9pPr>
          </a:lstStyle>
          <a:p xmlns:a="http://schemas.openxmlformats.org/drawingml/2006/main">
            <a:pPr>
              <a:defRPr sz="1050" b="1">
                <a:solidFill>
                  <a:srgbClr val="2F73B9"/>
                </a:solidFill>
                <a:latin typeface="Aptos"/>
                <a:ea typeface="Aptos"/>
                <a:cs typeface="Aptos"/>
              </a:defRPr>
            </a:pPr>
            <a:r>
              <a:rPr sz="1050" b="1">
                <a:solidFill>
                  <a:srgbClr val="2F73B9"/>
                </a:solidFill>
                <a:latin typeface="Aptos"/>
                <a:ea typeface="Aptos"/>
                <a:cs typeface="Aptos"/>
              </a:rPr>
              <a:t>AI PRACTICE 2 OF 6</a:t>
            </a:r>
          </a:p>
        </p:txBody>
      </p:sp>
      <p:sp>
        <p:nvSpPr>
          <p:cNvPr id="2" name="title">
            <a:extLst xmlns:a="http://schemas.openxmlformats.org/drawingml/2006/main">
              <a:ext uri="{FF2B5EF4-FFF2-40B4-BE49-F238E27FC236}">
                <a16:creationId xmlns:a16="http://schemas.microsoft.com/office/drawing/2014/main" id="{72B4FB0F-FF8A-40DA-84C6-3768BE09E688}"/>
              </a:ext>
            </a:extLst>
          </p:cNvPr>
          <p:cNvSpPr>
            <a:spLocks xmlns:a="http://schemas.openxmlformats.org/drawingml/2006/main" noGrp="1"/>
          </p:cNvSpPr>
          <p:nvPr/>
        </p:nvSpPr>
        <p:spPr>
          <a:xfrm xmlns:a="http://schemas.openxmlformats.org/drawingml/2006/main">
            <a:off x="504825" y="885825"/>
            <a:ext cx="11182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2033"/>
                </a:solidFill>
                <a:latin typeface="Aptos"/>
                <a:ea typeface="Aptos"/>
                <a:cs typeface="Aptos"/>
              </a:defRPr>
            </a:defPPr>
            <a:lvl1pPr>
              <a:defRPr sz="2850" b="1">
                <a:solidFill>
                  <a:srgbClr val="172033"/>
                </a:solidFill>
                <a:latin typeface="Aptos"/>
                <a:ea typeface="Aptos"/>
                <a:cs typeface="Aptos"/>
              </a:defRPr>
            </a:lvl1pPr>
            <a:lvl2pPr>
              <a:defRPr sz="2850" b="1">
                <a:solidFill>
                  <a:srgbClr val="172033"/>
                </a:solidFill>
                <a:latin typeface="Aptos"/>
                <a:ea typeface="Aptos"/>
                <a:cs typeface="Aptos"/>
              </a:defRPr>
            </a:lvl2pPr>
            <a:lvl3pPr>
              <a:defRPr sz="2850" b="1">
                <a:solidFill>
                  <a:srgbClr val="172033"/>
                </a:solidFill>
                <a:latin typeface="Aptos"/>
                <a:ea typeface="Aptos"/>
                <a:cs typeface="Aptos"/>
              </a:defRPr>
            </a:lvl3pPr>
            <a:lvl4pPr>
              <a:defRPr sz="2850" b="1">
                <a:solidFill>
                  <a:srgbClr val="172033"/>
                </a:solidFill>
                <a:latin typeface="Aptos"/>
                <a:ea typeface="Aptos"/>
                <a:cs typeface="Aptos"/>
              </a:defRPr>
            </a:lvl4pPr>
            <a:lvl5pPr>
              <a:defRPr sz="2850" b="1">
                <a:solidFill>
                  <a:srgbClr val="172033"/>
                </a:solidFill>
                <a:latin typeface="Aptos"/>
                <a:ea typeface="Aptos"/>
                <a:cs typeface="Aptos"/>
              </a:defRPr>
            </a:lvl5pPr>
            <a:lvl6pPr>
              <a:defRPr sz="2850" b="1">
                <a:solidFill>
                  <a:srgbClr val="172033"/>
                </a:solidFill>
                <a:latin typeface="Aptos"/>
                <a:ea typeface="Aptos"/>
                <a:cs typeface="Aptos"/>
              </a:defRPr>
            </a:lvl6pPr>
            <a:lvl7pPr>
              <a:defRPr sz="2850" b="1">
                <a:solidFill>
                  <a:srgbClr val="172033"/>
                </a:solidFill>
                <a:latin typeface="Aptos"/>
                <a:ea typeface="Aptos"/>
                <a:cs typeface="Aptos"/>
              </a:defRPr>
            </a:lvl7pPr>
            <a:lvl8pPr>
              <a:defRPr sz="2850" b="1">
                <a:solidFill>
                  <a:srgbClr val="172033"/>
                </a:solidFill>
                <a:latin typeface="Aptos"/>
                <a:ea typeface="Aptos"/>
                <a:cs typeface="Aptos"/>
              </a:defRPr>
            </a:lvl8pPr>
            <a:lvl9pPr>
              <a:defRPr sz="2850" b="1">
                <a:solidFill>
                  <a:srgbClr val="172033"/>
                </a:solidFill>
                <a:latin typeface="Aptos"/>
                <a:ea typeface="Aptos"/>
                <a:cs typeface="Aptos"/>
              </a:defRPr>
            </a:lvl9pPr>
          </a:lstStyle>
          <a:p xmlns:a="http://schemas.openxmlformats.org/drawingml/2006/main">
            <a:pPr>
              <a:defRPr sz="2850" b="1">
                <a:solidFill>
                  <a:srgbClr val="172033"/>
                </a:solidFill>
                <a:latin typeface="Aptos"/>
                <a:ea typeface="Aptos"/>
                <a:cs typeface="Aptos"/>
              </a:defRPr>
            </a:pPr>
            <a:r>
              <a:rPr sz="2850" b="1">
                <a:solidFill>
                  <a:srgbClr val="172033"/>
                </a:solidFill>
                <a:latin typeface="Aptos"/>
                <a:ea typeface="Aptos"/>
                <a:cs typeface="Aptos"/>
              </a:rPr>
              <a:t>AI-assisted research, with receipts</a:t>
            </a:r>
          </a:p>
        </p:txBody>
      </p:sp>
      <p:sp>
        <p:nvSpPr>
          <p:cNvPr id="3" name="subtitle">
            <a:extLst xmlns:a="http://schemas.openxmlformats.org/drawingml/2006/main">
              <a:ext uri="{FF2B5EF4-FFF2-40B4-BE49-F238E27FC236}">
                <a16:creationId xmlns:a16="http://schemas.microsoft.com/office/drawing/2014/main" id="{93A169E0-43EF-4AC6-805D-E25547CD0316}"/>
              </a:ext>
            </a:extLst>
          </p:cNvPr>
          <p:cNvSpPr>
            <a:spLocks xmlns:a="http://schemas.openxmlformats.org/drawingml/2006/main" noGrp="1"/>
          </p:cNvSpPr>
          <p:nvPr/>
        </p:nvSpPr>
        <p:spPr>
          <a:xfrm xmlns:a="http://schemas.openxmlformats.org/drawingml/2006/main">
            <a:off x="504825" y="1457325"/>
            <a:ext cx="11182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F7782"/>
                </a:solidFill>
                <a:latin typeface="Aptos"/>
                <a:ea typeface="Aptos"/>
                <a:cs typeface="Aptos"/>
              </a:defRPr>
            </a:defPPr>
            <a:lvl1pPr>
              <a:defRPr sz="1650" b="0">
                <a:solidFill>
                  <a:srgbClr val="6F7782"/>
                </a:solidFill>
                <a:latin typeface="Aptos"/>
                <a:ea typeface="Aptos"/>
                <a:cs typeface="Aptos"/>
              </a:defRPr>
            </a:lvl1pPr>
            <a:lvl2pPr>
              <a:defRPr sz="1650" b="0">
                <a:solidFill>
                  <a:srgbClr val="6F7782"/>
                </a:solidFill>
                <a:latin typeface="Aptos"/>
                <a:ea typeface="Aptos"/>
                <a:cs typeface="Aptos"/>
              </a:defRPr>
            </a:lvl2pPr>
            <a:lvl3pPr>
              <a:defRPr sz="1650" b="0">
                <a:solidFill>
                  <a:srgbClr val="6F7782"/>
                </a:solidFill>
                <a:latin typeface="Aptos"/>
                <a:ea typeface="Aptos"/>
                <a:cs typeface="Aptos"/>
              </a:defRPr>
            </a:lvl3pPr>
            <a:lvl4pPr>
              <a:defRPr sz="1650" b="0">
                <a:solidFill>
                  <a:srgbClr val="6F7782"/>
                </a:solidFill>
                <a:latin typeface="Aptos"/>
                <a:ea typeface="Aptos"/>
                <a:cs typeface="Aptos"/>
              </a:defRPr>
            </a:lvl4pPr>
            <a:lvl5pPr>
              <a:defRPr sz="1650" b="0">
                <a:solidFill>
                  <a:srgbClr val="6F7782"/>
                </a:solidFill>
                <a:latin typeface="Aptos"/>
                <a:ea typeface="Aptos"/>
                <a:cs typeface="Aptos"/>
              </a:defRPr>
            </a:lvl5pPr>
            <a:lvl6pPr>
              <a:defRPr sz="1650" b="0">
                <a:solidFill>
                  <a:srgbClr val="6F7782"/>
                </a:solidFill>
                <a:latin typeface="Aptos"/>
                <a:ea typeface="Aptos"/>
                <a:cs typeface="Aptos"/>
              </a:defRPr>
            </a:lvl6pPr>
            <a:lvl7pPr>
              <a:defRPr sz="1650" b="0">
                <a:solidFill>
                  <a:srgbClr val="6F7782"/>
                </a:solidFill>
                <a:latin typeface="Aptos"/>
                <a:ea typeface="Aptos"/>
                <a:cs typeface="Aptos"/>
              </a:defRPr>
            </a:lvl7pPr>
            <a:lvl8pPr>
              <a:defRPr sz="1650" b="0">
                <a:solidFill>
                  <a:srgbClr val="6F7782"/>
                </a:solidFill>
                <a:latin typeface="Aptos"/>
                <a:ea typeface="Aptos"/>
                <a:cs typeface="Aptos"/>
              </a:defRPr>
            </a:lvl8pPr>
            <a:lvl9pPr>
              <a:defRPr sz="1650" b="0">
                <a:solidFill>
                  <a:srgbClr val="6F7782"/>
                </a:solidFill>
                <a:latin typeface="Aptos"/>
                <a:ea typeface="Aptos"/>
                <a:cs typeface="Aptos"/>
              </a:defRPr>
            </a:lvl9pPr>
          </a:lstStyle>
          <a:p xmlns:a="http://schemas.openxmlformats.org/drawingml/2006/main">
            <a:pPr>
              <a:defRPr sz="1650" b="0">
                <a:solidFill>
                  <a:srgbClr val="6F7782"/>
                </a:solidFill>
                <a:latin typeface="Aptos"/>
                <a:ea typeface="Aptos"/>
                <a:cs typeface="Aptos"/>
              </a:defRPr>
            </a:pPr>
            <a:r>
              <a:rPr sz="1650" b="0">
                <a:solidFill>
                  <a:srgbClr val="6F7782"/>
                </a:solidFill>
                <a:latin typeface="Aptos"/>
                <a:ea typeface="Aptos"/>
                <a:cs typeface="Aptos"/>
              </a:rPr>
              <a:t>A source-based workflow for evidence, interviews, and a useful family knowledge base.</a:t>
            </a:r>
          </a:p>
        </p:txBody>
      </p:sp>
      <p:sp>
        <p:nvSpPr>
          <p:cNvPr id="4" name="research-0-head">
            <a:extLst xmlns:a="http://schemas.openxmlformats.org/drawingml/2006/main">
              <a:ext uri="{FF2B5EF4-FFF2-40B4-BE49-F238E27FC236}">
                <a16:creationId xmlns:a16="http://schemas.microsoft.com/office/drawing/2014/main" id="{924A8F11-11FC-4235-8214-2C3DEBF1D945}"/>
              </a:ext>
            </a:extLst>
          </p:cNvPr>
          <p:cNvSpPr>
            <a:spLocks xmlns:a="http://schemas.openxmlformats.org/drawingml/2006/main" noGrp="1"/>
          </p:cNvSpPr>
          <p:nvPr/>
        </p:nvSpPr>
        <p:spPr>
          <a:xfrm xmlns:a="http://schemas.openxmlformats.org/drawingml/2006/main">
            <a:off x="504825" y="2152650"/>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F73B9"/>
                </a:solidFill>
                <a:latin typeface="Aptos"/>
                <a:ea typeface="Aptos"/>
                <a:cs typeface="Aptos"/>
              </a:defRPr>
            </a:defPPr>
            <a:lvl1pPr>
              <a:defRPr sz="2250" b="1">
                <a:solidFill>
                  <a:srgbClr val="2F73B9"/>
                </a:solidFill>
                <a:latin typeface="Aptos"/>
                <a:ea typeface="Aptos"/>
                <a:cs typeface="Aptos"/>
              </a:defRPr>
            </a:lvl1pPr>
            <a:lvl2pPr>
              <a:defRPr sz="2250" b="1">
                <a:solidFill>
                  <a:srgbClr val="2F73B9"/>
                </a:solidFill>
                <a:latin typeface="Aptos"/>
                <a:ea typeface="Aptos"/>
                <a:cs typeface="Aptos"/>
              </a:defRPr>
            </a:lvl2pPr>
            <a:lvl3pPr>
              <a:defRPr sz="2250" b="1">
                <a:solidFill>
                  <a:srgbClr val="2F73B9"/>
                </a:solidFill>
                <a:latin typeface="Aptos"/>
                <a:ea typeface="Aptos"/>
                <a:cs typeface="Aptos"/>
              </a:defRPr>
            </a:lvl3pPr>
            <a:lvl4pPr>
              <a:defRPr sz="2250" b="1">
                <a:solidFill>
                  <a:srgbClr val="2F73B9"/>
                </a:solidFill>
                <a:latin typeface="Aptos"/>
                <a:ea typeface="Aptos"/>
                <a:cs typeface="Aptos"/>
              </a:defRPr>
            </a:lvl4pPr>
            <a:lvl5pPr>
              <a:defRPr sz="2250" b="1">
                <a:solidFill>
                  <a:srgbClr val="2F73B9"/>
                </a:solidFill>
                <a:latin typeface="Aptos"/>
                <a:ea typeface="Aptos"/>
                <a:cs typeface="Aptos"/>
              </a:defRPr>
            </a:lvl5pPr>
            <a:lvl6pPr>
              <a:defRPr sz="2250" b="1">
                <a:solidFill>
                  <a:srgbClr val="2F73B9"/>
                </a:solidFill>
                <a:latin typeface="Aptos"/>
                <a:ea typeface="Aptos"/>
                <a:cs typeface="Aptos"/>
              </a:defRPr>
            </a:lvl6pPr>
            <a:lvl7pPr>
              <a:defRPr sz="2250" b="1">
                <a:solidFill>
                  <a:srgbClr val="2F73B9"/>
                </a:solidFill>
                <a:latin typeface="Aptos"/>
                <a:ea typeface="Aptos"/>
                <a:cs typeface="Aptos"/>
              </a:defRPr>
            </a:lvl7pPr>
            <a:lvl8pPr>
              <a:defRPr sz="2250" b="1">
                <a:solidFill>
                  <a:srgbClr val="2F73B9"/>
                </a:solidFill>
                <a:latin typeface="Aptos"/>
                <a:ea typeface="Aptos"/>
                <a:cs typeface="Aptos"/>
              </a:defRPr>
            </a:lvl8pPr>
            <a:lvl9pPr>
              <a:defRPr sz="2250" b="1">
                <a:solidFill>
                  <a:srgbClr val="2F73B9"/>
                </a:solidFill>
                <a:latin typeface="Aptos"/>
                <a:ea typeface="Aptos"/>
                <a:cs typeface="Aptos"/>
              </a:defRPr>
            </a:lvl9pPr>
          </a:lstStyle>
          <a:p xmlns:a="http://schemas.openxmlformats.org/drawingml/2006/main">
            <a:pPr>
              <a:defRPr sz="2250" b="1">
                <a:solidFill>
                  <a:srgbClr val="2F73B9"/>
                </a:solidFill>
                <a:latin typeface="Aptos"/>
                <a:ea typeface="Aptos"/>
                <a:cs typeface="Aptos"/>
              </a:defRPr>
            </a:pPr>
            <a:r>
              <a:rPr sz="2250" b="1">
                <a:solidFill>
                  <a:srgbClr val="2F73B9"/>
                </a:solidFill>
                <a:latin typeface="Aptos"/>
                <a:ea typeface="Aptos"/>
                <a:cs typeface="Aptos"/>
              </a:rPr>
              <a:t>1  Gather</a:t>
            </a:r>
          </a:p>
        </p:txBody>
      </p:sp>
      <p:sp>
        <p:nvSpPr>
          <p:cNvPr id="5" name="research-0-tool">
            <a:extLst xmlns:a="http://schemas.openxmlformats.org/drawingml/2006/main">
              <a:ext uri="{FF2B5EF4-FFF2-40B4-BE49-F238E27FC236}">
                <a16:creationId xmlns:a16="http://schemas.microsoft.com/office/drawing/2014/main" id="{100182FA-001D-48E7-9C22-2E4A6D330D1F}"/>
              </a:ext>
            </a:extLst>
          </p:cNvPr>
          <p:cNvSpPr>
            <a:spLocks xmlns:a="http://schemas.openxmlformats.org/drawingml/2006/main" noGrp="1"/>
          </p:cNvSpPr>
          <p:nvPr/>
        </p:nvSpPr>
        <p:spPr>
          <a:xfrm xmlns:a="http://schemas.openxmlformats.org/drawingml/2006/main">
            <a:off x="504825" y="27146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72033"/>
                </a:solidFill>
                <a:latin typeface="Aptos"/>
                <a:ea typeface="Aptos"/>
                <a:cs typeface="Aptos"/>
              </a:defRPr>
            </a:defPPr>
            <a:lvl1pPr>
              <a:defRPr sz="1725" b="1">
                <a:solidFill>
                  <a:srgbClr val="172033"/>
                </a:solidFill>
                <a:latin typeface="Aptos"/>
                <a:ea typeface="Aptos"/>
                <a:cs typeface="Aptos"/>
              </a:defRPr>
            </a:lvl1pPr>
            <a:lvl2pPr>
              <a:defRPr sz="1725" b="1">
                <a:solidFill>
                  <a:srgbClr val="172033"/>
                </a:solidFill>
                <a:latin typeface="Aptos"/>
                <a:ea typeface="Aptos"/>
                <a:cs typeface="Aptos"/>
              </a:defRPr>
            </a:lvl2pPr>
            <a:lvl3pPr>
              <a:defRPr sz="1725" b="1">
                <a:solidFill>
                  <a:srgbClr val="172033"/>
                </a:solidFill>
                <a:latin typeface="Aptos"/>
                <a:ea typeface="Aptos"/>
                <a:cs typeface="Aptos"/>
              </a:defRPr>
            </a:lvl3pPr>
            <a:lvl4pPr>
              <a:defRPr sz="1725" b="1">
                <a:solidFill>
                  <a:srgbClr val="172033"/>
                </a:solidFill>
                <a:latin typeface="Aptos"/>
                <a:ea typeface="Aptos"/>
                <a:cs typeface="Aptos"/>
              </a:defRPr>
            </a:lvl4pPr>
            <a:lvl5pPr>
              <a:defRPr sz="1725" b="1">
                <a:solidFill>
                  <a:srgbClr val="172033"/>
                </a:solidFill>
                <a:latin typeface="Aptos"/>
                <a:ea typeface="Aptos"/>
                <a:cs typeface="Aptos"/>
              </a:defRPr>
            </a:lvl5pPr>
            <a:lvl6pPr>
              <a:defRPr sz="1725" b="1">
                <a:solidFill>
                  <a:srgbClr val="172033"/>
                </a:solidFill>
                <a:latin typeface="Aptos"/>
                <a:ea typeface="Aptos"/>
                <a:cs typeface="Aptos"/>
              </a:defRPr>
            </a:lvl6pPr>
            <a:lvl7pPr>
              <a:defRPr sz="1725" b="1">
                <a:solidFill>
                  <a:srgbClr val="172033"/>
                </a:solidFill>
                <a:latin typeface="Aptos"/>
                <a:ea typeface="Aptos"/>
                <a:cs typeface="Aptos"/>
              </a:defRPr>
            </a:lvl7pPr>
            <a:lvl8pPr>
              <a:defRPr sz="1725" b="1">
                <a:solidFill>
                  <a:srgbClr val="172033"/>
                </a:solidFill>
                <a:latin typeface="Aptos"/>
                <a:ea typeface="Aptos"/>
                <a:cs typeface="Aptos"/>
              </a:defRPr>
            </a:lvl8pPr>
            <a:lvl9pPr>
              <a:defRPr sz="1725" b="1">
                <a:solidFill>
                  <a:srgbClr val="172033"/>
                </a:solidFill>
                <a:latin typeface="Aptos"/>
                <a:ea typeface="Aptos"/>
                <a:cs typeface="Aptos"/>
              </a:defRPr>
            </a:lvl9pPr>
          </a:lstStyle>
          <a:p xmlns:a="http://schemas.openxmlformats.org/drawingml/2006/main">
            <a:pPr>
              <a:defRPr sz="1725" b="1">
                <a:solidFill>
                  <a:srgbClr val="172033"/>
                </a:solidFill>
                <a:latin typeface="Aptos"/>
                <a:ea typeface="Aptos"/>
                <a:cs typeface="Aptos"/>
              </a:defRPr>
            </a:pPr>
            <a:r>
              <a:rPr sz="1725" b="1">
                <a:solidFill>
                  <a:srgbClr val="172033"/>
                </a:solidFill>
                <a:latin typeface="Aptos"/>
                <a:ea typeface="Aptos"/>
                <a:cs typeface="Aptos"/>
              </a:rPr>
              <a:t>Gemini Notebook</a:t>
            </a:r>
          </a:p>
        </p:txBody>
      </p:sp>
      <p:sp>
        <p:nvSpPr>
          <p:cNvPr id="6" name="research-0-body">
            <a:extLst xmlns:a="http://schemas.openxmlformats.org/drawingml/2006/main">
              <a:ext uri="{FF2B5EF4-FFF2-40B4-BE49-F238E27FC236}">
                <a16:creationId xmlns:a16="http://schemas.microsoft.com/office/drawing/2014/main" id="{4E2A7ECA-E075-46EE-AD82-08401423CB59}"/>
              </a:ext>
            </a:extLst>
          </p:cNvPr>
          <p:cNvSpPr>
            <a:spLocks xmlns:a="http://schemas.openxmlformats.org/drawingml/2006/main" noGrp="1"/>
          </p:cNvSpPr>
          <p:nvPr/>
        </p:nvSpPr>
        <p:spPr>
          <a:xfrm xmlns:a="http://schemas.openxmlformats.org/drawingml/2006/main">
            <a:off x="504825" y="33051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F7782"/>
                </a:solidFill>
                <a:latin typeface="Aptos"/>
                <a:ea typeface="Aptos"/>
                <a:cs typeface="Aptos"/>
              </a:defRPr>
            </a:defPPr>
            <a:lvl1pPr>
              <a:defRPr sz="1800" b="0">
                <a:solidFill>
                  <a:srgbClr val="6F7782"/>
                </a:solidFill>
                <a:latin typeface="Aptos"/>
                <a:ea typeface="Aptos"/>
                <a:cs typeface="Aptos"/>
              </a:defRPr>
            </a:lvl1pPr>
            <a:lvl2pPr>
              <a:defRPr sz="1800" b="0">
                <a:solidFill>
                  <a:srgbClr val="6F7782"/>
                </a:solidFill>
                <a:latin typeface="Aptos"/>
                <a:ea typeface="Aptos"/>
                <a:cs typeface="Aptos"/>
              </a:defRPr>
            </a:lvl2pPr>
            <a:lvl3pPr>
              <a:defRPr sz="1800" b="0">
                <a:solidFill>
                  <a:srgbClr val="6F7782"/>
                </a:solidFill>
                <a:latin typeface="Aptos"/>
                <a:ea typeface="Aptos"/>
                <a:cs typeface="Aptos"/>
              </a:defRPr>
            </a:lvl3pPr>
            <a:lvl4pPr>
              <a:defRPr sz="1800" b="0">
                <a:solidFill>
                  <a:srgbClr val="6F7782"/>
                </a:solidFill>
                <a:latin typeface="Aptos"/>
                <a:ea typeface="Aptos"/>
                <a:cs typeface="Aptos"/>
              </a:defRPr>
            </a:lvl4pPr>
            <a:lvl5pPr>
              <a:defRPr sz="1800" b="0">
                <a:solidFill>
                  <a:srgbClr val="6F7782"/>
                </a:solidFill>
                <a:latin typeface="Aptos"/>
                <a:ea typeface="Aptos"/>
                <a:cs typeface="Aptos"/>
              </a:defRPr>
            </a:lvl5pPr>
            <a:lvl6pPr>
              <a:defRPr sz="1800" b="0">
                <a:solidFill>
                  <a:srgbClr val="6F7782"/>
                </a:solidFill>
                <a:latin typeface="Aptos"/>
                <a:ea typeface="Aptos"/>
                <a:cs typeface="Aptos"/>
              </a:defRPr>
            </a:lvl6pPr>
            <a:lvl7pPr>
              <a:defRPr sz="1800" b="0">
                <a:solidFill>
                  <a:srgbClr val="6F7782"/>
                </a:solidFill>
                <a:latin typeface="Aptos"/>
                <a:ea typeface="Aptos"/>
                <a:cs typeface="Aptos"/>
              </a:defRPr>
            </a:lvl7pPr>
            <a:lvl8pPr>
              <a:defRPr sz="1800" b="0">
                <a:solidFill>
                  <a:srgbClr val="6F7782"/>
                </a:solidFill>
                <a:latin typeface="Aptos"/>
                <a:ea typeface="Aptos"/>
                <a:cs typeface="Aptos"/>
              </a:defRPr>
            </a:lvl8pPr>
            <a:lvl9pPr>
              <a:defRPr sz="1800" b="0">
                <a:solidFill>
                  <a:srgbClr val="6F7782"/>
                </a:solidFill>
                <a:latin typeface="Aptos"/>
                <a:ea typeface="Aptos"/>
                <a:cs typeface="Aptos"/>
              </a:defRPr>
            </a:lvl9pPr>
          </a:lstStyle>
          <a:p xmlns:a="http://schemas.openxmlformats.org/drawingml/2006/main">
            <a:pPr>
              <a:defRPr sz="1800" b="0">
                <a:solidFill>
                  <a:srgbClr val="6F7782"/>
                </a:solidFill>
                <a:latin typeface="Aptos"/>
                <a:ea typeface="Aptos"/>
                <a:cs typeface="Aptos"/>
              </a:defRPr>
            </a:pPr>
            <a:r>
              <a:rPr sz="1800" b="0">
                <a:solidFill>
                  <a:srgbClr val="6F7782"/>
                </a:solidFill>
                <a:latin typeface="Aptos"/>
                <a:ea typeface="Aptos"/>
                <a:cs typeface="Aptos"/>
              </a:rPr>
              <a:t>Load selected reports and anonymized interviews. Keep the date and population for every source.</a:t>
            </a:r>
          </a:p>
        </p:txBody>
      </p:sp>
      <p:sp>
        <p:nvSpPr>
          <p:cNvPr id="7" name="research-1-head">
            <a:extLst xmlns:a="http://schemas.openxmlformats.org/drawingml/2006/main">
              <a:ext uri="{FF2B5EF4-FFF2-40B4-BE49-F238E27FC236}">
                <a16:creationId xmlns:a16="http://schemas.microsoft.com/office/drawing/2014/main" id="{6F1037A4-016C-4DB9-89ED-67AFEE6BB7D2}"/>
              </a:ext>
            </a:extLst>
          </p:cNvPr>
          <p:cNvSpPr>
            <a:spLocks xmlns:a="http://schemas.openxmlformats.org/drawingml/2006/main" noGrp="1"/>
          </p:cNvSpPr>
          <p:nvPr/>
        </p:nvSpPr>
        <p:spPr>
          <a:xfrm xmlns:a="http://schemas.openxmlformats.org/drawingml/2006/main">
            <a:off x="4333875" y="2152650"/>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F73B9"/>
                </a:solidFill>
                <a:latin typeface="Aptos"/>
                <a:ea typeface="Aptos"/>
                <a:cs typeface="Aptos"/>
              </a:defRPr>
            </a:defPPr>
            <a:lvl1pPr>
              <a:defRPr sz="2250" b="1">
                <a:solidFill>
                  <a:srgbClr val="2F73B9"/>
                </a:solidFill>
                <a:latin typeface="Aptos"/>
                <a:ea typeface="Aptos"/>
                <a:cs typeface="Aptos"/>
              </a:defRPr>
            </a:lvl1pPr>
            <a:lvl2pPr>
              <a:defRPr sz="2250" b="1">
                <a:solidFill>
                  <a:srgbClr val="2F73B9"/>
                </a:solidFill>
                <a:latin typeface="Aptos"/>
                <a:ea typeface="Aptos"/>
                <a:cs typeface="Aptos"/>
              </a:defRPr>
            </a:lvl2pPr>
            <a:lvl3pPr>
              <a:defRPr sz="2250" b="1">
                <a:solidFill>
                  <a:srgbClr val="2F73B9"/>
                </a:solidFill>
                <a:latin typeface="Aptos"/>
                <a:ea typeface="Aptos"/>
                <a:cs typeface="Aptos"/>
              </a:defRPr>
            </a:lvl3pPr>
            <a:lvl4pPr>
              <a:defRPr sz="2250" b="1">
                <a:solidFill>
                  <a:srgbClr val="2F73B9"/>
                </a:solidFill>
                <a:latin typeface="Aptos"/>
                <a:ea typeface="Aptos"/>
                <a:cs typeface="Aptos"/>
              </a:defRPr>
            </a:lvl4pPr>
            <a:lvl5pPr>
              <a:defRPr sz="2250" b="1">
                <a:solidFill>
                  <a:srgbClr val="2F73B9"/>
                </a:solidFill>
                <a:latin typeface="Aptos"/>
                <a:ea typeface="Aptos"/>
                <a:cs typeface="Aptos"/>
              </a:defRPr>
            </a:lvl5pPr>
            <a:lvl6pPr>
              <a:defRPr sz="2250" b="1">
                <a:solidFill>
                  <a:srgbClr val="2F73B9"/>
                </a:solidFill>
                <a:latin typeface="Aptos"/>
                <a:ea typeface="Aptos"/>
                <a:cs typeface="Aptos"/>
              </a:defRPr>
            </a:lvl6pPr>
            <a:lvl7pPr>
              <a:defRPr sz="2250" b="1">
                <a:solidFill>
                  <a:srgbClr val="2F73B9"/>
                </a:solidFill>
                <a:latin typeface="Aptos"/>
                <a:ea typeface="Aptos"/>
                <a:cs typeface="Aptos"/>
              </a:defRPr>
            </a:lvl7pPr>
            <a:lvl8pPr>
              <a:defRPr sz="2250" b="1">
                <a:solidFill>
                  <a:srgbClr val="2F73B9"/>
                </a:solidFill>
                <a:latin typeface="Aptos"/>
                <a:ea typeface="Aptos"/>
                <a:cs typeface="Aptos"/>
              </a:defRPr>
            </a:lvl8pPr>
            <a:lvl9pPr>
              <a:defRPr sz="2250" b="1">
                <a:solidFill>
                  <a:srgbClr val="2F73B9"/>
                </a:solidFill>
                <a:latin typeface="Aptos"/>
                <a:ea typeface="Aptos"/>
                <a:cs typeface="Aptos"/>
              </a:defRPr>
            </a:lvl9pPr>
          </a:lstStyle>
          <a:p xmlns:a="http://schemas.openxmlformats.org/drawingml/2006/main">
            <a:pPr>
              <a:defRPr sz="2250" b="1">
                <a:solidFill>
                  <a:srgbClr val="2F73B9"/>
                </a:solidFill>
                <a:latin typeface="Aptos"/>
                <a:ea typeface="Aptos"/>
                <a:cs typeface="Aptos"/>
              </a:defRPr>
            </a:pPr>
            <a:r>
              <a:rPr sz="2250" b="1">
                <a:solidFill>
                  <a:srgbClr val="2F73B9"/>
                </a:solidFill>
                <a:latin typeface="Aptos"/>
                <a:ea typeface="Aptos"/>
                <a:cs typeface="Aptos"/>
              </a:rPr>
              <a:t>2  Extract</a:t>
            </a:r>
          </a:p>
        </p:txBody>
      </p:sp>
      <p:sp>
        <p:nvSpPr>
          <p:cNvPr id="8" name="research-1-tool">
            <a:extLst xmlns:a="http://schemas.openxmlformats.org/drawingml/2006/main">
              <a:ext uri="{FF2B5EF4-FFF2-40B4-BE49-F238E27FC236}">
                <a16:creationId xmlns:a16="http://schemas.microsoft.com/office/drawing/2014/main" id="{90B86447-AB6C-455E-A443-3D323A0FDAD6}"/>
              </a:ext>
            </a:extLst>
          </p:cNvPr>
          <p:cNvSpPr>
            <a:spLocks xmlns:a="http://schemas.openxmlformats.org/drawingml/2006/main" noGrp="1"/>
          </p:cNvSpPr>
          <p:nvPr/>
        </p:nvSpPr>
        <p:spPr>
          <a:xfrm xmlns:a="http://schemas.openxmlformats.org/drawingml/2006/main">
            <a:off x="4333875" y="27146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72033"/>
                </a:solidFill>
                <a:latin typeface="Aptos"/>
                <a:ea typeface="Aptos"/>
                <a:cs typeface="Aptos"/>
              </a:defRPr>
            </a:defPPr>
            <a:lvl1pPr>
              <a:defRPr sz="1725" b="1">
                <a:solidFill>
                  <a:srgbClr val="172033"/>
                </a:solidFill>
                <a:latin typeface="Aptos"/>
                <a:ea typeface="Aptos"/>
                <a:cs typeface="Aptos"/>
              </a:defRPr>
            </a:lvl1pPr>
            <a:lvl2pPr>
              <a:defRPr sz="1725" b="1">
                <a:solidFill>
                  <a:srgbClr val="172033"/>
                </a:solidFill>
                <a:latin typeface="Aptos"/>
                <a:ea typeface="Aptos"/>
                <a:cs typeface="Aptos"/>
              </a:defRPr>
            </a:lvl2pPr>
            <a:lvl3pPr>
              <a:defRPr sz="1725" b="1">
                <a:solidFill>
                  <a:srgbClr val="172033"/>
                </a:solidFill>
                <a:latin typeface="Aptos"/>
                <a:ea typeface="Aptos"/>
                <a:cs typeface="Aptos"/>
              </a:defRPr>
            </a:lvl3pPr>
            <a:lvl4pPr>
              <a:defRPr sz="1725" b="1">
                <a:solidFill>
                  <a:srgbClr val="172033"/>
                </a:solidFill>
                <a:latin typeface="Aptos"/>
                <a:ea typeface="Aptos"/>
                <a:cs typeface="Aptos"/>
              </a:defRPr>
            </a:lvl4pPr>
            <a:lvl5pPr>
              <a:defRPr sz="1725" b="1">
                <a:solidFill>
                  <a:srgbClr val="172033"/>
                </a:solidFill>
                <a:latin typeface="Aptos"/>
                <a:ea typeface="Aptos"/>
                <a:cs typeface="Aptos"/>
              </a:defRPr>
            </a:lvl5pPr>
            <a:lvl6pPr>
              <a:defRPr sz="1725" b="1">
                <a:solidFill>
                  <a:srgbClr val="172033"/>
                </a:solidFill>
                <a:latin typeface="Aptos"/>
                <a:ea typeface="Aptos"/>
                <a:cs typeface="Aptos"/>
              </a:defRPr>
            </a:lvl6pPr>
            <a:lvl7pPr>
              <a:defRPr sz="1725" b="1">
                <a:solidFill>
                  <a:srgbClr val="172033"/>
                </a:solidFill>
                <a:latin typeface="Aptos"/>
                <a:ea typeface="Aptos"/>
                <a:cs typeface="Aptos"/>
              </a:defRPr>
            </a:lvl7pPr>
            <a:lvl8pPr>
              <a:defRPr sz="1725" b="1">
                <a:solidFill>
                  <a:srgbClr val="172033"/>
                </a:solidFill>
                <a:latin typeface="Aptos"/>
                <a:ea typeface="Aptos"/>
                <a:cs typeface="Aptos"/>
              </a:defRPr>
            </a:lvl8pPr>
            <a:lvl9pPr>
              <a:defRPr sz="1725" b="1">
                <a:solidFill>
                  <a:srgbClr val="172033"/>
                </a:solidFill>
                <a:latin typeface="Aptos"/>
                <a:ea typeface="Aptos"/>
                <a:cs typeface="Aptos"/>
              </a:defRPr>
            </a:lvl9pPr>
          </a:lstStyle>
          <a:p xmlns:a="http://schemas.openxmlformats.org/drawingml/2006/main">
            <a:pPr>
              <a:defRPr sz="1725" b="1">
                <a:solidFill>
                  <a:srgbClr val="172033"/>
                </a:solidFill>
                <a:latin typeface="Aptos"/>
                <a:ea typeface="Aptos"/>
                <a:cs typeface="Aptos"/>
              </a:defRPr>
            </a:pPr>
            <a:r>
              <a:rPr sz="1725" b="1">
                <a:solidFill>
                  <a:srgbClr val="172033"/>
                </a:solidFill>
                <a:latin typeface="Aptos"/>
                <a:ea typeface="Aptos"/>
                <a:cs typeface="Aptos"/>
              </a:rPr>
              <a:t>Notebook chat or ChatGPT</a:t>
            </a:r>
          </a:p>
        </p:txBody>
      </p:sp>
      <p:sp>
        <p:nvSpPr>
          <p:cNvPr id="9" name="research-1-body">
            <a:extLst xmlns:a="http://schemas.openxmlformats.org/drawingml/2006/main">
              <a:ext uri="{FF2B5EF4-FFF2-40B4-BE49-F238E27FC236}">
                <a16:creationId xmlns:a16="http://schemas.microsoft.com/office/drawing/2014/main" id="{122B05FA-BFFA-423A-8B32-481DEF1CBF7D}"/>
              </a:ext>
            </a:extLst>
          </p:cNvPr>
          <p:cNvSpPr>
            <a:spLocks xmlns:a="http://schemas.openxmlformats.org/drawingml/2006/main" noGrp="1"/>
          </p:cNvSpPr>
          <p:nvPr/>
        </p:nvSpPr>
        <p:spPr>
          <a:xfrm xmlns:a="http://schemas.openxmlformats.org/drawingml/2006/main">
            <a:off x="4333875" y="33051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F7782"/>
                </a:solidFill>
                <a:latin typeface="Aptos"/>
                <a:ea typeface="Aptos"/>
                <a:cs typeface="Aptos"/>
              </a:defRPr>
            </a:defPPr>
            <a:lvl1pPr>
              <a:defRPr sz="1800" b="0">
                <a:solidFill>
                  <a:srgbClr val="6F7782"/>
                </a:solidFill>
                <a:latin typeface="Aptos"/>
                <a:ea typeface="Aptos"/>
                <a:cs typeface="Aptos"/>
              </a:defRPr>
            </a:lvl1pPr>
            <a:lvl2pPr>
              <a:defRPr sz="1800" b="0">
                <a:solidFill>
                  <a:srgbClr val="6F7782"/>
                </a:solidFill>
                <a:latin typeface="Aptos"/>
                <a:ea typeface="Aptos"/>
                <a:cs typeface="Aptos"/>
              </a:defRPr>
            </a:lvl2pPr>
            <a:lvl3pPr>
              <a:defRPr sz="1800" b="0">
                <a:solidFill>
                  <a:srgbClr val="6F7782"/>
                </a:solidFill>
                <a:latin typeface="Aptos"/>
                <a:ea typeface="Aptos"/>
                <a:cs typeface="Aptos"/>
              </a:defRPr>
            </a:lvl3pPr>
            <a:lvl4pPr>
              <a:defRPr sz="1800" b="0">
                <a:solidFill>
                  <a:srgbClr val="6F7782"/>
                </a:solidFill>
                <a:latin typeface="Aptos"/>
                <a:ea typeface="Aptos"/>
                <a:cs typeface="Aptos"/>
              </a:defRPr>
            </a:lvl4pPr>
            <a:lvl5pPr>
              <a:defRPr sz="1800" b="0">
                <a:solidFill>
                  <a:srgbClr val="6F7782"/>
                </a:solidFill>
                <a:latin typeface="Aptos"/>
                <a:ea typeface="Aptos"/>
                <a:cs typeface="Aptos"/>
              </a:defRPr>
            </a:lvl5pPr>
            <a:lvl6pPr>
              <a:defRPr sz="1800" b="0">
                <a:solidFill>
                  <a:srgbClr val="6F7782"/>
                </a:solidFill>
                <a:latin typeface="Aptos"/>
                <a:ea typeface="Aptos"/>
                <a:cs typeface="Aptos"/>
              </a:defRPr>
            </a:lvl6pPr>
            <a:lvl7pPr>
              <a:defRPr sz="1800" b="0">
                <a:solidFill>
                  <a:srgbClr val="6F7782"/>
                </a:solidFill>
                <a:latin typeface="Aptos"/>
                <a:ea typeface="Aptos"/>
                <a:cs typeface="Aptos"/>
              </a:defRPr>
            </a:lvl7pPr>
            <a:lvl8pPr>
              <a:defRPr sz="1800" b="0">
                <a:solidFill>
                  <a:srgbClr val="6F7782"/>
                </a:solidFill>
                <a:latin typeface="Aptos"/>
                <a:ea typeface="Aptos"/>
                <a:cs typeface="Aptos"/>
              </a:defRPr>
            </a:lvl8pPr>
            <a:lvl9pPr>
              <a:defRPr sz="1800" b="0">
                <a:solidFill>
                  <a:srgbClr val="6F7782"/>
                </a:solidFill>
                <a:latin typeface="Aptos"/>
                <a:ea typeface="Aptos"/>
                <a:cs typeface="Aptos"/>
              </a:defRPr>
            </a:lvl9pPr>
          </a:lstStyle>
          <a:p xmlns:a="http://schemas.openxmlformats.org/drawingml/2006/main">
            <a:pPr>
              <a:defRPr sz="1800" b="0">
                <a:solidFill>
                  <a:srgbClr val="6F7782"/>
                </a:solidFill>
                <a:latin typeface="Aptos"/>
                <a:ea typeface="Aptos"/>
                <a:cs typeface="Aptos"/>
              </a:defRPr>
            </a:pPr>
            <a:r>
              <a:rPr sz="1800" b="0">
                <a:solidFill>
                  <a:srgbClr val="6F7782"/>
                </a:solidFill>
                <a:latin typeface="Aptos"/>
                <a:ea typeface="Aptos"/>
                <a:cs typeface="Aptos"/>
              </a:rPr>
              <a:t>Ask for a claim table: statistic, year, population, source passage, and limitation.</a:t>
            </a:r>
          </a:p>
        </p:txBody>
      </p:sp>
      <p:sp>
        <p:nvSpPr>
          <p:cNvPr id="10" name="research-2-head">
            <a:extLst xmlns:a="http://schemas.openxmlformats.org/drawingml/2006/main">
              <a:ext uri="{FF2B5EF4-FFF2-40B4-BE49-F238E27FC236}">
                <a16:creationId xmlns:a16="http://schemas.microsoft.com/office/drawing/2014/main" id="{7BEF2B28-9C3F-4F6E-B1CC-63D3E001BD26}"/>
              </a:ext>
            </a:extLst>
          </p:cNvPr>
          <p:cNvSpPr>
            <a:spLocks xmlns:a="http://schemas.openxmlformats.org/drawingml/2006/main" noGrp="1"/>
          </p:cNvSpPr>
          <p:nvPr/>
        </p:nvSpPr>
        <p:spPr>
          <a:xfrm xmlns:a="http://schemas.openxmlformats.org/drawingml/2006/main">
            <a:off x="8162925" y="2152650"/>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F73B9"/>
                </a:solidFill>
                <a:latin typeface="Aptos"/>
                <a:ea typeface="Aptos"/>
                <a:cs typeface="Aptos"/>
              </a:defRPr>
            </a:defPPr>
            <a:lvl1pPr>
              <a:defRPr sz="2250" b="1">
                <a:solidFill>
                  <a:srgbClr val="2F73B9"/>
                </a:solidFill>
                <a:latin typeface="Aptos"/>
                <a:ea typeface="Aptos"/>
                <a:cs typeface="Aptos"/>
              </a:defRPr>
            </a:lvl1pPr>
            <a:lvl2pPr>
              <a:defRPr sz="2250" b="1">
                <a:solidFill>
                  <a:srgbClr val="2F73B9"/>
                </a:solidFill>
                <a:latin typeface="Aptos"/>
                <a:ea typeface="Aptos"/>
                <a:cs typeface="Aptos"/>
              </a:defRPr>
            </a:lvl2pPr>
            <a:lvl3pPr>
              <a:defRPr sz="2250" b="1">
                <a:solidFill>
                  <a:srgbClr val="2F73B9"/>
                </a:solidFill>
                <a:latin typeface="Aptos"/>
                <a:ea typeface="Aptos"/>
                <a:cs typeface="Aptos"/>
              </a:defRPr>
            </a:lvl3pPr>
            <a:lvl4pPr>
              <a:defRPr sz="2250" b="1">
                <a:solidFill>
                  <a:srgbClr val="2F73B9"/>
                </a:solidFill>
                <a:latin typeface="Aptos"/>
                <a:ea typeface="Aptos"/>
                <a:cs typeface="Aptos"/>
              </a:defRPr>
            </a:lvl4pPr>
            <a:lvl5pPr>
              <a:defRPr sz="2250" b="1">
                <a:solidFill>
                  <a:srgbClr val="2F73B9"/>
                </a:solidFill>
                <a:latin typeface="Aptos"/>
                <a:ea typeface="Aptos"/>
                <a:cs typeface="Aptos"/>
              </a:defRPr>
            </a:lvl5pPr>
            <a:lvl6pPr>
              <a:defRPr sz="2250" b="1">
                <a:solidFill>
                  <a:srgbClr val="2F73B9"/>
                </a:solidFill>
                <a:latin typeface="Aptos"/>
                <a:ea typeface="Aptos"/>
                <a:cs typeface="Aptos"/>
              </a:defRPr>
            </a:lvl6pPr>
            <a:lvl7pPr>
              <a:defRPr sz="2250" b="1">
                <a:solidFill>
                  <a:srgbClr val="2F73B9"/>
                </a:solidFill>
                <a:latin typeface="Aptos"/>
                <a:ea typeface="Aptos"/>
                <a:cs typeface="Aptos"/>
              </a:defRPr>
            </a:lvl7pPr>
            <a:lvl8pPr>
              <a:defRPr sz="2250" b="1">
                <a:solidFill>
                  <a:srgbClr val="2F73B9"/>
                </a:solidFill>
                <a:latin typeface="Aptos"/>
                <a:ea typeface="Aptos"/>
                <a:cs typeface="Aptos"/>
              </a:defRPr>
            </a:lvl8pPr>
            <a:lvl9pPr>
              <a:defRPr sz="2250" b="1">
                <a:solidFill>
                  <a:srgbClr val="2F73B9"/>
                </a:solidFill>
                <a:latin typeface="Aptos"/>
                <a:ea typeface="Aptos"/>
                <a:cs typeface="Aptos"/>
              </a:defRPr>
            </a:lvl9pPr>
          </a:lstStyle>
          <a:p xmlns:a="http://schemas.openxmlformats.org/drawingml/2006/main">
            <a:pPr>
              <a:defRPr sz="2250" b="1">
                <a:solidFill>
                  <a:srgbClr val="2F73B9"/>
                </a:solidFill>
                <a:latin typeface="Aptos"/>
                <a:ea typeface="Aptos"/>
                <a:cs typeface="Aptos"/>
              </a:defRPr>
            </a:pPr>
            <a:r>
              <a:rPr sz="2250" b="1">
                <a:solidFill>
                  <a:srgbClr val="2F73B9"/>
                </a:solidFill>
                <a:latin typeface="Aptos"/>
                <a:ea typeface="Aptos"/>
                <a:cs typeface="Aptos"/>
              </a:rPr>
              <a:t>3  Verify</a:t>
            </a:r>
          </a:p>
        </p:txBody>
      </p:sp>
      <p:sp>
        <p:nvSpPr>
          <p:cNvPr id="11" name="research-2-tool">
            <a:extLst xmlns:a="http://schemas.openxmlformats.org/drawingml/2006/main">
              <a:ext uri="{FF2B5EF4-FFF2-40B4-BE49-F238E27FC236}">
                <a16:creationId xmlns:a16="http://schemas.microsoft.com/office/drawing/2014/main" id="{12C19FD4-AF6E-49F5-A955-5CFCD9B6D054}"/>
              </a:ext>
            </a:extLst>
          </p:cNvPr>
          <p:cNvSpPr>
            <a:spLocks xmlns:a="http://schemas.openxmlformats.org/drawingml/2006/main" noGrp="1"/>
          </p:cNvSpPr>
          <p:nvPr/>
        </p:nvSpPr>
        <p:spPr>
          <a:xfrm xmlns:a="http://schemas.openxmlformats.org/drawingml/2006/main">
            <a:off x="8162925" y="27146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72033"/>
                </a:solidFill>
                <a:latin typeface="Aptos"/>
                <a:ea typeface="Aptos"/>
                <a:cs typeface="Aptos"/>
              </a:defRPr>
            </a:defPPr>
            <a:lvl1pPr>
              <a:defRPr sz="1725" b="1">
                <a:solidFill>
                  <a:srgbClr val="172033"/>
                </a:solidFill>
                <a:latin typeface="Aptos"/>
                <a:ea typeface="Aptos"/>
                <a:cs typeface="Aptos"/>
              </a:defRPr>
            </a:lvl1pPr>
            <a:lvl2pPr>
              <a:defRPr sz="1725" b="1">
                <a:solidFill>
                  <a:srgbClr val="172033"/>
                </a:solidFill>
                <a:latin typeface="Aptos"/>
                <a:ea typeface="Aptos"/>
                <a:cs typeface="Aptos"/>
              </a:defRPr>
            </a:lvl2pPr>
            <a:lvl3pPr>
              <a:defRPr sz="1725" b="1">
                <a:solidFill>
                  <a:srgbClr val="172033"/>
                </a:solidFill>
                <a:latin typeface="Aptos"/>
                <a:ea typeface="Aptos"/>
                <a:cs typeface="Aptos"/>
              </a:defRPr>
            </a:lvl3pPr>
            <a:lvl4pPr>
              <a:defRPr sz="1725" b="1">
                <a:solidFill>
                  <a:srgbClr val="172033"/>
                </a:solidFill>
                <a:latin typeface="Aptos"/>
                <a:ea typeface="Aptos"/>
                <a:cs typeface="Aptos"/>
              </a:defRPr>
            </a:lvl4pPr>
            <a:lvl5pPr>
              <a:defRPr sz="1725" b="1">
                <a:solidFill>
                  <a:srgbClr val="172033"/>
                </a:solidFill>
                <a:latin typeface="Aptos"/>
                <a:ea typeface="Aptos"/>
                <a:cs typeface="Aptos"/>
              </a:defRPr>
            </a:lvl5pPr>
            <a:lvl6pPr>
              <a:defRPr sz="1725" b="1">
                <a:solidFill>
                  <a:srgbClr val="172033"/>
                </a:solidFill>
                <a:latin typeface="Aptos"/>
                <a:ea typeface="Aptos"/>
                <a:cs typeface="Aptos"/>
              </a:defRPr>
            </a:lvl6pPr>
            <a:lvl7pPr>
              <a:defRPr sz="1725" b="1">
                <a:solidFill>
                  <a:srgbClr val="172033"/>
                </a:solidFill>
                <a:latin typeface="Aptos"/>
                <a:ea typeface="Aptos"/>
                <a:cs typeface="Aptos"/>
              </a:defRPr>
            </a:lvl7pPr>
            <a:lvl8pPr>
              <a:defRPr sz="1725" b="1">
                <a:solidFill>
                  <a:srgbClr val="172033"/>
                </a:solidFill>
                <a:latin typeface="Aptos"/>
                <a:ea typeface="Aptos"/>
                <a:cs typeface="Aptos"/>
              </a:defRPr>
            </a:lvl8pPr>
            <a:lvl9pPr>
              <a:defRPr sz="1725" b="1">
                <a:solidFill>
                  <a:srgbClr val="172033"/>
                </a:solidFill>
                <a:latin typeface="Aptos"/>
                <a:ea typeface="Aptos"/>
                <a:cs typeface="Aptos"/>
              </a:defRPr>
            </a:lvl9pPr>
          </a:lstStyle>
          <a:p xmlns:a="http://schemas.openxmlformats.org/drawingml/2006/main">
            <a:pPr>
              <a:defRPr sz="1725" b="1">
                <a:solidFill>
                  <a:srgbClr val="172033"/>
                </a:solidFill>
                <a:latin typeface="Aptos"/>
                <a:ea typeface="Aptos"/>
                <a:cs typeface="Aptos"/>
              </a:defRPr>
            </a:pPr>
            <a:r>
              <a:rPr sz="1725" b="1">
                <a:solidFill>
                  <a:srgbClr val="172033"/>
                </a:solidFill>
                <a:latin typeface="Aptos"/>
                <a:ea typeface="Aptos"/>
                <a:cs typeface="Aptos"/>
              </a:rPr>
              <a:t>Original report + reviewer</a:t>
            </a:r>
          </a:p>
        </p:txBody>
      </p:sp>
      <p:sp>
        <p:nvSpPr>
          <p:cNvPr id="12" name="research-2-body">
            <a:extLst xmlns:a="http://schemas.openxmlformats.org/drawingml/2006/main">
              <a:ext uri="{FF2B5EF4-FFF2-40B4-BE49-F238E27FC236}">
                <a16:creationId xmlns:a16="http://schemas.microsoft.com/office/drawing/2014/main" id="{232593DE-6DA7-473B-91A0-E6F5FEC07CAA}"/>
              </a:ext>
            </a:extLst>
          </p:cNvPr>
          <p:cNvSpPr>
            <a:spLocks xmlns:a="http://schemas.openxmlformats.org/drawingml/2006/main" noGrp="1"/>
          </p:cNvSpPr>
          <p:nvPr/>
        </p:nvSpPr>
        <p:spPr>
          <a:xfrm xmlns:a="http://schemas.openxmlformats.org/drawingml/2006/main">
            <a:off x="8162925" y="33051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F7782"/>
                </a:solidFill>
                <a:latin typeface="Aptos"/>
                <a:ea typeface="Aptos"/>
                <a:cs typeface="Aptos"/>
              </a:defRPr>
            </a:defPPr>
            <a:lvl1pPr>
              <a:defRPr sz="1800" b="0">
                <a:solidFill>
                  <a:srgbClr val="6F7782"/>
                </a:solidFill>
                <a:latin typeface="Aptos"/>
                <a:ea typeface="Aptos"/>
                <a:cs typeface="Aptos"/>
              </a:defRPr>
            </a:lvl1pPr>
            <a:lvl2pPr>
              <a:defRPr sz="1800" b="0">
                <a:solidFill>
                  <a:srgbClr val="6F7782"/>
                </a:solidFill>
                <a:latin typeface="Aptos"/>
                <a:ea typeface="Aptos"/>
                <a:cs typeface="Aptos"/>
              </a:defRPr>
            </a:lvl2pPr>
            <a:lvl3pPr>
              <a:defRPr sz="1800" b="0">
                <a:solidFill>
                  <a:srgbClr val="6F7782"/>
                </a:solidFill>
                <a:latin typeface="Aptos"/>
                <a:ea typeface="Aptos"/>
                <a:cs typeface="Aptos"/>
              </a:defRPr>
            </a:lvl3pPr>
            <a:lvl4pPr>
              <a:defRPr sz="1800" b="0">
                <a:solidFill>
                  <a:srgbClr val="6F7782"/>
                </a:solidFill>
                <a:latin typeface="Aptos"/>
                <a:ea typeface="Aptos"/>
                <a:cs typeface="Aptos"/>
              </a:defRPr>
            </a:lvl4pPr>
            <a:lvl5pPr>
              <a:defRPr sz="1800" b="0">
                <a:solidFill>
                  <a:srgbClr val="6F7782"/>
                </a:solidFill>
                <a:latin typeface="Aptos"/>
                <a:ea typeface="Aptos"/>
                <a:cs typeface="Aptos"/>
              </a:defRPr>
            </a:lvl5pPr>
            <a:lvl6pPr>
              <a:defRPr sz="1800" b="0">
                <a:solidFill>
                  <a:srgbClr val="6F7782"/>
                </a:solidFill>
                <a:latin typeface="Aptos"/>
                <a:ea typeface="Aptos"/>
                <a:cs typeface="Aptos"/>
              </a:defRPr>
            </a:lvl6pPr>
            <a:lvl7pPr>
              <a:defRPr sz="1800" b="0">
                <a:solidFill>
                  <a:srgbClr val="6F7782"/>
                </a:solidFill>
                <a:latin typeface="Aptos"/>
                <a:ea typeface="Aptos"/>
                <a:cs typeface="Aptos"/>
              </a:defRPr>
            </a:lvl7pPr>
            <a:lvl8pPr>
              <a:defRPr sz="1800" b="0">
                <a:solidFill>
                  <a:srgbClr val="6F7782"/>
                </a:solidFill>
                <a:latin typeface="Aptos"/>
                <a:ea typeface="Aptos"/>
                <a:cs typeface="Aptos"/>
              </a:defRPr>
            </a:lvl8pPr>
            <a:lvl9pPr>
              <a:defRPr sz="1800" b="0">
                <a:solidFill>
                  <a:srgbClr val="6F7782"/>
                </a:solidFill>
                <a:latin typeface="Aptos"/>
                <a:ea typeface="Aptos"/>
                <a:cs typeface="Aptos"/>
              </a:defRPr>
            </a:lvl9pPr>
          </a:lstStyle>
          <a:p xmlns:a="http://schemas.openxmlformats.org/drawingml/2006/main">
            <a:pPr>
              <a:defRPr sz="1800" b="0">
                <a:solidFill>
                  <a:srgbClr val="6F7782"/>
                </a:solidFill>
                <a:latin typeface="Aptos"/>
                <a:ea typeface="Aptos"/>
                <a:cs typeface="Aptos"/>
              </a:defRPr>
            </a:pPr>
            <a:r>
              <a:rPr sz="1800" b="0">
                <a:solidFill>
                  <a:srgbClr val="6F7782"/>
                </a:solidFill>
                <a:latin typeface="Aptos"/>
                <a:ea typeface="Aptos"/>
                <a:cs typeface="Aptos"/>
              </a:rPr>
              <a:t>Open every citation. Check denominators, study design, and whether the claim is causal.</a:t>
            </a:r>
          </a:p>
        </p:txBody>
      </p:sp>
      <p:sp>
        <p:nvSpPr>
          <p:cNvPr id="13" name="prompt-label">
            <a:extLst xmlns:a="http://schemas.openxmlformats.org/drawingml/2006/main">
              <a:ext uri="{FF2B5EF4-FFF2-40B4-BE49-F238E27FC236}">
                <a16:creationId xmlns:a16="http://schemas.microsoft.com/office/drawing/2014/main" id="{3E93F457-79CA-4DF1-9036-6FC971643AE0}"/>
              </a:ext>
            </a:extLst>
          </p:cNvPr>
          <p:cNvSpPr>
            <a:spLocks xmlns:a="http://schemas.openxmlformats.org/drawingml/2006/main" noGrp="1"/>
          </p:cNvSpPr>
          <p:nvPr/>
        </p:nvSpPr>
        <p:spPr>
          <a:xfrm xmlns:a="http://schemas.openxmlformats.org/drawingml/2006/main">
            <a:off x="504825" y="4991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F57C00"/>
                </a:solidFill>
                <a:latin typeface="Aptos"/>
                <a:ea typeface="Aptos"/>
                <a:cs typeface="Aptos"/>
              </a:defRPr>
            </a:defPPr>
            <a:lvl1pPr>
              <a:defRPr sz="1125" b="1">
                <a:solidFill>
                  <a:srgbClr val="F57C00"/>
                </a:solidFill>
                <a:latin typeface="Aptos"/>
                <a:ea typeface="Aptos"/>
                <a:cs typeface="Aptos"/>
              </a:defRPr>
            </a:lvl1pPr>
            <a:lvl2pPr>
              <a:defRPr sz="1125" b="1">
                <a:solidFill>
                  <a:srgbClr val="F57C00"/>
                </a:solidFill>
                <a:latin typeface="Aptos"/>
                <a:ea typeface="Aptos"/>
                <a:cs typeface="Aptos"/>
              </a:defRPr>
            </a:lvl2pPr>
            <a:lvl3pPr>
              <a:defRPr sz="1125" b="1">
                <a:solidFill>
                  <a:srgbClr val="F57C00"/>
                </a:solidFill>
                <a:latin typeface="Aptos"/>
                <a:ea typeface="Aptos"/>
                <a:cs typeface="Aptos"/>
              </a:defRPr>
            </a:lvl3pPr>
            <a:lvl4pPr>
              <a:defRPr sz="1125" b="1">
                <a:solidFill>
                  <a:srgbClr val="F57C00"/>
                </a:solidFill>
                <a:latin typeface="Aptos"/>
                <a:ea typeface="Aptos"/>
                <a:cs typeface="Aptos"/>
              </a:defRPr>
            </a:lvl4pPr>
            <a:lvl5pPr>
              <a:defRPr sz="1125" b="1">
                <a:solidFill>
                  <a:srgbClr val="F57C00"/>
                </a:solidFill>
                <a:latin typeface="Aptos"/>
                <a:ea typeface="Aptos"/>
                <a:cs typeface="Aptos"/>
              </a:defRPr>
            </a:lvl5pPr>
            <a:lvl6pPr>
              <a:defRPr sz="1125" b="1">
                <a:solidFill>
                  <a:srgbClr val="F57C00"/>
                </a:solidFill>
                <a:latin typeface="Aptos"/>
                <a:ea typeface="Aptos"/>
                <a:cs typeface="Aptos"/>
              </a:defRPr>
            </a:lvl6pPr>
            <a:lvl7pPr>
              <a:defRPr sz="1125" b="1">
                <a:solidFill>
                  <a:srgbClr val="F57C00"/>
                </a:solidFill>
                <a:latin typeface="Aptos"/>
                <a:ea typeface="Aptos"/>
                <a:cs typeface="Aptos"/>
              </a:defRPr>
            </a:lvl7pPr>
            <a:lvl8pPr>
              <a:defRPr sz="1125" b="1">
                <a:solidFill>
                  <a:srgbClr val="F57C00"/>
                </a:solidFill>
                <a:latin typeface="Aptos"/>
                <a:ea typeface="Aptos"/>
                <a:cs typeface="Aptos"/>
              </a:defRPr>
            </a:lvl8pPr>
            <a:lvl9pPr>
              <a:defRPr sz="1125" b="1">
                <a:solidFill>
                  <a:srgbClr val="F57C00"/>
                </a:solidFill>
                <a:latin typeface="Aptos"/>
                <a:ea typeface="Aptos"/>
                <a:cs typeface="Aptos"/>
              </a:defRPr>
            </a:lvl9pPr>
          </a:lstStyle>
          <a:p xmlns:a="http://schemas.openxmlformats.org/drawingml/2006/main">
            <a:pPr>
              <a:defRPr sz="1125" b="1">
                <a:solidFill>
                  <a:srgbClr val="F57C00"/>
                </a:solidFill>
                <a:latin typeface="Aptos"/>
                <a:ea typeface="Aptos"/>
                <a:cs typeface="Aptos"/>
              </a:defRPr>
            </a:pPr>
            <a:r>
              <a:rPr sz="1125" b="1">
                <a:solidFill>
                  <a:srgbClr val="F57C00"/>
                </a:solidFill>
                <a:latin typeface="Aptos"/>
                <a:ea typeface="Aptos"/>
                <a:cs typeface="Aptos"/>
              </a:rPr>
              <a:t>PROMPT TO TRY</a:t>
            </a:r>
          </a:p>
        </p:txBody>
      </p:sp>
      <p:sp>
        <p:nvSpPr>
          <p:cNvPr id="14" name="prompt">
            <a:extLst xmlns:a="http://schemas.openxmlformats.org/drawingml/2006/main">
              <a:ext uri="{FF2B5EF4-FFF2-40B4-BE49-F238E27FC236}">
                <a16:creationId xmlns:a16="http://schemas.microsoft.com/office/drawing/2014/main" id="{E9135B11-086B-45D6-BB5F-F15189D0F270}"/>
              </a:ext>
            </a:extLst>
          </p:cNvPr>
          <p:cNvSpPr>
            <a:spLocks xmlns:a="http://schemas.openxmlformats.org/drawingml/2006/main" noGrp="1"/>
          </p:cNvSpPr>
          <p:nvPr/>
        </p:nvSpPr>
        <p:spPr>
          <a:xfrm xmlns:a="http://schemas.openxmlformats.org/drawingml/2006/main">
            <a:off x="504825" y="5314950"/>
            <a:ext cx="11182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72033"/>
                </a:solidFill>
                <a:latin typeface="Aptos"/>
                <a:ea typeface="Aptos"/>
                <a:cs typeface="Aptos"/>
              </a:defRPr>
            </a:defPPr>
            <a:lvl1pPr>
              <a:defRPr sz="2025" b="1">
                <a:solidFill>
                  <a:srgbClr val="172033"/>
                </a:solidFill>
                <a:latin typeface="Aptos"/>
                <a:ea typeface="Aptos"/>
                <a:cs typeface="Aptos"/>
              </a:defRPr>
            </a:lvl1pPr>
            <a:lvl2pPr>
              <a:defRPr sz="2025" b="1">
                <a:solidFill>
                  <a:srgbClr val="172033"/>
                </a:solidFill>
                <a:latin typeface="Aptos"/>
                <a:ea typeface="Aptos"/>
                <a:cs typeface="Aptos"/>
              </a:defRPr>
            </a:lvl2pPr>
            <a:lvl3pPr>
              <a:defRPr sz="2025" b="1">
                <a:solidFill>
                  <a:srgbClr val="172033"/>
                </a:solidFill>
                <a:latin typeface="Aptos"/>
                <a:ea typeface="Aptos"/>
                <a:cs typeface="Aptos"/>
              </a:defRPr>
            </a:lvl3pPr>
            <a:lvl4pPr>
              <a:defRPr sz="2025" b="1">
                <a:solidFill>
                  <a:srgbClr val="172033"/>
                </a:solidFill>
                <a:latin typeface="Aptos"/>
                <a:ea typeface="Aptos"/>
                <a:cs typeface="Aptos"/>
              </a:defRPr>
            </a:lvl4pPr>
            <a:lvl5pPr>
              <a:defRPr sz="2025" b="1">
                <a:solidFill>
                  <a:srgbClr val="172033"/>
                </a:solidFill>
                <a:latin typeface="Aptos"/>
                <a:ea typeface="Aptos"/>
                <a:cs typeface="Aptos"/>
              </a:defRPr>
            </a:lvl5pPr>
            <a:lvl6pPr>
              <a:defRPr sz="2025" b="1">
                <a:solidFill>
                  <a:srgbClr val="172033"/>
                </a:solidFill>
                <a:latin typeface="Aptos"/>
                <a:ea typeface="Aptos"/>
                <a:cs typeface="Aptos"/>
              </a:defRPr>
            </a:lvl6pPr>
            <a:lvl7pPr>
              <a:defRPr sz="2025" b="1">
                <a:solidFill>
                  <a:srgbClr val="172033"/>
                </a:solidFill>
                <a:latin typeface="Aptos"/>
                <a:ea typeface="Aptos"/>
                <a:cs typeface="Aptos"/>
              </a:defRPr>
            </a:lvl7pPr>
            <a:lvl8pPr>
              <a:defRPr sz="2025" b="1">
                <a:solidFill>
                  <a:srgbClr val="172033"/>
                </a:solidFill>
                <a:latin typeface="Aptos"/>
                <a:ea typeface="Aptos"/>
                <a:cs typeface="Aptos"/>
              </a:defRPr>
            </a:lvl8pPr>
            <a:lvl9pPr>
              <a:defRPr sz="2025" b="1">
                <a:solidFill>
                  <a:srgbClr val="172033"/>
                </a:solidFill>
                <a:latin typeface="Aptos"/>
                <a:ea typeface="Aptos"/>
                <a:cs typeface="Aptos"/>
              </a:defRPr>
            </a:lvl9pPr>
          </a:lstStyle>
          <a:p xmlns:a="http://schemas.openxmlformats.org/drawingml/2006/main">
            <a:pPr>
              <a:defRPr sz="2025" b="1">
                <a:solidFill>
                  <a:srgbClr val="172033"/>
                </a:solidFill>
                <a:latin typeface="Aptos"/>
                <a:ea typeface="Aptos"/>
                <a:cs typeface="Aptos"/>
              </a:defRPr>
            </a:pPr>
            <a:r>
              <a:rPr sz="2025" b="1">
                <a:solidFill>
                  <a:srgbClr val="172033"/>
                </a:solidFill>
                <a:latin typeface="Aptos"/>
                <a:ea typeface="Aptos"/>
                <a:cs typeface="Aptos"/>
              </a:rPr>
              <a:t>“Using only these sources, separate evidence from assumptions. Cite every statistic and flag missing context.”</a:t>
            </a:r>
          </a:p>
        </p:txBody>
      </p:sp>
      <p:sp>
        <p:nvSpPr>
          <p:cNvPr id="15" name="caption">
            <a:extLst xmlns:a="http://schemas.openxmlformats.org/drawingml/2006/main">
              <a:ext uri="{FF2B5EF4-FFF2-40B4-BE49-F238E27FC236}">
                <a16:creationId xmlns:a16="http://schemas.microsoft.com/office/drawing/2014/main" id="{3856F559-E23E-428A-94B1-696CA10BFE40}"/>
              </a:ext>
            </a:extLst>
          </p:cNvPr>
          <p:cNvSpPr>
            <a:spLocks xmlns:a="http://schemas.openxmlformats.org/drawingml/2006/main" noGrp="1"/>
          </p:cNvSpPr>
          <p:nvPr/>
        </p:nvSpPr>
        <p:spPr>
          <a:xfrm xmlns:a="http://schemas.openxmlformats.org/drawingml/2006/main">
            <a:off x="504825" y="6372225"/>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75" b="0">
                <a:solidFill>
                  <a:srgbClr val="6F7782"/>
                </a:solidFill>
                <a:latin typeface="Aptos"/>
                <a:ea typeface="Aptos"/>
                <a:cs typeface="Aptos"/>
              </a:defRPr>
            </a:defPPr>
            <a:lvl1pPr>
              <a:defRPr sz="975" b="0">
                <a:solidFill>
                  <a:srgbClr val="6F7782"/>
                </a:solidFill>
                <a:latin typeface="Aptos"/>
                <a:ea typeface="Aptos"/>
                <a:cs typeface="Aptos"/>
              </a:defRPr>
            </a:lvl1pPr>
            <a:lvl2pPr>
              <a:defRPr sz="975" b="0">
                <a:solidFill>
                  <a:srgbClr val="6F7782"/>
                </a:solidFill>
                <a:latin typeface="Aptos"/>
                <a:ea typeface="Aptos"/>
                <a:cs typeface="Aptos"/>
              </a:defRPr>
            </a:lvl2pPr>
            <a:lvl3pPr>
              <a:defRPr sz="975" b="0">
                <a:solidFill>
                  <a:srgbClr val="6F7782"/>
                </a:solidFill>
                <a:latin typeface="Aptos"/>
                <a:ea typeface="Aptos"/>
                <a:cs typeface="Aptos"/>
              </a:defRPr>
            </a:lvl3pPr>
            <a:lvl4pPr>
              <a:defRPr sz="975" b="0">
                <a:solidFill>
                  <a:srgbClr val="6F7782"/>
                </a:solidFill>
                <a:latin typeface="Aptos"/>
                <a:ea typeface="Aptos"/>
                <a:cs typeface="Aptos"/>
              </a:defRPr>
            </a:lvl4pPr>
            <a:lvl5pPr>
              <a:defRPr sz="975" b="0">
                <a:solidFill>
                  <a:srgbClr val="6F7782"/>
                </a:solidFill>
                <a:latin typeface="Aptos"/>
                <a:ea typeface="Aptos"/>
                <a:cs typeface="Aptos"/>
              </a:defRPr>
            </a:lvl5pPr>
            <a:lvl6pPr>
              <a:defRPr sz="975" b="0">
                <a:solidFill>
                  <a:srgbClr val="6F7782"/>
                </a:solidFill>
                <a:latin typeface="Aptos"/>
                <a:ea typeface="Aptos"/>
                <a:cs typeface="Aptos"/>
              </a:defRPr>
            </a:lvl6pPr>
            <a:lvl7pPr>
              <a:defRPr sz="975" b="0">
                <a:solidFill>
                  <a:srgbClr val="6F7782"/>
                </a:solidFill>
                <a:latin typeface="Aptos"/>
                <a:ea typeface="Aptos"/>
                <a:cs typeface="Aptos"/>
              </a:defRPr>
            </a:lvl7pPr>
            <a:lvl8pPr>
              <a:defRPr sz="975" b="0">
                <a:solidFill>
                  <a:srgbClr val="6F7782"/>
                </a:solidFill>
                <a:latin typeface="Aptos"/>
                <a:ea typeface="Aptos"/>
                <a:cs typeface="Aptos"/>
              </a:defRPr>
            </a:lvl8pPr>
            <a:lvl9pPr>
              <a:defRPr sz="975" b="0">
                <a:solidFill>
                  <a:srgbClr val="6F7782"/>
                </a:solidFill>
                <a:latin typeface="Aptos"/>
                <a:ea typeface="Aptos"/>
                <a:cs typeface="Aptos"/>
              </a:defRPr>
            </a:lvl9pPr>
          </a:lstStyle>
          <a:p xmlns:a="http://schemas.openxmlformats.org/drawingml/2006/main">
            <a:pPr>
              <a:defRPr sz="975" b="0">
                <a:solidFill>
                  <a:srgbClr val="6F7782"/>
                </a:solidFill>
                <a:latin typeface="Aptos"/>
                <a:ea typeface="Aptos"/>
                <a:cs typeface="Aptos"/>
              </a:defRPr>
            </a:pPr>
            <a:r>
              <a:rPr sz="975" b="0">
                <a:solidFill>
                  <a:srgbClr val="6F7782"/>
                </a:solidFill>
                <a:latin typeface="Aptos"/>
                <a:ea typeface="Aptos"/>
                <a:cs typeface="Aptos"/>
              </a:rPr>
              <a:t>A citation makes a claim easier to check. It does not prove the claim is correct.</a:t>
            </a:r>
          </a:p>
        </p:txBody>
      </p:sp>
      <p:sp>
        <p:nvSpPr>
          <p:cNvPr id="16" name="page-number">
            <a:extLst xmlns:a="http://schemas.openxmlformats.org/drawingml/2006/main">
              <a:ext uri="{FF2B5EF4-FFF2-40B4-BE49-F238E27FC236}">
                <a16:creationId xmlns:a16="http://schemas.microsoft.com/office/drawing/2014/main" id="{3ECD8C26-658F-4EFC-8DE5-1824FD4FCB6B}"/>
              </a:ext>
            </a:extLst>
          </p:cNvPr>
          <p:cNvSpPr>
            <a:spLocks xmlns:a="http://schemas.openxmlformats.org/drawingml/2006/main" noGrp="1"/>
          </p:cNvSpPr>
          <p:nvPr/>
        </p:nvSpPr>
        <p:spPr>
          <a:xfrm xmlns:a="http://schemas.openxmlformats.org/drawingml/2006/main">
            <a:off x="11896725" y="266700"/>
            <a:ext cx="190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825" b="0">
                <a:solidFill>
                  <a:srgbClr val="9F9F9F"/>
                </a:solidFill>
                <a:latin typeface="Aptos"/>
                <a:ea typeface="Aptos"/>
                <a:cs typeface="Aptos"/>
              </a:defRPr>
            </a:defPPr>
            <a:lvl1pPr>
              <a:defRPr sz="825" b="0">
                <a:solidFill>
                  <a:srgbClr val="9F9F9F"/>
                </a:solidFill>
                <a:latin typeface="Aptos"/>
                <a:ea typeface="Aptos"/>
                <a:cs typeface="Aptos"/>
              </a:defRPr>
            </a:lvl1pPr>
            <a:lvl2pPr>
              <a:defRPr sz="825" b="0">
                <a:solidFill>
                  <a:srgbClr val="9F9F9F"/>
                </a:solidFill>
                <a:latin typeface="Aptos"/>
                <a:ea typeface="Aptos"/>
                <a:cs typeface="Aptos"/>
              </a:defRPr>
            </a:lvl2pPr>
            <a:lvl3pPr>
              <a:defRPr sz="825" b="0">
                <a:solidFill>
                  <a:srgbClr val="9F9F9F"/>
                </a:solidFill>
                <a:latin typeface="Aptos"/>
                <a:ea typeface="Aptos"/>
                <a:cs typeface="Aptos"/>
              </a:defRPr>
            </a:lvl3pPr>
            <a:lvl4pPr>
              <a:defRPr sz="825" b="0">
                <a:solidFill>
                  <a:srgbClr val="9F9F9F"/>
                </a:solidFill>
                <a:latin typeface="Aptos"/>
                <a:ea typeface="Aptos"/>
                <a:cs typeface="Aptos"/>
              </a:defRPr>
            </a:lvl4pPr>
            <a:lvl5pPr>
              <a:defRPr sz="825" b="0">
                <a:solidFill>
                  <a:srgbClr val="9F9F9F"/>
                </a:solidFill>
                <a:latin typeface="Aptos"/>
                <a:ea typeface="Aptos"/>
                <a:cs typeface="Aptos"/>
              </a:defRPr>
            </a:lvl5pPr>
            <a:lvl6pPr>
              <a:defRPr sz="825" b="0">
                <a:solidFill>
                  <a:srgbClr val="9F9F9F"/>
                </a:solidFill>
                <a:latin typeface="Aptos"/>
                <a:ea typeface="Aptos"/>
                <a:cs typeface="Aptos"/>
              </a:defRPr>
            </a:lvl6pPr>
            <a:lvl7pPr>
              <a:defRPr sz="825" b="0">
                <a:solidFill>
                  <a:srgbClr val="9F9F9F"/>
                </a:solidFill>
                <a:latin typeface="Aptos"/>
                <a:ea typeface="Aptos"/>
                <a:cs typeface="Aptos"/>
              </a:defRPr>
            </a:lvl7pPr>
            <a:lvl8pPr>
              <a:defRPr sz="825" b="0">
                <a:solidFill>
                  <a:srgbClr val="9F9F9F"/>
                </a:solidFill>
                <a:latin typeface="Aptos"/>
                <a:ea typeface="Aptos"/>
                <a:cs typeface="Aptos"/>
              </a:defRPr>
            </a:lvl8pPr>
            <a:lvl9pPr>
              <a:defRPr sz="825" b="0">
                <a:solidFill>
                  <a:srgbClr val="9F9F9F"/>
                </a:solidFill>
                <a:latin typeface="Aptos"/>
                <a:ea typeface="Aptos"/>
                <a:cs typeface="Aptos"/>
              </a:defRPr>
            </a:lvl9pPr>
          </a:lstStyle>
          <a:p xmlns:a="http://schemas.openxmlformats.org/drawingml/2006/main">
            <a:pPr>
              <a:defRPr sz="825" b="0">
                <a:solidFill>
                  <a:srgbClr val="9F9F9F"/>
                </a:solidFill>
                <a:latin typeface="Aptos"/>
                <a:ea typeface="Aptos"/>
                <a:cs typeface="Aptos"/>
              </a:defRPr>
            </a:pPr>
            <a:r>
              <a:rPr sz="825" b="0">
                <a:solidFill>
                  <a:srgbClr val="9F9F9F"/>
                </a:solidFill>
                <a:latin typeface="Aptos"/>
                <a:ea typeface="Aptos"/>
                <a:cs typeface="Aptos"/>
              </a:rPr>
              <a:t>4</a:t>
            </a:r>
          </a:p>
        </p:txBody>
      </p:sp>
    </p:spTree>
    <p:extLst>
      <p:ext uri="{BB962C8B-B14F-4D97-AF65-F5344CB8AC3E}">
        <p14:creationId xmlns:p14="http://schemas.microsoft.com/office/powerpoint/2010/main" val="96377431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8D13C0-73DF-46E9-B364-9CEC887BD9A8}"/>
              </a:ext>
            </a:extLst>
          </p:cNvPr>
          <p:cNvSpPr>
            <a:spLocks xmlns:a="http://schemas.openxmlformats.org/drawingml/2006/main" noGrp="1"/>
          </p:cNvSpPr>
          <p:nvPr/>
        </p:nvSpPr>
        <p:spPr>
          <a:xfrm xmlns:a="http://schemas.openxmlformats.org/drawingml/2006/main">
            <a:off x="502920" y="5029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80">
                <a:solidFill>
                  <a:srgbClr val="F57C00"/>
                </a:solidFill>
              </a:rPr>
              <a:t>JOOLIAN CASE 3 OF 6</a:t>
            </a:r>
            <a:endParaRPr sz="1000"/>
          </a:p>
        </p:txBody>
      </p:sp>
      <p:sp>
        <p:nvSpPr>
          <p:cNvPr id="3" name="Text 1">
            <a:extLst xmlns:a="http://schemas.openxmlformats.org/drawingml/2006/main">
              <a:ext uri="{FF2B5EF4-FFF2-40B4-BE49-F238E27FC236}">
                <a16:creationId xmlns:a16="http://schemas.microsoft.com/office/drawing/2014/main" id="{0B436BAA-541F-4A6B-821A-C24911D91103}"/>
              </a:ext>
            </a:extLst>
          </p:cNvPr>
          <p:cNvSpPr>
            <a:spLocks xmlns:a="http://schemas.openxmlformats.org/drawingml/2006/main" noGrp="1"/>
          </p:cNvSpPr>
          <p:nvPr/>
        </p:nvSpPr>
        <p:spPr>
          <a:xfrm xmlns:a="http://schemas.openxmlformats.org/drawingml/2006/main">
            <a:off x="502920" y="790575"/>
            <a:ext cx="109728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700"/>
            </a:defPPr>
            <a:lvl1pPr>
              <a:defRPr sz="2700"/>
            </a:lvl1pPr>
            <a:lvl2pPr>
              <a:defRPr sz="2700"/>
            </a:lvl2pPr>
            <a:lvl3pPr>
              <a:defRPr sz="2700"/>
            </a:lvl3pPr>
            <a:lvl4pPr>
              <a:defRPr sz="2700"/>
            </a:lvl4pPr>
            <a:lvl5pPr>
              <a:defRPr sz="2700"/>
            </a:lvl5pPr>
            <a:lvl6pPr>
              <a:defRPr sz="2700"/>
            </a:lvl6pPr>
            <a:lvl7pPr>
              <a:defRPr sz="2700"/>
            </a:lvl7pPr>
            <a:lvl8pPr>
              <a:defRPr sz="2700"/>
            </a:lvl8pPr>
            <a:lvl9pPr>
              <a:defRPr sz="2700"/>
            </a:lvl9pPr>
          </a:lstStyle>
          <a:p xmlns:a="http://schemas.openxmlformats.org/drawingml/2006/main">
            <a:pPr marL="0" indent="0">
              <a:buNone/>
            </a:pPr>
            <a:r>
              <a:rPr sz="2700" b="1">
                <a:solidFill>
                  <a:srgbClr val="172033"/>
                </a:solidFill>
              </a:rPr>
              <a:t>Digital life: opportunity and risk</a:t>
            </a:r>
            <a:endParaRPr sz="2700"/>
          </a:p>
        </p:txBody>
      </p:sp>
      <p:sp>
        <p:nvSpPr>
          <p:cNvPr id="4" name="Text 2">
            <a:extLst xmlns:a="http://schemas.openxmlformats.org/drawingml/2006/main">
              <a:ext uri="{FF2B5EF4-FFF2-40B4-BE49-F238E27FC236}">
                <a16:creationId xmlns:a16="http://schemas.microsoft.com/office/drawing/2014/main" id="{C2B43921-4AA0-4780-9BE5-300453F30802}"/>
              </a:ext>
            </a:extLst>
          </p:cNvPr>
          <p:cNvSpPr>
            <a:spLocks xmlns:a="http://schemas.openxmlformats.org/drawingml/2006/main" noGrp="1"/>
          </p:cNvSpPr>
          <p:nvPr/>
        </p:nvSpPr>
        <p:spPr>
          <a:xfrm xmlns:a="http://schemas.openxmlformats.org/drawingml/2006/main">
            <a:off x="502920" y="1381125"/>
            <a:ext cx="11338560" cy="4286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marL="0" indent="0">
              <a:buNone/>
            </a:pPr>
            <a:r>
              <a:rPr sz="1575">
                <a:solidFill>
                  <a:srgbClr val="6F7782"/>
                </a:solidFill>
              </a:rPr>
              <a:t>Joolian aims to support useful digital experiences while protecting time, choice, and safety.</a:t>
            </a:r>
            <a:endParaRPr sz="1400"/>
          </a:p>
        </p:txBody>
      </p:sp>
      <p:sp>
        <p:nvSpPr>
          <p:cNvPr id="5" name="Text 3">
            <a:extLst xmlns:a="http://schemas.openxmlformats.org/drawingml/2006/main">
              <a:ext uri="{FF2B5EF4-FFF2-40B4-BE49-F238E27FC236}">
                <a16:creationId xmlns:a16="http://schemas.microsoft.com/office/drawing/2014/main" id="{1BAD62E2-8241-49DB-8AB5-7798117E256F}"/>
              </a:ext>
            </a:extLst>
          </p:cNvPr>
          <p:cNvSpPr>
            <a:spLocks xmlns:a="http://schemas.openxmlformats.org/drawingml/2006/main" noGrp="1"/>
          </p:cNvSpPr>
          <p:nvPr/>
        </p:nvSpPr>
        <p:spPr>
          <a:xfrm xmlns:a="http://schemas.openxmlformats.org/drawingml/2006/main">
            <a:off x="566928" y="1883664"/>
            <a:ext cx="51663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buNone/>
            </a:pPr>
            <a:r>
              <a:rPr sz="1650" b="1" spc="60">
                <a:solidFill>
                  <a:srgbClr val="2D8A57"/>
                </a:solidFill>
              </a:rPr>
              <a:t>OPPORTUNITIES TO SUPPORT</a:t>
            </a:r>
            <a:endParaRPr/>
          </a:p>
        </p:txBody>
      </p:sp>
      <p:sp>
        <p:nvSpPr>
          <p:cNvPr id="6" name="Text 4">
            <a:extLst xmlns:a="http://schemas.openxmlformats.org/drawingml/2006/main">
              <a:ext uri="{FF2B5EF4-FFF2-40B4-BE49-F238E27FC236}">
                <a16:creationId xmlns:a16="http://schemas.microsoft.com/office/drawing/2014/main" id="{E9D4B390-4B5D-4777-A579-E891968E8908}"/>
              </a:ext>
            </a:extLst>
          </p:cNvPr>
          <p:cNvSpPr>
            <a:spLocks xmlns:a="http://schemas.openxmlformats.org/drawingml/2006/main" noGrp="1"/>
          </p:cNvSpPr>
          <p:nvPr/>
        </p:nvSpPr>
        <p:spPr>
          <a:xfrm xmlns:a="http://schemas.openxmlformats.org/drawingml/2006/main">
            <a:off x="6419088" y="1883664"/>
            <a:ext cx="51663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buNone/>
            </a:pPr>
            <a:r>
              <a:rPr sz="1650" b="1" spc="60">
                <a:solidFill>
                  <a:srgbClr val="C14B48"/>
                </a:solidFill>
              </a:rPr>
              <a:t>RISKS TO DESIGN FOR</a:t>
            </a:r>
            <a:endParaRPr/>
          </a:p>
        </p:txBody>
      </p:sp>
      <p:sp>
        <p:nvSpPr>
          <p:cNvPr id="7" name="Shape 5">
            <a:extLst xmlns:a="http://schemas.openxmlformats.org/drawingml/2006/main">
              <a:ext uri="{FF2B5EF4-FFF2-40B4-BE49-F238E27FC236}">
                <a16:creationId xmlns:a16="http://schemas.microsoft.com/office/drawing/2014/main" id="{96528DF6-750F-4F32-B1DA-C6048548E0CF}"/>
              </a:ext>
            </a:extLst>
          </p:cNvPr>
          <p:cNvSpPr>
            <a:spLocks xmlns:a="http://schemas.openxmlformats.org/drawingml/2006/main" noGrp="1"/>
          </p:cNvSpPr>
          <p:nvPr/>
        </p:nvSpPr>
        <p:spPr>
          <a:xfrm xmlns:a="http://schemas.openxmlformats.org/drawingml/2006/main" rot="0" flipH="0" flipV="0">
            <a:off x="566928" y="2267712"/>
            <a:ext cx="5166360" cy="576072"/>
          </a:xfrm>
          <a:prstGeom xmlns:a="http://schemas.openxmlformats.org/drawingml/2006/main" prst="roundRect">
            <a:avLst/>
          </a:prstGeom>
          <a:solidFill xmlns:a="http://schemas.openxmlformats.org/drawingml/2006/main">
            <a:srgbClr val="F1F8F3"/>
          </a:solidFill>
          <a:ln xmlns:a="http://schemas.openxmlformats.org/drawingml/2006/main" w="12700">
            <a:solidFill>
              <a:srgbClr val="C7E0CF"/>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8" name="Shape 6">
            <a:extLst xmlns:a="http://schemas.openxmlformats.org/drawingml/2006/main">
              <a:ext uri="{FF2B5EF4-FFF2-40B4-BE49-F238E27FC236}">
                <a16:creationId xmlns:a16="http://schemas.microsoft.com/office/drawing/2014/main" id="{75427326-3059-45C2-A0ED-0EE9B3FCD20D}"/>
              </a:ext>
            </a:extLst>
          </p:cNvPr>
          <p:cNvSpPr>
            <a:spLocks xmlns:a="http://schemas.openxmlformats.org/drawingml/2006/main" noGrp="1"/>
          </p:cNvSpPr>
          <p:nvPr/>
        </p:nvSpPr>
        <p:spPr>
          <a:xfrm xmlns:a="http://schemas.openxmlformats.org/drawingml/2006/main" rot="0" flipH="0" flipV="0">
            <a:off x="658368" y="2363724"/>
            <a:ext cx="384048" cy="384048"/>
          </a:xfrm>
          <a:prstGeom xmlns:a="http://schemas.openxmlformats.org/drawingml/2006/main" prst="ellipse">
            <a:avLst/>
          </a:prstGeom>
          <a:solidFill xmlns:a="http://schemas.openxmlformats.org/drawingml/2006/main">
            <a:srgbClr val="2D8A57"/>
          </a:solidFill>
          <a:ln xmlns:a="http://schemas.openxmlformats.org/drawingml/2006/main" w="12700">
            <a:solidFill>
              <a:srgbClr val="2D8A57"/>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9" name="Text 7">
            <a:extLst xmlns:a="http://schemas.openxmlformats.org/drawingml/2006/main">
              <a:ext uri="{FF2B5EF4-FFF2-40B4-BE49-F238E27FC236}">
                <a16:creationId xmlns:a16="http://schemas.microsoft.com/office/drawing/2014/main" id="{9B2B49EB-6B36-4000-BCD9-6E6A3DE2641E}"/>
              </a:ext>
            </a:extLst>
          </p:cNvPr>
          <p:cNvSpPr>
            <a:spLocks xmlns:a="http://schemas.openxmlformats.org/drawingml/2006/main" noGrp="1"/>
          </p:cNvSpPr>
          <p:nvPr/>
        </p:nvSpPr>
        <p:spPr>
          <a:xfrm xmlns:a="http://schemas.openxmlformats.org/drawingml/2006/main" rot="0" flipH="0" flipV="0">
            <a:off x="658368" y="2496312"/>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1</a:t>
            </a:r>
            <a:endParaRPr sz="1050"/>
          </a:p>
        </p:txBody>
      </p:sp>
      <p:sp>
        <p:nvSpPr>
          <p:cNvPr id="10" name="Text 8">
            <a:extLst xmlns:a="http://schemas.openxmlformats.org/drawingml/2006/main">
              <a:ext uri="{FF2B5EF4-FFF2-40B4-BE49-F238E27FC236}">
                <a16:creationId xmlns:a16="http://schemas.microsoft.com/office/drawing/2014/main" id="{70337D88-BE15-49AA-904B-48E62A9F3A7B}"/>
              </a:ext>
            </a:extLst>
          </p:cNvPr>
          <p:cNvSpPr>
            <a:spLocks xmlns:a="http://schemas.openxmlformats.org/drawingml/2006/main" noGrp="1"/>
          </p:cNvSpPr>
          <p:nvPr/>
        </p:nvSpPr>
        <p:spPr>
          <a:xfrm xmlns:a="http://schemas.openxmlformats.org/drawingml/2006/main" rot="0" flipH="0" flipV="0">
            <a:off x="1152144" y="2455164"/>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Learning + knowledge</a:t>
            </a:r>
            <a:endParaRPr sz="1200"/>
          </a:p>
        </p:txBody>
      </p:sp>
      <p:sp>
        <p:nvSpPr>
          <p:cNvPr id="11" name="Text 9">
            <a:extLst xmlns:a="http://schemas.openxmlformats.org/drawingml/2006/main">
              <a:ext uri="{FF2B5EF4-FFF2-40B4-BE49-F238E27FC236}">
                <a16:creationId xmlns:a16="http://schemas.microsoft.com/office/drawing/2014/main" id="{51DE4C9C-0992-468F-9D3D-5B0A4A84A15C}"/>
              </a:ext>
            </a:extLst>
          </p:cNvPr>
          <p:cNvSpPr>
            <a:spLocks xmlns:a="http://schemas.openxmlformats.org/drawingml/2006/main" noGrp="1"/>
          </p:cNvSpPr>
          <p:nvPr/>
        </p:nvSpPr>
        <p:spPr>
          <a:xfrm xmlns:a="http://schemas.openxmlformats.org/drawingml/2006/main" rot="0" flipH="0" flipV="0">
            <a:off x="2724912" y="2340864"/>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Explanations and practice matched to a learner.</a:t>
            </a:r>
            <a:endParaRPr sz="1050"/>
          </a:p>
        </p:txBody>
      </p:sp>
      <p:sp>
        <p:nvSpPr>
          <p:cNvPr id="12" name="Shape 10">
            <a:extLst xmlns:a="http://schemas.openxmlformats.org/drawingml/2006/main">
              <a:ext uri="{FF2B5EF4-FFF2-40B4-BE49-F238E27FC236}">
                <a16:creationId xmlns:a16="http://schemas.microsoft.com/office/drawing/2014/main" id="{9624C9C6-CEDF-4E7F-A011-B0F287733450}"/>
              </a:ext>
            </a:extLst>
          </p:cNvPr>
          <p:cNvSpPr>
            <a:spLocks xmlns:a="http://schemas.openxmlformats.org/drawingml/2006/main" noGrp="1"/>
          </p:cNvSpPr>
          <p:nvPr/>
        </p:nvSpPr>
        <p:spPr>
          <a:xfrm xmlns:a="http://schemas.openxmlformats.org/drawingml/2006/main" rot="0" flipH="0" flipV="0">
            <a:off x="6419088" y="2267712"/>
            <a:ext cx="5166360" cy="576072"/>
          </a:xfrm>
          <a:prstGeom xmlns:a="http://schemas.openxmlformats.org/drawingml/2006/main" prst="roundRect">
            <a:avLst/>
          </a:prstGeom>
          <a:solidFill xmlns:a="http://schemas.openxmlformats.org/drawingml/2006/main">
            <a:srgbClr val="FCF2EF"/>
          </a:solidFill>
          <a:ln xmlns:a="http://schemas.openxmlformats.org/drawingml/2006/main" w="12700">
            <a:solidFill>
              <a:srgbClr val="E9C8C1"/>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13" name="Shape 11">
            <a:extLst xmlns:a="http://schemas.openxmlformats.org/drawingml/2006/main">
              <a:ext uri="{FF2B5EF4-FFF2-40B4-BE49-F238E27FC236}">
                <a16:creationId xmlns:a16="http://schemas.microsoft.com/office/drawing/2014/main" id="{D7221F2E-CC84-494B-B8CA-6084427AFAA5}"/>
              </a:ext>
            </a:extLst>
          </p:cNvPr>
          <p:cNvSpPr>
            <a:spLocks xmlns:a="http://schemas.openxmlformats.org/drawingml/2006/main" noGrp="1"/>
          </p:cNvSpPr>
          <p:nvPr/>
        </p:nvSpPr>
        <p:spPr>
          <a:xfrm xmlns:a="http://schemas.openxmlformats.org/drawingml/2006/main" rot="0" flipH="0" flipV="0">
            <a:off x="6510528" y="2363724"/>
            <a:ext cx="384048" cy="384048"/>
          </a:xfrm>
          <a:prstGeom xmlns:a="http://schemas.openxmlformats.org/drawingml/2006/main" prst="ellipse">
            <a:avLst/>
          </a:prstGeom>
          <a:solidFill xmlns:a="http://schemas.openxmlformats.org/drawingml/2006/main">
            <a:srgbClr val="C14B48"/>
          </a:solidFill>
          <a:ln xmlns:a="http://schemas.openxmlformats.org/drawingml/2006/main" w="12700">
            <a:solidFill>
              <a:srgbClr val="C14B48"/>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14" name="Text 12">
            <a:extLst xmlns:a="http://schemas.openxmlformats.org/drawingml/2006/main">
              <a:ext uri="{FF2B5EF4-FFF2-40B4-BE49-F238E27FC236}">
                <a16:creationId xmlns:a16="http://schemas.microsoft.com/office/drawing/2014/main" id="{C3BF2DB0-3EF2-4518-8AE3-B48E23661FFD}"/>
              </a:ext>
            </a:extLst>
          </p:cNvPr>
          <p:cNvSpPr>
            <a:spLocks xmlns:a="http://schemas.openxmlformats.org/drawingml/2006/main" noGrp="1"/>
          </p:cNvSpPr>
          <p:nvPr/>
        </p:nvSpPr>
        <p:spPr>
          <a:xfrm xmlns:a="http://schemas.openxmlformats.org/drawingml/2006/main" rot="0" flipH="0" flipV="0">
            <a:off x="6510528" y="2496312"/>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1</a:t>
            </a:r>
            <a:endParaRPr sz="1050"/>
          </a:p>
        </p:txBody>
      </p:sp>
      <p:sp>
        <p:nvSpPr>
          <p:cNvPr id="15" name="Text 13">
            <a:extLst xmlns:a="http://schemas.openxmlformats.org/drawingml/2006/main">
              <a:ext uri="{FF2B5EF4-FFF2-40B4-BE49-F238E27FC236}">
                <a16:creationId xmlns:a16="http://schemas.microsoft.com/office/drawing/2014/main" id="{12DA20BD-66A3-452E-AF59-883487DA0F1E}"/>
              </a:ext>
            </a:extLst>
          </p:cNvPr>
          <p:cNvSpPr>
            <a:spLocks xmlns:a="http://schemas.openxmlformats.org/drawingml/2006/main" noGrp="1"/>
          </p:cNvSpPr>
          <p:nvPr/>
        </p:nvSpPr>
        <p:spPr>
          <a:xfrm xmlns:a="http://schemas.openxmlformats.org/drawingml/2006/main" rot="0" flipH="0" flipV="0">
            <a:off x="7004304" y="2455164"/>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Reward loops + compulsive use</a:t>
            </a:r>
            <a:endParaRPr sz="1200"/>
          </a:p>
        </p:txBody>
      </p:sp>
      <p:sp>
        <p:nvSpPr>
          <p:cNvPr id="16" name="Text 14">
            <a:extLst xmlns:a="http://schemas.openxmlformats.org/drawingml/2006/main">
              <a:ext uri="{FF2B5EF4-FFF2-40B4-BE49-F238E27FC236}">
                <a16:creationId xmlns:a16="http://schemas.microsoft.com/office/drawing/2014/main" id="{89603BB1-8CC8-4D03-BEB8-259688C8DB79}"/>
              </a:ext>
            </a:extLst>
          </p:cNvPr>
          <p:cNvSpPr>
            <a:spLocks xmlns:a="http://schemas.openxmlformats.org/drawingml/2006/main" noGrp="1"/>
          </p:cNvSpPr>
          <p:nvPr/>
        </p:nvSpPr>
        <p:spPr>
          <a:xfrm xmlns:a="http://schemas.openxmlformats.org/drawingml/2006/main" rot="0" flipH="0" flipV="0">
            <a:off x="8577072" y="2340864"/>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Repeated checking and difficulty stopping.</a:t>
            </a:r>
            <a:endParaRPr sz="1050"/>
          </a:p>
        </p:txBody>
      </p:sp>
      <p:sp>
        <p:nvSpPr>
          <p:cNvPr id="17" name="Shape 15">
            <a:extLst xmlns:a="http://schemas.openxmlformats.org/drawingml/2006/main">
              <a:ext uri="{FF2B5EF4-FFF2-40B4-BE49-F238E27FC236}">
                <a16:creationId xmlns:a16="http://schemas.microsoft.com/office/drawing/2014/main" id="{BBB503BE-14CF-4B99-AB69-8518C4D58A0C}"/>
              </a:ext>
            </a:extLst>
          </p:cNvPr>
          <p:cNvSpPr>
            <a:spLocks xmlns:a="http://schemas.openxmlformats.org/drawingml/2006/main" noGrp="1"/>
          </p:cNvSpPr>
          <p:nvPr/>
        </p:nvSpPr>
        <p:spPr>
          <a:xfrm xmlns:a="http://schemas.openxmlformats.org/drawingml/2006/main" rot="0" flipH="0" flipV="0">
            <a:off x="566928" y="2971800"/>
            <a:ext cx="5166360" cy="576072"/>
          </a:xfrm>
          <a:prstGeom xmlns:a="http://schemas.openxmlformats.org/drawingml/2006/main" prst="roundRect">
            <a:avLst/>
          </a:prstGeom>
          <a:solidFill xmlns:a="http://schemas.openxmlformats.org/drawingml/2006/main">
            <a:srgbClr val="F1F8F3"/>
          </a:solidFill>
          <a:ln xmlns:a="http://schemas.openxmlformats.org/drawingml/2006/main" w="12700">
            <a:solidFill>
              <a:srgbClr val="C7E0CF"/>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18" name="Shape 16">
            <a:extLst xmlns:a="http://schemas.openxmlformats.org/drawingml/2006/main">
              <a:ext uri="{FF2B5EF4-FFF2-40B4-BE49-F238E27FC236}">
                <a16:creationId xmlns:a16="http://schemas.microsoft.com/office/drawing/2014/main" id="{00A2FBEB-39F6-4CE7-B3C5-9ECB6B11CC95}"/>
              </a:ext>
            </a:extLst>
          </p:cNvPr>
          <p:cNvSpPr>
            <a:spLocks xmlns:a="http://schemas.openxmlformats.org/drawingml/2006/main" noGrp="1"/>
          </p:cNvSpPr>
          <p:nvPr/>
        </p:nvSpPr>
        <p:spPr>
          <a:xfrm xmlns:a="http://schemas.openxmlformats.org/drawingml/2006/main" rot="0" flipH="0" flipV="0">
            <a:off x="658368" y="3067812"/>
            <a:ext cx="384048" cy="384048"/>
          </a:xfrm>
          <a:prstGeom xmlns:a="http://schemas.openxmlformats.org/drawingml/2006/main" prst="ellipse">
            <a:avLst/>
          </a:prstGeom>
          <a:solidFill xmlns:a="http://schemas.openxmlformats.org/drawingml/2006/main">
            <a:srgbClr val="2D8A57"/>
          </a:solidFill>
          <a:ln xmlns:a="http://schemas.openxmlformats.org/drawingml/2006/main" w="12700">
            <a:solidFill>
              <a:srgbClr val="2D8A57"/>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19" name="Text 17">
            <a:extLst xmlns:a="http://schemas.openxmlformats.org/drawingml/2006/main">
              <a:ext uri="{FF2B5EF4-FFF2-40B4-BE49-F238E27FC236}">
                <a16:creationId xmlns:a16="http://schemas.microsoft.com/office/drawing/2014/main" id="{EF5B34F6-07BC-4800-8992-B3462904B6E3}"/>
              </a:ext>
            </a:extLst>
          </p:cNvPr>
          <p:cNvSpPr>
            <a:spLocks xmlns:a="http://schemas.openxmlformats.org/drawingml/2006/main" noGrp="1"/>
          </p:cNvSpPr>
          <p:nvPr/>
        </p:nvSpPr>
        <p:spPr>
          <a:xfrm xmlns:a="http://schemas.openxmlformats.org/drawingml/2006/main" rot="0" flipH="0" flipV="0">
            <a:off x="658368" y="3200400"/>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2</a:t>
            </a:r>
            <a:endParaRPr sz="1050"/>
          </a:p>
        </p:txBody>
      </p:sp>
      <p:sp>
        <p:nvSpPr>
          <p:cNvPr id="20" name="Text 18">
            <a:extLst xmlns:a="http://schemas.openxmlformats.org/drawingml/2006/main">
              <a:ext uri="{FF2B5EF4-FFF2-40B4-BE49-F238E27FC236}">
                <a16:creationId xmlns:a16="http://schemas.microsoft.com/office/drawing/2014/main" id="{13EA169F-2FCF-467D-9BF4-412C9E749D8B}"/>
              </a:ext>
            </a:extLst>
          </p:cNvPr>
          <p:cNvSpPr>
            <a:spLocks xmlns:a="http://schemas.openxmlformats.org/drawingml/2006/main" noGrp="1"/>
          </p:cNvSpPr>
          <p:nvPr/>
        </p:nvSpPr>
        <p:spPr>
          <a:xfrm xmlns:a="http://schemas.openxmlformats.org/drawingml/2006/main" rot="0" flipH="0" flipV="0">
            <a:off x="1152144" y="3159252"/>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Creativity + making</a:t>
            </a:r>
            <a:endParaRPr sz="1200"/>
          </a:p>
        </p:txBody>
      </p:sp>
      <p:sp>
        <p:nvSpPr>
          <p:cNvPr id="21" name="Text 19">
            <a:extLst xmlns:a="http://schemas.openxmlformats.org/drawingml/2006/main">
              <a:ext uri="{FF2B5EF4-FFF2-40B4-BE49-F238E27FC236}">
                <a16:creationId xmlns:a16="http://schemas.microsoft.com/office/drawing/2014/main" id="{AEA95997-EA2D-4815-AA63-58ED08E2835D}"/>
              </a:ext>
            </a:extLst>
          </p:cNvPr>
          <p:cNvSpPr>
            <a:spLocks xmlns:a="http://schemas.openxmlformats.org/drawingml/2006/main" noGrp="1"/>
          </p:cNvSpPr>
          <p:nvPr/>
        </p:nvSpPr>
        <p:spPr>
          <a:xfrm xmlns:a="http://schemas.openxmlformats.org/drawingml/2006/main" rot="0" flipH="0" flipV="0">
            <a:off x="2724912" y="3044952"/>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Tools for coding, music, stories, and design.</a:t>
            </a:r>
            <a:endParaRPr sz="1050"/>
          </a:p>
        </p:txBody>
      </p:sp>
      <p:sp>
        <p:nvSpPr>
          <p:cNvPr id="22" name="Shape 20">
            <a:extLst xmlns:a="http://schemas.openxmlformats.org/drawingml/2006/main">
              <a:ext uri="{FF2B5EF4-FFF2-40B4-BE49-F238E27FC236}">
                <a16:creationId xmlns:a16="http://schemas.microsoft.com/office/drawing/2014/main" id="{BFCE2EB0-EF63-4DFA-9DE8-83275CEEE4BE}"/>
              </a:ext>
            </a:extLst>
          </p:cNvPr>
          <p:cNvSpPr>
            <a:spLocks xmlns:a="http://schemas.openxmlformats.org/drawingml/2006/main" noGrp="1"/>
          </p:cNvSpPr>
          <p:nvPr/>
        </p:nvSpPr>
        <p:spPr>
          <a:xfrm xmlns:a="http://schemas.openxmlformats.org/drawingml/2006/main" rot="0" flipH="0" flipV="0">
            <a:off x="6419088" y="2971800"/>
            <a:ext cx="5166360" cy="576072"/>
          </a:xfrm>
          <a:prstGeom xmlns:a="http://schemas.openxmlformats.org/drawingml/2006/main" prst="roundRect">
            <a:avLst/>
          </a:prstGeom>
          <a:solidFill xmlns:a="http://schemas.openxmlformats.org/drawingml/2006/main">
            <a:srgbClr val="FCF2EF"/>
          </a:solidFill>
          <a:ln xmlns:a="http://schemas.openxmlformats.org/drawingml/2006/main" w="12700">
            <a:solidFill>
              <a:srgbClr val="E9C8C1"/>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23" name="Shape 21">
            <a:extLst xmlns:a="http://schemas.openxmlformats.org/drawingml/2006/main">
              <a:ext uri="{FF2B5EF4-FFF2-40B4-BE49-F238E27FC236}">
                <a16:creationId xmlns:a16="http://schemas.microsoft.com/office/drawing/2014/main" id="{D7348B81-5BD8-4AA3-90E8-47771C5DA326}"/>
              </a:ext>
            </a:extLst>
          </p:cNvPr>
          <p:cNvSpPr>
            <a:spLocks xmlns:a="http://schemas.openxmlformats.org/drawingml/2006/main" noGrp="1"/>
          </p:cNvSpPr>
          <p:nvPr/>
        </p:nvSpPr>
        <p:spPr>
          <a:xfrm xmlns:a="http://schemas.openxmlformats.org/drawingml/2006/main" rot="0" flipH="0" flipV="0">
            <a:off x="6510528" y="3067812"/>
            <a:ext cx="384048" cy="384048"/>
          </a:xfrm>
          <a:prstGeom xmlns:a="http://schemas.openxmlformats.org/drawingml/2006/main" prst="ellipse">
            <a:avLst/>
          </a:prstGeom>
          <a:solidFill xmlns:a="http://schemas.openxmlformats.org/drawingml/2006/main">
            <a:srgbClr val="C14B48"/>
          </a:solidFill>
          <a:ln xmlns:a="http://schemas.openxmlformats.org/drawingml/2006/main" w="12700">
            <a:solidFill>
              <a:srgbClr val="C14B48"/>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24" name="Text 22">
            <a:extLst xmlns:a="http://schemas.openxmlformats.org/drawingml/2006/main">
              <a:ext uri="{FF2B5EF4-FFF2-40B4-BE49-F238E27FC236}">
                <a16:creationId xmlns:a16="http://schemas.microsoft.com/office/drawing/2014/main" id="{E6FC4FD4-0E64-406E-A577-50F23DEF961B}"/>
              </a:ext>
            </a:extLst>
          </p:cNvPr>
          <p:cNvSpPr>
            <a:spLocks xmlns:a="http://schemas.openxmlformats.org/drawingml/2006/main" noGrp="1"/>
          </p:cNvSpPr>
          <p:nvPr/>
        </p:nvSpPr>
        <p:spPr>
          <a:xfrm xmlns:a="http://schemas.openxmlformats.org/drawingml/2006/main" rot="0" flipH="0" flipV="0">
            <a:off x="6510528" y="3200400"/>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2</a:t>
            </a:r>
            <a:endParaRPr sz="1050"/>
          </a:p>
        </p:txBody>
      </p:sp>
      <p:sp>
        <p:nvSpPr>
          <p:cNvPr id="25" name="Text 23">
            <a:extLst xmlns:a="http://schemas.openxmlformats.org/drawingml/2006/main">
              <a:ext uri="{FF2B5EF4-FFF2-40B4-BE49-F238E27FC236}">
                <a16:creationId xmlns:a16="http://schemas.microsoft.com/office/drawing/2014/main" id="{B3D114AE-1988-4CC9-A41E-1D94AC86E861}"/>
              </a:ext>
            </a:extLst>
          </p:cNvPr>
          <p:cNvSpPr>
            <a:spLocks xmlns:a="http://schemas.openxmlformats.org/drawingml/2006/main" noGrp="1"/>
          </p:cNvSpPr>
          <p:nvPr/>
        </p:nvSpPr>
        <p:spPr>
          <a:xfrm xmlns:a="http://schemas.openxmlformats.org/drawingml/2006/main" rot="0" flipH="0" flipV="0">
            <a:off x="7004304" y="3159252"/>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Sleep + attention</a:t>
            </a:r>
            <a:endParaRPr sz="1200"/>
          </a:p>
        </p:txBody>
      </p:sp>
      <p:sp>
        <p:nvSpPr>
          <p:cNvPr id="26" name="Text 24">
            <a:extLst xmlns:a="http://schemas.openxmlformats.org/drawingml/2006/main">
              <a:ext uri="{FF2B5EF4-FFF2-40B4-BE49-F238E27FC236}">
                <a16:creationId xmlns:a16="http://schemas.microsoft.com/office/drawing/2014/main" id="{B113BE77-F25A-4E6C-AE5D-4B6C70B40346}"/>
              </a:ext>
            </a:extLst>
          </p:cNvPr>
          <p:cNvSpPr>
            <a:spLocks xmlns:a="http://schemas.openxmlformats.org/drawingml/2006/main" noGrp="1"/>
          </p:cNvSpPr>
          <p:nvPr/>
        </p:nvSpPr>
        <p:spPr>
          <a:xfrm xmlns:a="http://schemas.openxmlformats.org/drawingml/2006/main" rot="0" flipH="0" flipV="0">
            <a:off x="8577072" y="3044952"/>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Interruptions and late-night use.</a:t>
            </a:r>
            <a:endParaRPr sz="1050"/>
          </a:p>
        </p:txBody>
      </p:sp>
      <p:sp>
        <p:nvSpPr>
          <p:cNvPr id="27" name="Shape 25">
            <a:extLst xmlns:a="http://schemas.openxmlformats.org/drawingml/2006/main">
              <a:ext uri="{FF2B5EF4-FFF2-40B4-BE49-F238E27FC236}">
                <a16:creationId xmlns:a16="http://schemas.microsoft.com/office/drawing/2014/main" id="{7E11CD6B-8FE8-4CC0-BBBC-1773B0FC396D}"/>
              </a:ext>
            </a:extLst>
          </p:cNvPr>
          <p:cNvSpPr>
            <a:spLocks xmlns:a="http://schemas.openxmlformats.org/drawingml/2006/main" noGrp="1"/>
          </p:cNvSpPr>
          <p:nvPr/>
        </p:nvSpPr>
        <p:spPr>
          <a:xfrm xmlns:a="http://schemas.openxmlformats.org/drawingml/2006/main" rot="0" flipH="0" flipV="0">
            <a:off x="566928" y="3675888"/>
            <a:ext cx="5166360" cy="576072"/>
          </a:xfrm>
          <a:prstGeom xmlns:a="http://schemas.openxmlformats.org/drawingml/2006/main" prst="roundRect">
            <a:avLst/>
          </a:prstGeom>
          <a:solidFill xmlns:a="http://schemas.openxmlformats.org/drawingml/2006/main">
            <a:srgbClr val="F1F8F3"/>
          </a:solidFill>
          <a:ln xmlns:a="http://schemas.openxmlformats.org/drawingml/2006/main" w="12700">
            <a:solidFill>
              <a:srgbClr val="C7E0CF"/>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28" name="Shape 26">
            <a:extLst xmlns:a="http://schemas.openxmlformats.org/drawingml/2006/main">
              <a:ext uri="{FF2B5EF4-FFF2-40B4-BE49-F238E27FC236}">
                <a16:creationId xmlns:a16="http://schemas.microsoft.com/office/drawing/2014/main" id="{61065CE0-254E-4D5A-A426-9853D67D17EA}"/>
              </a:ext>
            </a:extLst>
          </p:cNvPr>
          <p:cNvSpPr>
            <a:spLocks xmlns:a="http://schemas.openxmlformats.org/drawingml/2006/main" noGrp="1"/>
          </p:cNvSpPr>
          <p:nvPr/>
        </p:nvSpPr>
        <p:spPr>
          <a:xfrm xmlns:a="http://schemas.openxmlformats.org/drawingml/2006/main" rot="0" flipH="0" flipV="0">
            <a:off x="658368" y="3771900"/>
            <a:ext cx="384048" cy="384048"/>
          </a:xfrm>
          <a:prstGeom xmlns:a="http://schemas.openxmlformats.org/drawingml/2006/main" prst="ellipse">
            <a:avLst/>
          </a:prstGeom>
          <a:solidFill xmlns:a="http://schemas.openxmlformats.org/drawingml/2006/main">
            <a:srgbClr val="2D8A57"/>
          </a:solidFill>
          <a:ln xmlns:a="http://schemas.openxmlformats.org/drawingml/2006/main" w="12700">
            <a:solidFill>
              <a:srgbClr val="2D8A57"/>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29" name="Text 27">
            <a:extLst xmlns:a="http://schemas.openxmlformats.org/drawingml/2006/main">
              <a:ext uri="{FF2B5EF4-FFF2-40B4-BE49-F238E27FC236}">
                <a16:creationId xmlns:a16="http://schemas.microsoft.com/office/drawing/2014/main" id="{23A1838B-3956-44AF-8494-1F6A0FC4CDB6}"/>
              </a:ext>
            </a:extLst>
          </p:cNvPr>
          <p:cNvSpPr>
            <a:spLocks xmlns:a="http://schemas.openxmlformats.org/drawingml/2006/main" noGrp="1"/>
          </p:cNvSpPr>
          <p:nvPr/>
        </p:nvSpPr>
        <p:spPr>
          <a:xfrm xmlns:a="http://schemas.openxmlformats.org/drawingml/2006/main" rot="0" flipH="0" flipV="0">
            <a:off x="658368" y="3904488"/>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3</a:t>
            </a:r>
            <a:endParaRPr sz="1050"/>
          </a:p>
        </p:txBody>
      </p:sp>
      <p:sp>
        <p:nvSpPr>
          <p:cNvPr id="30" name="Text 28">
            <a:extLst xmlns:a="http://schemas.openxmlformats.org/drawingml/2006/main">
              <a:ext uri="{FF2B5EF4-FFF2-40B4-BE49-F238E27FC236}">
                <a16:creationId xmlns:a16="http://schemas.microsoft.com/office/drawing/2014/main" id="{59690E42-1FF4-4B8E-9501-87C41CAD9689}"/>
              </a:ext>
            </a:extLst>
          </p:cNvPr>
          <p:cNvSpPr>
            <a:spLocks xmlns:a="http://schemas.openxmlformats.org/drawingml/2006/main" noGrp="1"/>
          </p:cNvSpPr>
          <p:nvPr/>
        </p:nvSpPr>
        <p:spPr>
          <a:xfrm xmlns:a="http://schemas.openxmlformats.org/drawingml/2006/main" rot="0" flipH="0" flipV="0">
            <a:off x="1152144" y="3863340"/>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Connection + belonging</a:t>
            </a:r>
            <a:endParaRPr sz="1200"/>
          </a:p>
        </p:txBody>
      </p:sp>
      <p:sp>
        <p:nvSpPr>
          <p:cNvPr id="31" name="Text 29">
            <a:extLst xmlns:a="http://schemas.openxmlformats.org/drawingml/2006/main">
              <a:ext uri="{FF2B5EF4-FFF2-40B4-BE49-F238E27FC236}">
                <a16:creationId xmlns:a16="http://schemas.microsoft.com/office/drawing/2014/main" id="{146F0F68-152E-4AB9-A8AD-BE30DD0A1A69}"/>
              </a:ext>
            </a:extLst>
          </p:cNvPr>
          <p:cNvSpPr>
            <a:spLocks xmlns:a="http://schemas.openxmlformats.org/drawingml/2006/main" noGrp="1"/>
          </p:cNvSpPr>
          <p:nvPr/>
        </p:nvSpPr>
        <p:spPr>
          <a:xfrm xmlns:a="http://schemas.openxmlformats.org/drawingml/2006/main" rot="0" flipH="0" flipV="0">
            <a:off x="2724912" y="3749040"/>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Meaningful contact with friends and family.</a:t>
            </a:r>
            <a:endParaRPr sz="1050"/>
          </a:p>
        </p:txBody>
      </p:sp>
      <p:sp>
        <p:nvSpPr>
          <p:cNvPr id="32" name="Shape 30">
            <a:extLst xmlns:a="http://schemas.openxmlformats.org/drawingml/2006/main">
              <a:ext uri="{FF2B5EF4-FFF2-40B4-BE49-F238E27FC236}">
                <a16:creationId xmlns:a16="http://schemas.microsoft.com/office/drawing/2014/main" id="{74DDDACD-6985-4F3E-8B02-A697B0FCE159}"/>
              </a:ext>
            </a:extLst>
          </p:cNvPr>
          <p:cNvSpPr>
            <a:spLocks xmlns:a="http://schemas.openxmlformats.org/drawingml/2006/main" noGrp="1"/>
          </p:cNvSpPr>
          <p:nvPr/>
        </p:nvSpPr>
        <p:spPr>
          <a:xfrm xmlns:a="http://schemas.openxmlformats.org/drawingml/2006/main" rot="0" flipH="0" flipV="0">
            <a:off x="6419088" y="3675888"/>
            <a:ext cx="5166360" cy="576072"/>
          </a:xfrm>
          <a:prstGeom xmlns:a="http://schemas.openxmlformats.org/drawingml/2006/main" prst="roundRect">
            <a:avLst/>
          </a:prstGeom>
          <a:solidFill xmlns:a="http://schemas.openxmlformats.org/drawingml/2006/main">
            <a:srgbClr val="FCF2EF"/>
          </a:solidFill>
          <a:ln xmlns:a="http://schemas.openxmlformats.org/drawingml/2006/main" w="12700">
            <a:solidFill>
              <a:srgbClr val="E9C8C1"/>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3" name="Shape 31">
            <a:extLst xmlns:a="http://schemas.openxmlformats.org/drawingml/2006/main">
              <a:ext uri="{FF2B5EF4-FFF2-40B4-BE49-F238E27FC236}">
                <a16:creationId xmlns:a16="http://schemas.microsoft.com/office/drawing/2014/main" id="{5B422383-1E01-43A6-82E4-C991C89CF7AD}"/>
              </a:ext>
            </a:extLst>
          </p:cNvPr>
          <p:cNvSpPr>
            <a:spLocks xmlns:a="http://schemas.openxmlformats.org/drawingml/2006/main" noGrp="1"/>
          </p:cNvSpPr>
          <p:nvPr/>
        </p:nvSpPr>
        <p:spPr>
          <a:xfrm xmlns:a="http://schemas.openxmlformats.org/drawingml/2006/main" rot="0" flipH="0" flipV="0">
            <a:off x="6510528" y="3771900"/>
            <a:ext cx="384048" cy="384048"/>
          </a:xfrm>
          <a:prstGeom xmlns:a="http://schemas.openxmlformats.org/drawingml/2006/main" prst="ellipse">
            <a:avLst/>
          </a:prstGeom>
          <a:solidFill xmlns:a="http://schemas.openxmlformats.org/drawingml/2006/main">
            <a:srgbClr val="C14B48"/>
          </a:solidFill>
          <a:ln xmlns:a="http://schemas.openxmlformats.org/drawingml/2006/main" w="12700">
            <a:solidFill>
              <a:srgbClr val="C14B48"/>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4" name="Text 32">
            <a:extLst xmlns:a="http://schemas.openxmlformats.org/drawingml/2006/main">
              <a:ext uri="{FF2B5EF4-FFF2-40B4-BE49-F238E27FC236}">
                <a16:creationId xmlns:a16="http://schemas.microsoft.com/office/drawing/2014/main" id="{B5C33F60-D923-47C1-953D-C1C00A7782AB}"/>
              </a:ext>
            </a:extLst>
          </p:cNvPr>
          <p:cNvSpPr>
            <a:spLocks xmlns:a="http://schemas.openxmlformats.org/drawingml/2006/main" noGrp="1"/>
          </p:cNvSpPr>
          <p:nvPr/>
        </p:nvSpPr>
        <p:spPr>
          <a:xfrm xmlns:a="http://schemas.openxmlformats.org/drawingml/2006/main" rot="0" flipH="0" flipV="0">
            <a:off x="6510528" y="3904488"/>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3</a:t>
            </a:r>
            <a:endParaRPr sz="1050"/>
          </a:p>
        </p:txBody>
      </p:sp>
      <p:sp>
        <p:nvSpPr>
          <p:cNvPr id="35" name="Text 33">
            <a:extLst xmlns:a="http://schemas.openxmlformats.org/drawingml/2006/main">
              <a:ext uri="{FF2B5EF4-FFF2-40B4-BE49-F238E27FC236}">
                <a16:creationId xmlns:a16="http://schemas.microsoft.com/office/drawing/2014/main" id="{43C5C538-9595-4985-BB6A-9ECC18DBBEEA}"/>
              </a:ext>
            </a:extLst>
          </p:cNvPr>
          <p:cNvSpPr>
            <a:spLocks xmlns:a="http://schemas.openxmlformats.org/drawingml/2006/main" noGrp="1"/>
          </p:cNvSpPr>
          <p:nvPr/>
        </p:nvSpPr>
        <p:spPr>
          <a:xfrm xmlns:a="http://schemas.openxmlformats.org/drawingml/2006/main" rot="0" flipH="0" flipV="0">
            <a:off x="7004304" y="3863340"/>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Physical health + development</a:t>
            </a:r>
            <a:endParaRPr sz="1200"/>
          </a:p>
        </p:txBody>
      </p:sp>
      <p:sp>
        <p:nvSpPr>
          <p:cNvPr id="36" name="Text 34">
            <a:extLst xmlns:a="http://schemas.openxmlformats.org/drawingml/2006/main">
              <a:ext uri="{FF2B5EF4-FFF2-40B4-BE49-F238E27FC236}">
                <a16:creationId xmlns:a16="http://schemas.microsoft.com/office/drawing/2014/main" id="{40343E8C-C347-41CD-A58A-18C1678F3AAC}"/>
              </a:ext>
            </a:extLst>
          </p:cNvPr>
          <p:cNvSpPr>
            <a:spLocks xmlns:a="http://schemas.openxmlformats.org/drawingml/2006/main" noGrp="1"/>
          </p:cNvSpPr>
          <p:nvPr/>
        </p:nvSpPr>
        <p:spPr>
          <a:xfrm xmlns:a="http://schemas.openxmlformats.org/drawingml/2006/main" rot="0" flipH="0" flipV="0">
            <a:off x="8577072" y="3749040"/>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Less time for movement and outdoor play.</a:t>
            </a:r>
            <a:endParaRPr sz="1050"/>
          </a:p>
        </p:txBody>
      </p:sp>
      <p:sp>
        <p:nvSpPr>
          <p:cNvPr id="37" name="Shape 35">
            <a:extLst xmlns:a="http://schemas.openxmlformats.org/drawingml/2006/main">
              <a:ext uri="{FF2B5EF4-FFF2-40B4-BE49-F238E27FC236}">
                <a16:creationId xmlns:a16="http://schemas.microsoft.com/office/drawing/2014/main" id="{C62FD072-B43D-4E4D-B90B-87D20E17F8BA}"/>
              </a:ext>
            </a:extLst>
          </p:cNvPr>
          <p:cNvSpPr>
            <a:spLocks xmlns:a="http://schemas.openxmlformats.org/drawingml/2006/main" noGrp="1"/>
          </p:cNvSpPr>
          <p:nvPr/>
        </p:nvSpPr>
        <p:spPr>
          <a:xfrm xmlns:a="http://schemas.openxmlformats.org/drawingml/2006/main" rot="0" flipH="0" flipV="0">
            <a:off x="566928" y="4379976"/>
            <a:ext cx="5166360" cy="576072"/>
          </a:xfrm>
          <a:prstGeom xmlns:a="http://schemas.openxmlformats.org/drawingml/2006/main" prst="roundRect">
            <a:avLst/>
          </a:prstGeom>
          <a:solidFill xmlns:a="http://schemas.openxmlformats.org/drawingml/2006/main">
            <a:srgbClr val="F1F8F3"/>
          </a:solidFill>
          <a:ln xmlns:a="http://schemas.openxmlformats.org/drawingml/2006/main" w="12700">
            <a:solidFill>
              <a:srgbClr val="C7E0CF"/>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8" name="Shape 36">
            <a:extLst xmlns:a="http://schemas.openxmlformats.org/drawingml/2006/main">
              <a:ext uri="{FF2B5EF4-FFF2-40B4-BE49-F238E27FC236}">
                <a16:creationId xmlns:a16="http://schemas.microsoft.com/office/drawing/2014/main" id="{0E5A8279-6BB0-4AF7-93A8-E2D9FBDB5E91}"/>
              </a:ext>
            </a:extLst>
          </p:cNvPr>
          <p:cNvSpPr>
            <a:spLocks xmlns:a="http://schemas.openxmlformats.org/drawingml/2006/main" noGrp="1"/>
          </p:cNvSpPr>
          <p:nvPr/>
        </p:nvSpPr>
        <p:spPr>
          <a:xfrm xmlns:a="http://schemas.openxmlformats.org/drawingml/2006/main" rot="0" flipH="0" flipV="0">
            <a:off x="658368" y="4475988"/>
            <a:ext cx="384048" cy="384048"/>
          </a:xfrm>
          <a:prstGeom xmlns:a="http://schemas.openxmlformats.org/drawingml/2006/main" prst="ellipse">
            <a:avLst/>
          </a:prstGeom>
          <a:solidFill xmlns:a="http://schemas.openxmlformats.org/drawingml/2006/main">
            <a:srgbClr val="2D8A57"/>
          </a:solidFill>
          <a:ln xmlns:a="http://schemas.openxmlformats.org/drawingml/2006/main" w="12700">
            <a:solidFill>
              <a:srgbClr val="2D8A57"/>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9" name="Text 37">
            <a:extLst xmlns:a="http://schemas.openxmlformats.org/drawingml/2006/main">
              <a:ext uri="{FF2B5EF4-FFF2-40B4-BE49-F238E27FC236}">
                <a16:creationId xmlns:a16="http://schemas.microsoft.com/office/drawing/2014/main" id="{8B7033D2-3F32-4A13-8681-EED72CA96F98}"/>
              </a:ext>
            </a:extLst>
          </p:cNvPr>
          <p:cNvSpPr>
            <a:spLocks xmlns:a="http://schemas.openxmlformats.org/drawingml/2006/main" noGrp="1"/>
          </p:cNvSpPr>
          <p:nvPr/>
        </p:nvSpPr>
        <p:spPr>
          <a:xfrm xmlns:a="http://schemas.openxmlformats.org/drawingml/2006/main" rot="0" flipH="0" flipV="0">
            <a:off x="658368" y="4608576"/>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4</a:t>
            </a:r>
            <a:endParaRPr sz="1050"/>
          </a:p>
        </p:txBody>
      </p:sp>
      <p:sp>
        <p:nvSpPr>
          <p:cNvPr id="40" name="Text 38">
            <a:extLst xmlns:a="http://schemas.openxmlformats.org/drawingml/2006/main">
              <a:ext uri="{FF2B5EF4-FFF2-40B4-BE49-F238E27FC236}">
                <a16:creationId xmlns:a16="http://schemas.microsoft.com/office/drawing/2014/main" id="{389AE377-364F-4041-9C2F-D58F153C768C}"/>
              </a:ext>
            </a:extLst>
          </p:cNvPr>
          <p:cNvSpPr>
            <a:spLocks xmlns:a="http://schemas.openxmlformats.org/drawingml/2006/main" noGrp="1"/>
          </p:cNvSpPr>
          <p:nvPr/>
        </p:nvSpPr>
        <p:spPr>
          <a:xfrm xmlns:a="http://schemas.openxmlformats.org/drawingml/2006/main" rot="0" flipH="0" flipV="0">
            <a:off x="1152144" y="4567428"/>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Future skills + agency</a:t>
            </a:r>
            <a:endParaRPr sz="1200"/>
          </a:p>
        </p:txBody>
      </p:sp>
      <p:sp>
        <p:nvSpPr>
          <p:cNvPr id="41" name="Text 39">
            <a:extLst xmlns:a="http://schemas.openxmlformats.org/drawingml/2006/main">
              <a:ext uri="{FF2B5EF4-FFF2-40B4-BE49-F238E27FC236}">
                <a16:creationId xmlns:a16="http://schemas.microsoft.com/office/drawing/2014/main" id="{0E4F76BF-255E-4A89-AB25-809E567C2AAA}"/>
              </a:ext>
            </a:extLst>
          </p:cNvPr>
          <p:cNvSpPr>
            <a:spLocks xmlns:a="http://schemas.openxmlformats.org/drawingml/2006/main" noGrp="1"/>
          </p:cNvSpPr>
          <p:nvPr/>
        </p:nvSpPr>
        <p:spPr>
          <a:xfrm xmlns:a="http://schemas.openxmlformats.org/drawingml/2006/main" rot="0" flipH="0" flipV="0">
            <a:off x="2724912" y="4453128"/>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Practice checking sources and AI outputs.</a:t>
            </a:r>
            <a:endParaRPr sz="1050"/>
          </a:p>
        </p:txBody>
      </p:sp>
      <p:sp>
        <p:nvSpPr>
          <p:cNvPr id="42" name="Shape 40">
            <a:extLst xmlns:a="http://schemas.openxmlformats.org/drawingml/2006/main">
              <a:ext uri="{FF2B5EF4-FFF2-40B4-BE49-F238E27FC236}">
                <a16:creationId xmlns:a16="http://schemas.microsoft.com/office/drawing/2014/main" id="{34C36DF3-C664-4D8E-A4ED-C4742F2055B5}"/>
              </a:ext>
            </a:extLst>
          </p:cNvPr>
          <p:cNvSpPr>
            <a:spLocks xmlns:a="http://schemas.openxmlformats.org/drawingml/2006/main" noGrp="1"/>
          </p:cNvSpPr>
          <p:nvPr/>
        </p:nvSpPr>
        <p:spPr>
          <a:xfrm xmlns:a="http://schemas.openxmlformats.org/drawingml/2006/main" rot="0" flipH="0" flipV="0">
            <a:off x="6419088" y="4379976"/>
            <a:ext cx="5166360" cy="576072"/>
          </a:xfrm>
          <a:prstGeom xmlns:a="http://schemas.openxmlformats.org/drawingml/2006/main" prst="roundRect">
            <a:avLst/>
          </a:prstGeom>
          <a:solidFill xmlns:a="http://schemas.openxmlformats.org/drawingml/2006/main">
            <a:srgbClr val="FCF2EF"/>
          </a:solidFill>
          <a:ln xmlns:a="http://schemas.openxmlformats.org/drawingml/2006/main" w="12700">
            <a:solidFill>
              <a:srgbClr val="E9C8C1"/>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43" name="Shape 41">
            <a:extLst xmlns:a="http://schemas.openxmlformats.org/drawingml/2006/main">
              <a:ext uri="{FF2B5EF4-FFF2-40B4-BE49-F238E27FC236}">
                <a16:creationId xmlns:a16="http://schemas.microsoft.com/office/drawing/2014/main" id="{10263E15-AB1F-43E6-BF88-D3DBA1078E04}"/>
              </a:ext>
            </a:extLst>
          </p:cNvPr>
          <p:cNvSpPr>
            <a:spLocks xmlns:a="http://schemas.openxmlformats.org/drawingml/2006/main" noGrp="1"/>
          </p:cNvSpPr>
          <p:nvPr/>
        </p:nvSpPr>
        <p:spPr>
          <a:xfrm xmlns:a="http://schemas.openxmlformats.org/drawingml/2006/main" rot="0" flipH="0" flipV="0">
            <a:off x="6510528" y="4475988"/>
            <a:ext cx="384048" cy="384048"/>
          </a:xfrm>
          <a:prstGeom xmlns:a="http://schemas.openxmlformats.org/drawingml/2006/main" prst="ellipse">
            <a:avLst/>
          </a:prstGeom>
          <a:solidFill xmlns:a="http://schemas.openxmlformats.org/drawingml/2006/main">
            <a:srgbClr val="C14B48"/>
          </a:solidFill>
          <a:ln xmlns:a="http://schemas.openxmlformats.org/drawingml/2006/main" w="12700">
            <a:solidFill>
              <a:srgbClr val="C14B48"/>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44" name="Text 42">
            <a:extLst xmlns:a="http://schemas.openxmlformats.org/drawingml/2006/main">
              <a:ext uri="{FF2B5EF4-FFF2-40B4-BE49-F238E27FC236}">
                <a16:creationId xmlns:a16="http://schemas.microsoft.com/office/drawing/2014/main" id="{DDBF39F6-A94C-41D8-82AD-D99C17EE79C4}"/>
              </a:ext>
            </a:extLst>
          </p:cNvPr>
          <p:cNvSpPr>
            <a:spLocks xmlns:a="http://schemas.openxmlformats.org/drawingml/2006/main" noGrp="1"/>
          </p:cNvSpPr>
          <p:nvPr/>
        </p:nvSpPr>
        <p:spPr>
          <a:xfrm xmlns:a="http://schemas.openxmlformats.org/drawingml/2006/main" rot="0" flipH="0" flipV="0">
            <a:off x="6510528" y="4608576"/>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4</a:t>
            </a:r>
            <a:endParaRPr sz="1050"/>
          </a:p>
        </p:txBody>
      </p:sp>
      <p:sp>
        <p:nvSpPr>
          <p:cNvPr id="45" name="Text 43">
            <a:extLst xmlns:a="http://schemas.openxmlformats.org/drawingml/2006/main">
              <a:ext uri="{FF2B5EF4-FFF2-40B4-BE49-F238E27FC236}">
                <a16:creationId xmlns:a16="http://schemas.microsoft.com/office/drawing/2014/main" id="{C6A80CA5-D091-4A83-8F1A-0ECFB1E6FB9E}"/>
              </a:ext>
            </a:extLst>
          </p:cNvPr>
          <p:cNvSpPr>
            <a:spLocks xmlns:a="http://schemas.openxmlformats.org/drawingml/2006/main" noGrp="1"/>
          </p:cNvSpPr>
          <p:nvPr/>
        </p:nvSpPr>
        <p:spPr>
          <a:xfrm xmlns:a="http://schemas.openxmlformats.org/drawingml/2006/main" rot="0" flipH="0" flipV="0">
            <a:off x="7004304" y="4567428"/>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Mental health + self-image</a:t>
            </a:r>
            <a:endParaRPr sz="1200"/>
          </a:p>
        </p:txBody>
      </p:sp>
      <p:sp>
        <p:nvSpPr>
          <p:cNvPr id="46" name="Text 44">
            <a:extLst xmlns:a="http://schemas.openxmlformats.org/drawingml/2006/main">
              <a:ext uri="{FF2B5EF4-FFF2-40B4-BE49-F238E27FC236}">
                <a16:creationId xmlns:a16="http://schemas.microsoft.com/office/drawing/2014/main" id="{CFFDB2E5-CC80-43F8-98F2-308842D58387}"/>
              </a:ext>
            </a:extLst>
          </p:cNvPr>
          <p:cNvSpPr>
            <a:spLocks xmlns:a="http://schemas.openxmlformats.org/drawingml/2006/main" noGrp="1"/>
          </p:cNvSpPr>
          <p:nvPr/>
        </p:nvSpPr>
        <p:spPr>
          <a:xfrm xmlns:a="http://schemas.openxmlformats.org/drawingml/2006/main" rot="0" flipH="0" flipV="0">
            <a:off x="8577072" y="4453128"/>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Harmful content and social comparison.</a:t>
            </a:r>
            <a:endParaRPr sz="1050"/>
          </a:p>
        </p:txBody>
      </p:sp>
      <p:sp>
        <p:nvSpPr>
          <p:cNvPr id="47" name="Shape 45">
            <a:extLst xmlns:a="http://schemas.openxmlformats.org/drawingml/2006/main">
              <a:ext uri="{FF2B5EF4-FFF2-40B4-BE49-F238E27FC236}">
                <a16:creationId xmlns:a16="http://schemas.microsoft.com/office/drawing/2014/main" id="{84117DF9-CF48-4AC8-9C84-D7F5AD3C0175}"/>
              </a:ext>
            </a:extLst>
          </p:cNvPr>
          <p:cNvSpPr>
            <a:spLocks xmlns:a="http://schemas.openxmlformats.org/drawingml/2006/main" noGrp="1"/>
          </p:cNvSpPr>
          <p:nvPr/>
        </p:nvSpPr>
        <p:spPr>
          <a:xfrm xmlns:a="http://schemas.openxmlformats.org/drawingml/2006/main" rot="0" flipH="0" flipV="0">
            <a:off x="566928" y="5084064"/>
            <a:ext cx="5166360" cy="576072"/>
          </a:xfrm>
          <a:prstGeom xmlns:a="http://schemas.openxmlformats.org/drawingml/2006/main" prst="roundRect">
            <a:avLst/>
          </a:prstGeom>
          <a:solidFill xmlns:a="http://schemas.openxmlformats.org/drawingml/2006/main">
            <a:srgbClr val="F1F8F3"/>
          </a:solidFill>
          <a:ln xmlns:a="http://schemas.openxmlformats.org/drawingml/2006/main" w="12700">
            <a:solidFill>
              <a:srgbClr val="C7E0CF"/>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48" name="Shape 46">
            <a:extLst xmlns:a="http://schemas.openxmlformats.org/drawingml/2006/main">
              <a:ext uri="{FF2B5EF4-FFF2-40B4-BE49-F238E27FC236}">
                <a16:creationId xmlns:a16="http://schemas.microsoft.com/office/drawing/2014/main" id="{445E217C-2A42-4128-A102-20FC8FC0CF0A}"/>
              </a:ext>
            </a:extLst>
          </p:cNvPr>
          <p:cNvSpPr>
            <a:spLocks xmlns:a="http://schemas.openxmlformats.org/drawingml/2006/main" noGrp="1"/>
          </p:cNvSpPr>
          <p:nvPr/>
        </p:nvSpPr>
        <p:spPr>
          <a:xfrm xmlns:a="http://schemas.openxmlformats.org/drawingml/2006/main" rot="0" flipH="0" flipV="0">
            <a:off x="658368" y="5180076"/>
            <a:ext cx="384048" cy="384048"/>
          </a:xfrm>
          <a:prstGeom xmlns:a="http://schemas.openxmlformats.org/drawingml/2006/main" prst="ellipse">
            <a:avLst/>
          </a:prstGeom>
          <a:solidFill xmlns:a="http://schemas.openxmlformats.org/drawingml/2006/main">
            <a:srgbClr val="2D8A57"/>
          </a:solidFill>
          <a:ln xmlns:a="http://schemas.openxmlformats.org/drawingml/2006/main" w="12700">
            <a:solidFill>
              <a:srgbClr val="2D8A57"/>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49" name="Text 47">
            <a:extLst xmlns:a="http://schemas.openxmlformats.org/drawingml/2006/main">
              <a:ext uri="{FF2B5EF4-FFF2-40B4-BE49-F238E27FC236}">
                <a16:creationId xmlns:a16="http://schemas.microsoft.com/office/drawing/2014/main" id="{9D13234B-214A-4FF3-B967-73F364C22E67}"/>
              </a:ext>
            </a:extLst>
          </p:cNvPr>
          <p:cNvSpPr>
            <a:spLocks xmlns:a="http://schemas.openxmlformats.org/drawingml/2006/main" noGrp="1"/>
          </p:cNvSpPr>
          <p:nvPr/>
        </p:nvSpPr>
        <p:spPr>
          <a:xfrm xmlns:a="http://schemas.openxmlformats.org/drawingml/2006/main" rot="0" flipH="0" flipV="0">
            <a:off x="658368" y="5312664"/>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5</a:t>
            </a:r>
            <a:endParaRPr sz="1050"/>
          </a:p>
        </p:txBody>
      </p:sp>
      <p:sp>
        <p:nvSpPr>
          <p:cNvPr id="50" name="Text 48">
            <a:extLst xmlns:a="http://schemas.openxmlformats.org/drawingml/2006/main">
              <a:ext uri="{FF2B5EF4-FFF2-40B4-BE49-F238E27FC236}">
                <a16:creationId xmlns:a16="http://schemas.microsoft.com/office/drawing/2014/main" id="{054403B9-109C-4807-8959-5004C5EF6BAD}"/>
              </a:ext>
            </a:extLst>
          </p:cNvPr>
          <p:cNvSpPr>
            <a:spLocks xmlns:a="http://schemas.openxmlformats.org/drawingml/2006/main" noGrp="1"/>
          </p:cNvSpPr>
          <p:nvPr/>
        </p:nvSpPr>
        <p:spPr>
          <a:xfrm xmlns:a="http://schemas.openxmlformats.org/drawingml/2006/main" rot="0" flipH="0" flipV="0">
            <a:off x="1152144" y="5271516"/>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Access + inclusion</a:t>
            </a:r>
            <a:endParaRPr sz="1200"/>
          </a:p>
        </p:txBody>
      </p:sp>
      <p:sp>
        <p:nvSpPr>
          <p:cNvPr id="51" name="Text 49">
            <a:extLst xmlns:a="http://schemas.openxmlformats.org/drawingml/2006/main">
              <a:ext uri="{FF2B5EF4-FFF2-40B4-BE49-F238E27FC236}">
                <a16:creationId xmlns:a16="http://schemas.microsoft.com/office/drawing/2014/main" id="{78C3DBDE-2DF9-433F-A8DD-5299F4F50FA8}"/>
              </a:ext>
            </a:extLst>
          </p:cNvPr>
          <p:cNvSpPr>
            <a:spLocks xmlns:a="http://schemas.openxmlformats.org/drawingml/2006/main" noGrp="1"/>
          </p:cNvSpPr>
          <p:nvPr/>
        </p:nvSpPr>
        <p:spPr>
          <a:xfrm xmlns:a="http://schemas.openxmlformats.org/drawingml/2006/main" rot="0" flipH="0" flipV="0">
            <a:off x="2724912" y="5157216"/>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Translation and assistive features.</a:t>
            </a:r>
            <a:endParaRPr sz="1050"/>
          </a:p>
        </p:txBody>
      </p:sp>
      <p:sp>
        <p:nvSpPr>
          <p:cNvPr id="52" name="Shape 50">
            <a:extLst xmlns:a="http://schemas.openxmlformats.org/drawingml/2006/main">
              <a:ext uri="{FF2B5EF4-FFF2-40B4-BE49-F238E27FC236}">
                <a16:creationId xmlns:a16="http://schemas.microsoft.com/office/drawing/2014/main" id="{035FDDA3-039A-429D-A3E4-8B6C15362860}"/>
              </a:ext>
            </a:extLst>
          </p:cNvPr>
          <p:cNvSpPr>
            <a:spLocks xmlns:a="http://schemas.openxmlformats.org/drawingml/2006/main" noGrp="1"/>
          </p:cNvSpPr>
          <p:nvPr/>
        </p:nvSpPr>
        <p:spPr>
          <a:xfrm xmlns:a="http://schemas.openxmlformats.org/drawingml/2006/main" rot="0" flipH="0" flipV="0">
            <a:off x="6419088" y="5084064"/>
            <a:ext cx="5166360" cy="576072"/>
          </a:xfrm>
          <a:prstGeom xmlns:a="http://schemas.openxmlformats.org/drawingml/2006/main" prst="roundRect">
            <a:avLst/>
          </a:prstGeom>
          <a:solidFill xmlns:a="http://schemas.openxmlformats.org/drawingml/2006/main">
            <a:srgbClr val="FCF2EF"/>
          </a:solidFill>
          <a:ln xmlns:a="http://schemas.openxmlformats.org/drawingml/2006/main" w="12700">
            <a:solidFill>
              <a:srgbClr val="E9C8C1"/>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53" name="Shape 51">
            <a:extLst xmlns:a="http://schemas.openxmlformats.org/drawingml/2006/main">
              <a:ext uri="{FF2B5EF4-FFF2-40B4-BE49-F238E27FC236}">
                <a16:creationId xmlns:a16="http://schemas.microsoft.com/office/drawing/2014/main" id="{C36CCCDB-02E7-48D6-8683-A80F5D7DDF46}"/>
              </a:ext>
            </a:extLst>
          </p:cNvPr>
          <p:cNvSpPr>
            <a:spLocks xmlns:a="http://schemas.openxmlformats.org/drawingml/2006/main" noGrp="1"/>
          </p:cNvSpPr>
          <p:nvPr/>
        </p:nvSpPr>
        <p:spPr>
          <a:xfrm xmlns:a="http://schemas.openxmlformats.org/drawingml/2006/main" rot="0" flipH="0" flipV="0">
            <a:off x="6510528" y="5180076"/>
            <a:ext cx="384048" cy="384048"/>
          </a:xfrm>
          <a:prstGeom xmlns:a="http://schemas.openxmlformats.org/drawingml/2006/main" prst="ellipse">
            <a:avLst/>
          </a:prstGeom>
          <a:solidFill xmlns:a="http://schemas.openxmlformats.org/drawingml/2006/main">
            <a:srgbClr val="C14B48"/>
          </a:solidFill>
          <a:ln xmlns:a="http://schemas.openxmlformats.org/drawingml/2006/main" w="12700">
            <a:solidFill>
              <a:srgbClr val="C14B48"/>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54" name="Text 52">
            <a:extLst xmlns:a="http://schemas.openxmlformats.org/drawingml/2006/main">
              <a:ext uri="{FF2B5EF4-FFF2-40B4-BE49-F238E27FC236}">
                <a16:creationId xmlns:a16="http://schemas.microsoft.com/office/drawing/2014/main" id="{EEF08951-1AFA-48D7-A8D4-C63347755E97}"/>
              </a:ext>
            </a:extLst>
          </p:cNvPr>
          <p:cNvSpPr>
            <a:spLocks xmlns:a="http://schemas.openxmlformats.org/drawingml/2006/main" noGrp="1"/>
          </p:cNvSpPr>
          <p:nvPr/>
        </p:nvSpPr>
        <p:spPr>
          <a:xfrm xmlns:a="http://schemas.openxmlformats.org/drawingml/2006/main" rot="0" flipH="0" flipV="0">
            <a:off x="6510528" y="5312664"/>
            <a:ext cx="384048"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rPr>
              <a:t>5</a:t>
            </a:r>
            <a:endParaRPr sz="1050"/>
          </a:p>
        </p:txBody>
      </p:sp>
      <p:sp>
        <p:nvSpPr>
          <p:cNvPr id="55" name="Text 53">
            <a:extLst xmlns:a="http://schemas.openxmlformats.org/drawingml/2006/main">
              <a:ext uri="{FF2B5EF4-FFF2-40B4-BE49-F238E27FC236}">
                <a16:creationId xmlns:a16="http://schemas.microsoft.com/office/drawing/2014/main" id="{2F7A5049-735A-4BD1-A09E-EF3F93AE7144}"/>
              </a:ext>
            </a:extLst>
          </p:cNvPr>
          <p:cNvSpPr>
            <a:spLocks xmlns:a="http://schemas.openxmlformats.org/drawingml/2006/main" noGrp="1"/>
          </p:cNvSpPr>
          <p:nvPr/>
        </p:nvSpPr>
        <p:spPr>
          <a:xfrm xmlns:a="http://schemas.openxmlformats.org/drawingml/2006/main" rot="0" flipH="0" flipV="0">
            <a:off x="7004304" y="5271516"/>
            <a:ext cx="1554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2033"/>
                </a:solidFill>
              </a:rPr>
              <a:t>Safety + crowding out</a:t>
            </a:r>
            <a:endParaRPr sz="1200"/>
          </a:p>
        </p:txBody>
      </p:sp>
      <p:sp>
        <p:nvSpPr>
          <p:cNvPr id="56" name="Text 54">
            <a:extLst xmlns:a="http://schemas.openxmlformats.org/drawingml/2006/main">
              <a:ext uri="{FF2B5EF4-FFF2-40B4-BE49-F238E27FC236}">
                <a16:creationId xmlns:a16="http://schemas.microsoft.com/office/drawing/2014/main" id="{75ED7E6E-701B-4667-8DF5-898F5134A542}"/>
              </a:ext>
            </a:extLst>
          </p:cNvPr>
          <p:cNvSpPr>
            <a:spLocks xmlns:a="http://schemas.openxmlformats.org/drawingml/2006/main" noGrp="1"/>
          </p:cNvSpPr>
          <p:nvPr/>
        </p:nvSpPr>
        <p:spPr>
          <a:xfrm xmlns:a="http://schemas.openxmlformats.org/drawingml/2006/main" rot="0" flipH="0" flipV="0">
            <a:off x="8577072" y="5157216"/>
            <a:ext cx="2880360" cy="42976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buNone/>
            </a:pPr>
            <a:r>
              <a:rPr sz="1350">
                <a:solidFill>
                  <a:srgbClr val="6F7782"/>
                </a:solidFill>
              </a:rPr>
              <a:t>Private information and unsafe contacts.</a:t>
            </a:r>
            <a:endParaRPr sz="1050"/>
          </a:p>
        </p:txBody>
      </p:sp>
      <p:sp>
        <p:nvSpPr>
          <p:cNvPr id="57" name="Shape 55">
            <a:extLst xmlns:a="http://schemas.openxmlformats.org/drawingml/2006/main">
              <a:ext uri="{FF2B5EF4-FFF2-40B4-BE49-F238E27FC236}">
                <a16:creationId xmlns:a16="http://schemas.microsoft.com/office/drawing/2014/main" id="{180A75FF-8B48-41A7-A372-660C0E0D0811}"/>
              </a:ext>
            </a:extLst>
          </p:cNvPr>
          <p:cNvSpPr>
            <a:spLocks xmlns:a="http://schemas.openxmlformats.org/drawingml/2006/main" noGrp="1"/>
          </p:cNvSpPr>
          <p:nvPr/>
        </p:nvSpPr>
        <p:spPr>
          <a:xfrm xmlns:a="http://schemas.openxmlformats.org/drawingml/2006/main">
            <a:off x="804672" y="5870448"/>
            <a:ext cx="10515600" cy="475488"/>
          </a:xfrm>
          <a:prstGeom xmlns:a="http://schemas.openxmlformats.org/drawingml/2006/main" prst="roundRect">
            <a:avLst/>
          </a:prstGeom>
          <a:solidFill xmlns:a="http://schemas.openxmlformats.org/drawingml/2006/main">
            <a:srgbClr val="172033"/>
          </a:solidFill>
          <a:ln xmlns:a="http://schemas.openxmlformats.org/drawingml/2006/main" w="12700">
            <a:solidFill>
              <a:srgbClr val="172033"/>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5A099E63-FAB6-41CB-AD7A-D4605A151E45}"/>
              </a:ext>
            </a:extLst>
          </p:cNvPr>
          <p:cNvSpPr>
            <a:spLocks xmlns:a="http://schemas.openxmlformats.org/drawingml/2006/main" noGrp="1"/>
          </p:cNvSpPr>
          <p:nvPr/>
        </p:nvSpPr>
        <p:spPr>
          <a:xfrm xmlns:a="http://schemas.openxmlformats.org/drawingml/2006/main">
            <a:off x="1024128" y="6016752"/>
            <a:ext cx="1097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57C00"/>
                </a:solidFill>
              </a:rPr>
              <a:t>Joolian lens:</a:t>
            </a:r>
            <a:endParaRPr sz="1400"/>
          </a:p>
        </p:txBody>
      </p:sp>
      <p:sp>
        <p:nvSpPr>
          <p:cNvPr id="59" name="Text 57">
            <a:extLst xmlns:a="http://schemas.openxmlformats.org/drawingml/2006/main">
              <a:ext uri="{FF2B5EF4-FFF2-40B4-BE49-F238E27FC236}">
                <a16:creationId xmlns:a16="http://schemas.microsoft.com/office/drawing/2014/main" id="{696CD498-C5FB-4948-9B34-0D5B5F849B43}"/>
              </a:ext>
            </a:extLst>
          </p:cNvPr>
          <p:cNvSpPr>
            <a:spLocks xmlns:a="http://schemas.openxmlformats.org/drawingml/2006/main" noGrp="1"/>
          </p:cNvSpPr>
          <p:nvPr/>
        </p:nvSpPr>
        <p:spPr>
          <a:xfrm xmlns:a="http://schemas.openxmlformats.org/drawingml/2006/main">
            <a:off x="2121408" y="5980176"/>
            <a:ext cx="8641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a:solidFill>
                  <a:srgbClr val="FFFFFF"/>
                </a:solidFill>
              </a:rPr>
              <a:t>Useful digital experiences. More room for life beyond the screen.</a:t>
            </a:r>
            <a:endParaRPr sz="1400"/>
          </a:p>
        </p:txBody>
      </p:sp>
      <p:sp>
        <p:nvSpPr>
          <p:cNvPr id="60" name="Text 58">
            <a:extLst xmlns:a="http://schemas.openxmlformats.org/drawingml/2006/main">
              <a:ext uri="{FF2B5EF4-FFF2-40B4-BE49-F238E27FC236}">
                <a16:creationId xmlns:a16="http://schemas.microsoft.com/office/drawing/2014/main" id="{83984240-9626-45BE-AFBE-4224E9512988}"/>
              </a:ext>
            </a:extLst>
          </p:cNvPr>
          <p:cNvSpPr>
            <a:spLocks xmlns:a="http://schemas.openxmlformats.org/drawingml/2006/main" noGrp="1"/>
          </p:cNvSpPr>
          <p:nvPr/>
        </p:nvSpPr>
        <p:spPr>
          <a:xfrm xmlns:a="http://schemas.openxmlformats.org/drawingml/2006/main">
            <a:off x="685800" y="64008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975"/>
            </a:defPPr>
            <a:lvl1pPr>
              <a:defRPr sz="975"/>
            </a:lvl1pPr>
            <a:lvl2pPr>
              <a:defRPr sz="975"/>
            </a:lvl2pPr>
            <a:lvl3pPr>
              <a:defRPr sz="975"/>
            </a:lvl3pPr>
            <a:lvl4pPr>
              <a:defRPr sz="975"/>
            </a:lvl4pPr>
            <a:lvl5pPr>
              <a:defRPr sz="975"/>
            </a:lvl5pPr>
            <a:lvl6pPr>
              <a:defRPr sz="975"/>
            </a:lvl6pPr>
            <a:lvl7pPr>
              <a:defRPr sz="975"/>
            </a:lvl7pPr>
            <a:lvl8pPr>
              <a:defRPr sz="975"/>
            </a:lvl8pPr>
            <a:lvl9pPr>
              <a:defRPr sz="975"/>
            </a:lvl9pPr>
          </a:lstStyle>
          <a:p xmlns:a="http://schemas.openxmlformats.org/drawingml/2006/main">
            <a:pPr marL="0" indent="0" algn="l">
              <a:buNone/>
            </a:pPr>
            <a:r>
              <a:rPr sz="975">
                <a:solidFill>
                  <a:srgbClr val="6F7782"/>
                </a:solidFill>
              </a:rPr>
              <a:t>Design questions for Joolian. Benefits and risks depend on the child, content, context, and product design.</a:t>
            </a:r>
            <a:endParaRPr sz="720"/>
          </a:p>
        </p:txBody>
      </p:sp>
      <p:sp>
        <p:nvSpPr>
          <p:cNvPr id="61" name="Slide Number Placeholder 0">
            <a:extLst xmlns:a="http://schemas.openxmlformats.org/drawingml/2006/main">
              <a:ext uri="{FF2B5EF4-FFF2-40B4-BE49-F238E27FC236}">
                <a16:creationId xmlns:a16="http://schemas.microsoft.com/office/drawing/2014/main" id="{BC7500E4-3736-4B9F-9B59-67D524C5C82E}"/>
              </a:ext>
            </a:extLst>
          </p:cNvPr>
          <p:cNvSpPr>
            <a:spLocks xmlns:a="http://schemas.openxmlformats.org/drawingml/2006/main" noGrp="1"/>
          </p:cNvSpPr>
          <p:nvPr>
            <p:ph type="sldNum" idx="4294967295"/>
          </p:nvPr>
        </p:nvSpPr>
        <p:spPr>
          <a:xfrm xmlns:a="http://schemas.openxmlformats.org/drawingml/2006/main">
            <a:off x="11887200" y="201168"/>
            <a:ext cx="1905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A0A0A0"/>
                </a:solidFill>
              </a:defRPr>
            </a:lvl1pPr>
          </a:lstStyle>
          <a:p xmlns:a="http://schemas.openxmlformats.org/drawingml/2006/main">
            <a:pPr algn="l">
              <a:buNone/>
            </a:pPr>
            <a:fld id="{EE5B3003-2C54-13C6-9832-7637201064DE}" type="slidenum">
              <a:rPr b="0"/>
              <a:t>5</a:t>
            </a:fld>
            <a:endParaRPr/>
          </a:p>
        </p:txBody>
      </p:sp>
    </p:spTree>
    <p:extLst>
      <p:ext uri="{BB962C8B-B14F-4D97-AF65-F5344CB8AC3E}">
        <p14:creationId xmlns:p14="http://schemas.microsoft.com/office/powerpoint/2010/main" val="121732070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AC2F1B14-6A32-4A9D-BF9E-85FEA05A82D6}"/>
              </a:ext>
            </a:extLst>
          </p:cNvPr>
          <p:cNvSpPr>
            <a:spLocks xmlns:a="http://schemas.openxmlformats.org/drawingml/2006/main" noGrp="1"/>
          </p:cNvSpPr>
          <p:nvPr/>
        </p:nvSpPr>
        <p:spPr>
          <a:xfrm xmlns:a="http://schemas.openxmlformats.org/drawingml/2006/main">
            <a:off x="504825" y="5334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1">
                <a:solidFill>
                  <a:srgbClr val="2F73B9"/>
                </a:solidFill>
                <a:latin typeface="Aptos"/>
                <a:ea typeface="Aptos"/>
                <a:cs typeface="Aptos"/>
              </a:defRPr>
            </a:defPPr>
            <a:lvl1pPr>
              <a:defRPr sz="1050" b="1">
                <a:solidFill>
                  <a:srgbClr val="2F73B9"/>
                </a:solidFill>
                <a:latin typeface="Aptos"/>
                <a:ea typeface="Aptos"/>
                <a:cs typeface="Aptos"/>
              </a:defRPr>
            </a:lvl1pPr>
            <a:lvl2pPr>
              <a:defRPr sz="1050" b="1">
                <a:solidFill>
                  <a:srgbClr val="2F73B9"/>
                </a:solidFill>
                <a:latin typeface="Aptos"/>
                <a:ea typeface="Aptos"/>
                <a:cs typeface="Aptos"/>
              </a:defRPr>
            </a:lvl2pPr>
            <a:lvl3pPr>
              <a:defRPr sz="1050" b="1">
                <a:solidFill>
                  <a:srgbClr val="2F73B9"/>
                </a:solidFill>
                <a:latin typeface="Aptos"/>
                <a:ea typeface="Aptos"/>
                <a:cs typeface="Aptos"/>
              </a:defRPr>
            </a:lvl3pPr>
            <a:lvl4pPr>
              <a:defRPr sz="1050" b="1">
                <a:solidFill>
                  <a:srgbClr val="2F73B9"/>
                </a:solidFill>
                <a:latin typeface="Aptos"/>
                <a:ea typeface="Aptos"/>
                <a:cs typeface="Aptos"/>
              </a:defRPr>
            </a:lvl4pPr>
            <a:lvl5pPr>
              <a:defRPr sz="1050" b="1">
                <a:solidFill>
                  <a:srgbClr val="2F73B9"/>
                </a:solidFill>
                <a:latin typeface="Aptos"/>
                <a:ea typeface="Aptos"/>
                <a:cs typeface="Aptos"/>
              </a:defRPr>
            </a:lvl5pPr>
            <a:lvl6pPr>
              <a:defRPr sz="1050" b="1">
                <a:solidFill>
                  <a:srgbClr val="2F73B9"/>
                </a:solidFill>
                <a:latin typeface="Aptos"/>
                <a:ea typeface="Aptos"/>
                <a:cs typeface="Aptos"/>
              </a:defRPr>
            </a:lvl6pPr>
            <a:lvl7pPr>
              <a:defRPr sz="1050" b="1">
                <a:solidFill>
                  <a:srgbClr val="2F73B9"/>
                </a:solidFill>
                <a:latin typeface="Aptos"/>
                <a:ea typeface="Aptos"/>
                <a:cs typeface="Aptos"/>
              </a:defRPr>
            </a:lvl7pPr>
            <a:lvl8pPr>
              <a:defRPr sz="1050" b="1">
                <a:solidFill>
                  <a:srgbClr val="2F73B9"/>
                </a:solidFill>
                <a:latin typeface="Aptos"/>
                <a:ea typeface="Aptos"/>
                <a:cs typeface="Aptos"/>
              </a:defRPr>
            </a:lvl8pPr>
            <a:lvl9pPr>
              <a:defRPr sz="1050" b="1">
                <a:solidFill>
                  <a:srgbClr val="2F73B9"/>
                </a:solidFill>
                <a:latin typeface="Aptos"/>
                <a:ea typeface="Aptos"/>
                <a:cs typeface="Aptos"/>
              </a:defRPr>
            </a:lvl9pPr>
          </a:lstStyle>
          <a:p xmlns:a="http://schemas.openxmlformats.org/drawingml/2006/main">
            <a:pPr>
              <a:defRPr sz="1050" b="1">
                <a:solidFill>
                  <a:srgbClr val="2F73B9"/>
                </a:solidFill>
                <a:latin typeface="Aptos"/>
                <a:ea typeface="Aptos"/>
                <a:cs typeface="Aptos"/>
              </a:defRPr>
            </a:pPr>
            <a:r>
              <a:rPr sz="1050" b="1">
                <a:solidFill>
                  <a:srgbClr val="2F73B9"/>
                </a:solidFill>
                <a:latin typeface="Aptos"/>
                <a:ea typeface="Aptos"/>
                <a:cs typeface="Aptos"/>
              </a:rPr>
              <a:t>AI PRACTICE 3 OF 6</a:t>
            </a:r>
          </a:p>
        </p:txBody>
      </p:sp>
      <p:sp>
        <p:nvSpPr>
          <p:cNvPr id="2" name="title">
            <a:extLst xmlns:a="http://schemas.openxmlformats.org/drawingml/2006/main">
              <a:ext uri="{FF2B5EF4-FFF2-40B4-BE49-F238E27FC236}">
                <a16:creationId xmlns:a16="http://schemas.microsoft.com/office/drawing/2014/main" id="{9B8F3AF0-755D-4C41-8DA8-DC0EE88BF268}"/>
              </a:ext>
            </a:extLst>
          </p:cNvPr>
          <p:cNvSpPr>
            <a:spLocks xmlns:a="http://schemas.openxmlformats.org/drawingml/2006/main" noGrp="1"/>
          </p:cNvSpPr>
          <p:nvPr/>
        </p:nvSpPr>
        <p:spPr>
          <a:xfrm xmlns:a="http://schemas.openxmlformats.org/drawingml/2006/main">
            <a:off x="504825" y="885825"/>
            <a:ext cx="11182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2033"/>
                </a:solidFill>
                <a:latin typeface="Aptos"/>
                <a:ea typeface="Aptos"/>
                <a:cs typeface="Aptos"/>
              </a:defRPr>
            </a:defPPr>
            <a:lvl1pPr>
              <a:defRPr sz="2850" b="1">
                <a:solidFill>
                  <a:srgbClr val="172033"/>
                </a:solidFill>
                <a:latin typeface="Aptos"/>
                <a:ea typeface="Aptos"/>
                <a:cs typeface="Aptos"/>
              </a:defRPr>
            </a:lvl1pPr>
            <a:lvl2pPr>
              <a:defRPr sz="2850" b="1">
                <a:solidFill>
                  <a:srgbClr val="172033"/>
                </a:solidFill>
                <a:latin typeface="Aptos"/>
                <a:ea typeface="Aptos"/>
                <a:cs typeface="Aptos"/>
              </a:defRPr>
            </a:lvl2pPr>
            <a:lvl3pPr>
              <a:defRPr sz="2850" b="1">
                <a:solidFill>
                  <a:srgbClr val="172033"/>
                </a:solidFill>
                <a:latin typeface="Aptos"/>
                <a:ea typeface="Aptos"/>
                <a:cs typeface="Aptos"/>
              </a:defRPr>
            </a:lvl3pPr>
            <a:lvl4pPr>
              <a:defRPr sz="2850" b="1">
                <a:solidFill>
                  <a:srgbClr val="172033"/>
                </a:solidFill>
                <a:latin typeface="Aptos"/>
                <a:ea typeface="Aptos"/>
                <a:cs typeface="Aptos"/>
              </a:defRPr>
            </a:lvl4pPr>
            <a:lvl5pPr>
              <a:defRPr sz="2850" b="1">
                <a:solidFill>
                  <a:srgbClr val="172033"/>
                </a:solidFill>
                <a:latin typeface="Aptos"/>
                <a:ea typeface="Aptos"/>
                <a:cs typeface="Aptos"/>
              </a:defRPr>
            </a:lvl5pPr>
            <a:lvl6pPr>
              <a:defRPr sz="2850" b="1">
                <a:solidFill>
                  <a:srgbClr val="172033"/>
                </a:solidFill>
                <a:latin typeface="Aptos"/>
                <a:ea typeface="Aptos"/>
                <a:cs typeface="Aptos"/>
              </a:defRPr>
            </a:lvl6pPr>
            <a:lvl7pPr>
              <a:defRPr sz="2850" b="1">
                <a:solidFill>
                  <a:srgbClr val="172033"/>
                </a:solidFill>
                <a:latin typeface="Aptos"/>
                <a:ea typeface="Aptos"/>
                <a:cs typeface="Aptos"/>
              </a:defRPr>
            </a:lvl7pPr>
            <a:lvl8pPr>
              <a:defRPr sz="2850" b="1">
                <a:solidFill>
                  <a:srgbClr val="172033"/>
                </a:solidFill>
                <a:latin typeface="Aptos"/>
                <a:ea typeface="Aptos"/>
                <a:cs typeface="Aptos"/>
              </a:defRPr>
            </a:lvl8pPr>
            <a:lvl9pPr>
              <a:defRPr sz="2850" b="1">
                <a:solidFill>
                  <a:srgbClr val="172033"/>
                </a:solidFill>
                <a:latin typeface="Aptos"/>
                <a:ea typeface="Aptos"/>
                <a:cs typeface="Aptos"/>
              </a:defRPr>
            </a:lvl9pPr>
          </a:lstStyle>
          <a:p xmlns:a="http://schemas.openxmlformats.org/drawingml/2006/main">
            <a:pPr>
              <a:defRPr sz="2850" b="1">
                <a:solidFill>
                  <a:srgbClr val="172033"/>
                </a:solidFill>
                <a:latin typeface="Aptos"/>
                <a:ea typeface="Aptos"/>
                <a:cs typeface="Aptos"/>
              </a:defRPr>
            </a:pPr>
            <a:r>
              <a:rPr sz="2850" b="1">
                <a:solidFill>
                  <a:srgbClr val="172033"/>
                </a:solidFill>
                <a:latin typeface="Aptos"/>
                <a:ea typeface="Aptos"/>
                <a:cs typeface="Aptos"/>
              </a:rPr>
              <a:t>Model choices for Joolian</a:t>
            </a:r>
          </a:p>
        </p:txBody>
      </p:sp>
      <p:sp>
        <p:nvSpPr>
          <p:cNvPr id="3" name="subtitle">
            <a:extLst xmlns:a="http://schemas.openxmlformats.org/drawingml/2006/main">
              <a:ext uri="{FF2B5EF4-FFF2-40B4-BE49-F238E27FC236}">
                <a16:creationId xmlns:a16="http://schemas.microsoft.com/office/drawing/2014/main" id="{E5362197-8965-45C8-BB64-221CF68D3660}"/>
              </a:ext>
            </a:extLst>
          </p:cNvPr>
          <p:cNvSpPr>
            <a:spLocks xmlns:a="http://schemas.openxmlformats.org/drawingml/2006/main" noGrp="1"/>
          </p:cNvSpPr>
          <p:nvPr/>
        </p:nvSpPr>
        <p:spPr>
          <a:xfrm xmlns:a="http://schemas.openxmlformats.org/drawingml/2006/main">
            <a:off x="504825" y="1457325"/>
            <a:ext cx="11182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F7782"/>
                </a:solidFill>
                <a:latin typeface="Aptos"/>
                <a:ea typeface="Aptos"/>
                <a:cs typeface="Aptos"/>
              </a:defRPr>
            </a:defPPr>
            <a:lvl1pPr>
              <a:defRPr sz="1650" b="0">
                <a:solidFill>
                  <a:srgbClr val="6F7782"/>
                </a:solidFill>
                <a:latin typeface="Aptos"/>
                <a:ea typeface="Aptos"/>
                <a:cs typeface="Aptos"/>
              </a:defRPr>
            </a:lvl1pPr>
            <a:lvl2pPr>
              <a:defRPr sz="1650" b="0">
                <a:solidFill>
                  <a:srgbClr val="6F7782"/>
                </a:solidFill>
                <a:latin typeface="Aptos"/>
                <a:ea typeface="Aptos"/>
                <a:cs typeface="Aptos"/>
              </a:defRPr>
            </a:lvl2pPr>
            <a:lvl3pPr>
              <a:defRPr sz="1650" b="0">
                <a:solidFill>
                  <a:srgbClr val="6F7782"/>
                </a:solidFill>
                <a:latin typeface="Aptos"/>
                <a:ea typeface="Aptos"/>
                <a:cs typeface="Aptos"/>
              </a:defRPr>
            </a:lvl3pPr>
            <a:lvl4pPr>
              <a:defRPr sz="1650" b="0">
                <a:solidFill>
                  <a:srgbClr val="6F7782"/>
                </a:solidFill>
                <a:latin typeface="Aptos"/>
                <a:ea typeface="Aptos"/>
                <a:cs typeface="Aptos"/>
              </a:defRPr>
            </a:lvl4pPr>
            <a:lvl5pPr>
              <a:defRPr sz="1650" b="0">
                <a:solidFill>
                  <a:srgbClr val="6F7782"/>
                </a:solidFill>
                <a:latin typeface="Aptos"/>
                <a:ea typeface="Aptos"/>
                <a:cs typeface="Aptos"/>
              </a:defRPr>
            </a:lvl5pPr>
            <a:lvl6pPr>
              <a:defRPr sz="1650" b="0">
                <a:solidFill>
                  <a:srgbClr val="6F7782"/>
                </a:solidFill>
                <a:latin typeface="Aptos"/>
                <a:ea typeface="Aptos"/>
                <a:cs typeface="Aptos"/>
              </a:defRPr>
            </a:lvl6pPr>
            <a:lvl7pPr>
              <a:defRPr sz="1650" b="0">
                <a:solidFill>
                  <a:srgbClr val="6F7782"/>
                </a:solidFill>
                <a:latin typeface="Aptos"/>
                <a:ea typeface="Aptos"/>
                <a:cs typeface="Aptos"/>
              </a:defRPr>
            </a:lvl7pPr>
            <a:lvl8pPr>
              <a:defRPr sz="1650" b="0">
                <a:solidFill>
                  <a:srgbClr val="6F7782"/>
                </a:solidFill>
                <a:latin typeface="Aptos"/>
                <a:ea typeface="Aptos"/>
                <a:cs typeface="Aptos"/>
              </a:defRPr>
            </a:lvl8pPr>
            <a:lvl9pPr>
              <a:defRPr sz="1650" b="0">
                <a:solidFill>
                  <a:srgbClr val="6F7782"/>
                </a:solidFill>
                <a:latin typeface="Aptos"/>
                <a:ea typeface="Aptos"/>
                <a:cs typeface="Aptos"/>
              </a:defRPr>
            </a:lvl9pPr>
          </a:lstStyle>
          <a:p xmlns:a="http://schemas.openxmlformats.org/drawingml/2006/main">
            <a:pPr>
              <a:defRPr sz="1650" b="0">
                <a:solidFill>
                  <a:srgbClr val="6F7782"/>
                </a:solidFill>
                <a:latin typeface="Aptos"/>
                <a:ea typeface="Aptos"/>
                <a:cs typeface="Aptos"/>
              </a:defRPr>
            </a:pPr>
            <a:r>
              <a:rPr sz="1650" b="0">
                <a:solidFill>
                  <a:srgbClr val="6F7782"/>
                </a:solidFill>
                <a:latin typeface="Aptos"/>
                <a:ea typeface="Aptos"/>
                <a:cs typeface="Aptos"/>
              </a:rPr>
              <a:t>An app is the interface. A model generates the response. Connected tools supply data or take actions.</a:t>
            </a:r>
          </a:p>
        </p:txBody>
      </p:sp>
      <p:graphicFrame>
        <p:nvGraphicFramePr>
          <p:cNvPr id="4" name="">
            <a:extLst xmlns:a="http://schemas.openxmlformats.org/drawingml/2006/main">
              <a:ext uri="{FF2B5EF4-FFF2-40B4-BE49-F238E27FC236}">
                <a16:creationId xmlns:a16="http://schemas.microsoft.com/office/drawing/2014/main" id="{41FD2AE2-6989-4131-8D66-E64FD4970A91}"/>
              </a:ext>
            </a:extLst>
          </p:cNvPr>
          <p:cNvGraphicFramePr/>
          <p:nvPr/>
        </p:nvGraphicFramePr>
        <p:xfrm>
          <a:off xmlns:a="http://schemas.openxmlformats.org/drawingml/2006/main" x="504825" y="1981200"/>
          <a:ext xmlns:a="http://schemas.openxmlformats.org/drawingml/2006/main" cx="11182350" cy="2857500"/>
        </p:xfrm>
        <a:graphic xmlns:a="http://schemas.openxmlformats.org/drawingml/2006/main">
          <a:graphicData uri="http://schemas.openxmlformats.org/drawingml/2006/table">
            <a:tbl>
              <a:tblPr/>
              <a:tblGrid>
                <a:gridCol w="2667000"/>
                <a:gridCol w="3238500"/>
                <a:gridCol w="5276850"/>
              </a:tblGrid>
              <a:tr h="714375">
                <a:tc>
                  <a:txBody>
                    <a:bodyPr/>
                    <a:lstStyle/>
                    <a:p>
                      <a:r>
                        <a:rPr sz="1425" b="1">
                          <a:solidFill>
                            <a:srgbClr val="FFFFFF"/>
                          </a:solidFill>
                          <a:latin typeface="Aptos"/>
                          <a:ea typeface="Aptos"/>
                          <a:cs typeface="Aptos"/>
                        </a:rPr>
                        <a:t>Task</a:t>
                      </a:r>
                    </a:p>
                  </a:txBody>
                  <a:tcPr marL="133350" marR="114300" marT="114300" marB="95250" anchor="ctr">
                    <a:lnL w="6668">
                      <a:solidFill>
                        <a:srgbClr val="E2D8C9"/>
                      </a:solidFill>
                    </a:lnL>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Candidate models</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What to compare</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r>
              <a:tr h="714375">
                <a:tc>
                  <a:txBody>
                    <a:bodyPr/>
                    <a:lstStyle/>
                    <a:p>
                      <a:r>
                        <a:rPr sz="1725" b="1">
                          <a:solidFill>
                            <a:srgbClr val="172033"/>
                          </a:solidFill>
                          <a:latin typeface="Aptos"/>
                          <a:ea typeface="Aptos"/>
                          <a:cs typeface="Aptos"/>
                        </a:rPr>
                        <a:t>Extract and route</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725" b="0">
                          <a:solidFill>
                            <a:srgbClr val="172033"/>
                          </a:solidFill>
                          <a:latin typeface="Aptos"/>
                          <a:ea typeface="Aptos"/>
                          <a:cs typeface="Aptos"/>
                        </a:rPr>
                        <a:t>GPT-6 Luna</a:t>
                      </a:r>
                    </a:p>
                    <a:p>
                      <a:r>
                        <a:rPr sz="1725" b="0">
                          <a:solidFill>
                            <a:srgbClr val="172033"/>
                          </a:solidFill>
                          <a:latin typeface="Aptos"/>
                          <a:ea typeface="Aptos"/>
                          <a:cs typeface="Aptos"/>
                        </a:rPr>
                        <a:t>Claude Haiku 5.5</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725" b="0">
                          <a:solidFill>
                            <a:srgbClr val="172033"/>
                          </a:solidFill>
                          <a:latin typeface="Aptos"/>
                          <a:ea typeface="Aptos"/>
                          <a:cs typeface="Aptos"/>
                        </a:rPr>
                        <a:t>Profile accuracy, speed,</a:t>
                      </a:r>
                    </a:p>
                    <a:p>
                      <a:r>
                        <a:rPr sz="1725" b="0">
                          <a:solidFill>
                            <a:srgbClr val="172033"/>
                          </a:solidFill>
                          <a:latin typeface="Aptos"/>
                          <a:ea typeface="Aptos"/>
                          <a:cs typeface="Aptos"/>
                        </a:rPr>
                        <a:t>and cost per completed task</a:t>
                      </a:r>
                    </a:p>
                  </a:txBody>
                  <a:tcPr marL="133350" marR="114300" marT="114300" marB="95250" anchor="ctr">
                    <a:lnR w="6668">
                      <a:solidFill>
                        <a:srgbClr val="E2D8C9"/>
                      </a:solidFill>
                    </a:lnR>
                    <a:lnB w="6668">
                      <a:solidFill>
                        <a:srgbClr val="E2D8C9"/>
                      </a:solidFill>
                    </a:lnB>
                    <a:solidFill>
                      <a:srgbClr val="FFFCF8"/>
                    </a:solidFill>
                  </a:tcPr>
                </a:tc>
              </a:tr>
              <a:tr h="714375">
                <a:tc>
                  <a:txBody>
                    <a:bodyPr/>
                    <a:lstStyle/>
                    <a:p>
                      <a:r>
                        <a:rPr sz="1725" b="1">
                          <a:solidFill>
                            <a:srgbClr val="172033"/>
                          </a:solidFill>
                          <a:latin typeface="Aptos"/>
                          <a:ea typeface="Aptos"/>
                          <a:cs typeface="Aptos"/>
                        </a:rPr>
                        <a:t>Draft and explain</a:t>
                      </a:r>
                    </a:p>
                  </a:txBody>
                  <a:tcPr marL="133350" marR="114300" marT="114300" marB="95250" anchor="ctr">
                    <a:lnL w="6668">
                      <a:solidFill>
                        <a:srgbClr val="E2D8C9"/>
                      </a:solidFill>
                    </a:lnL>
                    <a:lnR w="6668">
                      <a:solidFill>
                        <a:srgbClr val="E2D8C9"/>
                      </a:solidFill>
                    </a:lnR>
                    <a:lnB w="6668">
                      <a:solidFill>
                        <a:srgbClr val="E2D8C9"/>
                      </a:solidFill>
                    </a:lnB>
                    <a:solidFill>
                      <a:srgbClr val="F1EBE1"/>
                    </a:solidFill>
                  </a:tcPr>
                </a:tc>
                <a:tc>
                  <a:txBody>
                    <a:bodyPr/>
                    <a:lstStyle/>
                    <a:p>
                      <a:r>
                        <a:rPr sz="1725" b="0">
                          <a:solidFill>
                            <a:srgbClr val="172033"/>
                          </a:solidFill>
                          <a:latin typeface="Aptos"/>
                          <a:ea typeface="Aptos"/>
                          <a:cs typeface="Aptos"/>
                        </a:rPr>
                        <a:t>GPT-6.1 Sol</a:t>
                      </a:r>
                    </a:p>
                    <a:p>
                      <a:r>
                        <a:rPr sz="1725" b="0">
                          <a:solidFill>
                            <a:srgbClr val="172033"/>
                          </a:solidFill>
                          <a:latin typeface="Aptos"/>
                          <a:ea typeface="Aptos"/>
                          <a:cs typeface="Aptos"/>
                        </a:rPr>
                        <a:t>Claude Sonnet 5.5</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725" b="0">
                          <a:solidFill>
                            <a:srgbClr val="172033"/>
                          </a:solidFill>
                          <a:latin typeface="Aptos"/>
                          <a:ea typeface="Aptos"/>
                          <a:cs typeface="Aptos"/>
                        </a:rPr>
                        <a:t>Clear wording, instruction-following,</a:t>
                      </a:r>
                    </a:p>
                    <a:p>
                      <a:r>
                        <a:rPr sz="1725" b="0">
                          <a:solidFill>
                            <a:srgbClr val="172033"/>
                          </a:solidFill>
                          <a:latin typeface="Aptos"/>
                          <a:ea typeface="Aptos"/>
                          <a:cs typeface="Aptos"/>
                        </a:rPr>
                        <a:t>and grounded explanations</a:t>
                      </a:r>
                    </a:p>
                  </a:txBody>
                  <a:tcPr marL="133350" marR="114300" marT="114300" marB="95250" anchor="ctr">
                    <a:lnR w="6668">
                      <a:solidFill>
                        <a:srgbClr val="E2D8C9"/>
                      </a:solidFill>
                    </a:lnR>
                    <a:lnB w="6668">
                      <a:solidFill>
                        <a:srgbClr val="E2D8C9"/>
                      </a:solidFill>
                    </a:lnB>
                    <a:solidFill>
                      <a:srgbClr val="F1EBE1"/>
                    </a:solidFill>
                  </a:tcPr>
                </a:tc>
              </a:tr>
              <a:tr h="714375">
                <a:tc>
                  <a:txBody>
                    <a:bodyPr/>
                    <a:lstStyle/>
                    <a:p>
                      <a:r>
                        <a:rPr sz="1725" b="1">
                          <a:solidFill>
                            <a:srgbClr val="172033"/>
                          </a:solidFill>
                          <a:latin typeface="Aptos"/>
                          <a:ea typeface="Aptos"/>
                          <a:cs typeface="Aptos"/>
                        </a:rPr>
                        <a:t>Handle harder cases</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725" b="0">
                          <a:solidFill>
                            <a:srgbClr val="172033"/>
                          </a:solidFill>
                          <a:latin typeface="Aptos"/>
                          <a:ea typeface="Aptos"/>
                          <a:cs typeface="Aptos"/>
                        </a:rPr>
                        <a:t>GPT-6 Astra</a:t>
                      </a:r>
                    </a:p>
                    <a:p>
                      <a:r>
                        <a:rPr sz="1725" b="0">
                          <a:solidFill>
                            <a:srgbClr val="172033"/>
                          </a:solidFill>
                          <a:latin typeface="Aptos"/>
                          <a:ea typeface="Aptos"/>
                          <a:cs typeface="Aptos"/>
                        </a:rPr>
                        <a:t>Gemini 4 Argon</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725" b="0">
                          <a:solidFill>
                            <a:srgbClr val="172033"/>
                          </a:solidFill>
                          <a:latin typeface="Aptos"/>
                          <a:ea typeface="Aptos"/>
                          <a:cs typeface="Aptos"/>
                        </a:rPr>
                        <a:t>Quality on ambiguous examples,</a:t>
                      </a:r>
                    </a:p>
                    <a:p>
                      <a:r>
                        <a:rPr sz="1725" b="0">
                          <a:solidFill>
                            <a:srgbClr val="172033"/>
                          </a:solidFill>
                          <a:latin typeface="Aptos"/>
                          <a:ea typeface="Aptos"/>
                          <a:cs typeface="Aptos"/>
                        </a:rPr>
                        <a:t>latency, and willingness to abstain</a:t>
                      </a:r>
                    </a:p>
                  </a:txBody>
                  <a:tcPr marL="133350" marR="114300" marT="114300" marB="95250" anchor="ctr">
                    <a:lnR w="6668">
                      <a:solidFill>
                        <a:srgbClr val="E2D8C9"/>
                      </a:solidFill>
                    </a:lnR>
                    <a:lnB w="6668">
                      <a:solidFill>
                        <a:srgbClr val="E2D8C9"/>
                      </a:solidFill>
                    </a:lnB>
                    <a:solidFill>
                      <a:srgbClr val="FFFCF8"/>
                    </a:solidFill>
                  </a:tcPr>
                </a:tc>
              </a:tr>
            </a:tbl>
          </a:graphicData>
        </a:graphic>
      </p:graphicFrame>
      <p:sp>
        <p:nvSpPr>
          <p:cNvPr id="5" name="selection">
            <a:extLst xmlns:a="http://schemas.openxmlformats.org/drawingml/2006/main">
              <a:ext uri="{FF2B5EF4-FFF2-40B4-BE49-F238E27FC236}">
                <a16:creationId xmlns:a16="http://schemas.microsoft.com/office/drawing/2014/main" id="{D91FB332-ED7C-41DF-982C-048509E5E0DA}"/>
              </a:ext>
            </a:extLst>
          </p:cNvPr>
          <p:cNvSpPr>
            <a:spLocks xmlns:a="http://schemas.openxmlformats.org/drawingml/2006/main" noGrp="1"/>
          </p:cNvSpPr>
          <p:nvPr/>
        </p:nvSpPr>
        <p:spPr>
          <a:xfrm xmlns:a="http://schemas.openxmlformats.org/drawingml/2006/main">
            <a:off x="504825" y="5219700"/>
            <a:ext cx="11182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2033"/>
                </a:solidFill>
                <a:latin typeface="Aptos"/>
                <a:ea typeface="Aptos"/>
                <a:cs typeface="Aptos"/>
              </a:defRPr>
            </a:defPPr>
            <a:lvl1pPr>
              <a:defRPr sz="1950" b="1">
                <a:solidFill>
                  <a:srgbClr val="172033"/>
                </a:solidFill>
                <a:latin typeface="Aptos"/>
                <a:ea typeface="Aptos"/>
                <a:cs typeface="Aptos"/>
              </a:defRPr>
            </a:lvl1pPr>
            <a:lvl2pPr>
              <a:defRPr sz="1950" b="1">
                <a:solidFill>
                  <a:srgbClr val="172033"/>
                </a:solidFill>
                <a:latin typeface="Aptos"/>
                <a:ea typeface="Aptos"/>
                <a:cs typeface="Aptos"/>
              </a:defRPr>
            </a:lvl2pPr>
            <a:lvl3pPr>
              <a:defRPr sz="1950" b="1">
                <a:solidFill>
                  <a:srgbClr val="172033"/>
                </a:solidFill>
                <a:latin typeface="Aptos"/>
                <a:ea typeface="Aptos"/>
                <a:cs typeface="Aptos"/>
              </a:defRPr>
            </a:lvl3pPr>
            <a:lvl4pPr>
              <a:defRPr sz="1950" b="1">
                <a:solidFill>
                  <a:srgbClr val="172033"/>
                </a:solidFill>
                <a:latin typeface="Aptos"/>
                <a:ea typeface="Aptos"/>
                <a:cs typeface="Aptos"/>
              </a:defRPr>
            </a:lvl4pPr>
            <a:lvl5pPr>
              <a:defRPr sz="1950" b="1">
                <a:solidFill>
                  <a:srgbClr val="172033"/>
                </a:solidFill>
                <a:latin typeface="Aptos"/>
                <a:ea typeface="Aptos"/>
                <a:cs typeface="Aptos"/>
              </a:defRPr>
            </a:lvl5pPr>
            <a:lvl6pPr>
              <a:defRPr sz="1950" b="1">
                <a:solidFill>
                  <a:srgbClr val="172033"/>
                </a:solidFill>
                <a:latin typeface="Aptos"/>
                <a:ea typeface="Aptos"/>
                <a:cs typeface="Aptos"/>
              </a:defRPr>
            </a:lvl6pPr>
            <a:lvl7pPr>
              <a:defRPr sz="1950" b="1">
                <a:solidFill>
                  <a:srgbClr val="172033"/>
                </a:solidFill>
                <a:latin typeface="Aptos"/>
                <a:ea typeface="Aptos"/>
                <a:cs typeface="Aptos"/>
              </a:defRPr>
            </a:lvl7pPr>
            <a:lvl8pPr>
              <a:defRPr sz="1950" b="1">
                <a:solidFill>
                  <a:srgbClr val="172033"/>
                </a:solidFill>
                <a:latin typeface="Aptos"/>
                <a:ea typeface="Aptos"/>
                <a:cs typeface="Aptos"/>
              </a:defRPr>
            </a:lvl8pPr>
            <a:lvl9pPr>
              <a:defRPr sz="1950" b="1">
                <a:solidFill>
                  <a:srgbClr val="172033"/>
                </a:solidFill>
                <a:latin typeface="Aptos"/>
                <a:ea typeface="Aptos"/>
                <a:cs typeface="Aptos"/>
              </a:defRPr>
            </a:lvl9pPr>
          </a:lstStyle>
          <a:p xmlns:a="http://schemas.openxmlformats.org/drawingml/2006/main">
            <a:pPr>
              <a:defRPr sz="1950" b="1">
                <a:solidFill>
                  <a:srgbClr val="172033"/>
                </a:solidFill>
                <a:latin typeface="Aptos"/>
                <a:ea typeface="Aptos"/>
                <a:cs typeface="Aptos"/>
              </a:defRPr>
            </a:pPr>
            <a:r>
              <a:rPr sz="1950" b="1">
                <a:solidFill>
                  <a:srgbClr val="172033"/>
                </a:solidFill>
                <a:latin typeface="Aptos"/>
                <a:ea typeface="Aptos"/>
                <a:cs typeface="Aptos"/>
              </a:rPr>
              <a:t>A starting experiment: one model, one feature, 20 fictional test cases.</a:t>
            </a:r>
          </a:p>
        </p:txBody>
      </p:sp>
      <p:sp>
        <p:nvSpPr>
          <p:cNvPr id="6" name="selection2">
            <a:extLst xmlns:a="http://schemas.openxmlformats.org/drawingml/2006/main">
              <a:ext uri="{FF2B5EF4-FFF2-40B4-BE49-F238E27FC236}">
                <a16:creationId xmlns:a16="http://schemas.microsoft.com/office/drawing/2014/main" id="{D41819B2-06D8-47C9-A933-D8E704AA1300}"/>
              </a:ext>
            </a:extLst>
          </p:cNvPr>
          <p:cNvSpPr>
            <a:spLocks xmlns:a="http://schemas.openxmlformats.org/drawingml/2006/main" noGrp="1"/>
          </p:cNvSpPr>
          <p:nvPr/>
        </p:nvSpPr>
        <p:spPr>
          <a:xfrm xmlns:a="http://schemas.openxmlformats.org/drawingml/2006/main">
            <a:off x="504825" y="5657850"/>
            <a:ext cx="11182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F7782"/>
                </a:solidFill>
                <a:latin typeface="Aptos"/>
                <a:ea typeface="Aptos"/>
                <a:cs typeface="Aptos"/>
              </a:defRPr>
            </a:defPPr>
            <a:lvl1pPr>
              <a:defRPr sz="1725" b="0">
                <a:solidFill>
                  <a:srgbClr val="6F7782"/>
                </a:solidFill>
                <a:latin typeface="Aptos"/>
                <a:ea typeface="Aptos"/>
                <a:cs typeface="Aptos"/>
              </a:defRPr>
            </a:lvl1pPr>
            <a:lvl2pPr>
              <a:defRPr sz="1725" b="0">
                <a:solidFill>
                  <a:srgbClr val="6F7782"/>
                </a:solidFill>
                <a:latin typeface="Aptos"/>
                <a:ea typeface="Aptos"/>
                <a:cs typeface="Aptos"/>
              </a:defRPr>
            </a:lvl2pPr>
            <a:lvl3pPr>
              <a:defRPr sz="1725" b="0">
                <a:solidFill>
                  <a:srgbClr val="6F7782"/>
                </a:solidFill>
                <a:latin typeface="Aptos"/>
                <a:ea typeface="Aptos"/>
                <a:cs typeface="Aptos"/>
              </a:defRPr>
            </a:lvl3pPr>
            <a:lvl4pPr>
              <a:defRPr sz="1725" b="0">
                <a:solidFill>
                  <a:srgbClr val="6F7782"/>
                </a:solidFill>
                <a:latin typeface="Aptos"/>
                <a:ea typeface="Aptos"/>
                <a:cs typeface="Aptos"/>
              </a:defRPr>
            </a:lvl4pPr>
            <a:lvl5pPr>
              <a:defRPr sz="1725" b="0">
                <a:solidFill>
                  <a:srgbClr val="6F7782"/>
                </a:solidFill>
                <a:latin typeface="Aptos"/>
                <a:ea typeface="Aptos"/>
                <a:cs typeface="Aptos"/>
              </a:defRPr>
            </a:lvl5pPr>
            <a:lvl6pPr>
              <a:defRPr sz="1725" b="0">
                <a:solidFill>
                  <a:srgbClr val="6F7782"/>
                </a:solidFill>
                <a:latin typeface="Aptos"/>
                <a:ea typeface="Aptos"/>
                <a:cs typeface="Aptos"/>
              </a:defRPr>
            </a:lvl6pPr>
            <a:lvl7pPr>
              <a:defRPr sz="1725" b="0">
                <a:solidFill>
                  <a:srgbClr val="6F7782"/>
                </a:solidFill>
                <a:latin typeface="Aptos"/>
                <a:ea typeface="Aptos"/>
                <a:cs typeface="Aptos"/>
              </a:defRPr>
            </a:lvl7pPr>
            <a:lvl8pPr>
              <a:defRPr sz="1725" b="0">
                <a:solidFill>
                  <a:srgbClr val="6F7782"/>
                </a:solidFill>
                <a:latin typeface="Aptos"/>
                <a:ea typeface="Aptos"/>
                <a:cs typeface="Aptos"/>
              </a:defRPr>
            </a:lvl8pPr>
            <a:lvl9pPr>
              <a:defRPr sz="1725" b="0">
                <a:solidFill>
                  <a:srgbClr val="6F7782"/>
                </a:solidFill>
                <a:latin typeface="Aptos"/>
                <a:ea typeface="Aptos"/>
                <a:cs typeface="Aptos"/>
              </a:defRPr>
            </a:lvl9pPr>
          </a:lstStyle>
          <a:p xmlns:a="http://schemas.openxmlformats.org/drawingml/2006/main">
            <a:pPr>
              <a:defRPr sz="1725" b="0">
                <a:solidFill>
                  <a:srgbClr val="6F7782"/>
                </a:solidFill>
                <a:latin typeface="Aptos"/>
                <a:ea typeface="Aptos"/>
                <a:cs typeface="Aptos"/>
              </a:defRPr>
            </a:pPr>
            <a:r>
              <a:rPr sz="1725" b="0">
                <a:solidFill>
                  <a:srgbClr val="6F7782"/>
                </a:solidFill>
                <a:latin typeface="Aptos"/>
                <a:ea typeface="Aptos"/>
                <a:cs typeface="Aptos"/>
              </a:rPr>
              <a:t>Compare against a simple rules-based baseline. Choose with evidence from the task.</a:t>
            </a:r>
          </a:p>
        </p:txBody>
      </p:sp>
      <p:sp>
        <p:nvSpPr>
          <p:cNvPr id="7" name="caption">
            <a:extLst xmlns:a="http://schemas.openxmlformats.org/drawingml/2006/main">
              <a:ext uri="{FF2B5EF4-FFF2-40B4-BE49-F238E27FC236}">
                <a16:creationId xmlns:a16="http://schemas.microsoft.com/office/drawing/2014/main" id="{9059E903-B011-4456-ABCA-1744C8E0B665}"/>
              </a:ext>
            </a:extLst>
          </p:cNvPr>
          <p:cNvSpPr>
            <a:spLocks xmlns:a="http://schemas.openxmlformats.org/drawingml/2006/main" noGrp="1"/>
          </p:cNvSpPr>
          <p:nvPr/>
        </p:nvSpPr>
        <p:spPr>
          <a:xfrm xmlns:a="http://schemas.openxmlformats.org/drawingml/2006/main">
            <a:off x="504825" y="6372225"/>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75" b="0">
                <a:solidFill>
                  <a:srgbClr val="6F7782"/>
                </a:solidFill>
                <a:latin typeface="Aptos"/>
                <a:ea typeface="Aptos"/>
                <a:cs typeface="Aptos"/>
              </a:defRPr>
            </a:defPPr>
            <a:lvl1pPr>
              <a:defRPr sz="975" b="0">
                <a:solidFill>
                  <a:srgbClr val="6F7782"/>
                </a:solidFill>
                <a:latin typeface="Aptos"/>
                <a:ea typeface="Aptos"/>
                <a:cs typeface="Aptos"/>
              </a:defRPr>
            </a:lvl1pPr>
            <a:lvl2pPr>
              <a:defRPr sz="975" b="0">
                <a:solidFill>
                  <a:srgbClr val="6F7782"/>
                </a:solidFill>
                <a:latin typeface="Aptos"/>
                <a:ea typeface="Aptos"/>
                <a:cs typeface="Aptos"/>
              </a:defRPr>
            </a:lvl2pPr>
            <a:lvl3pPr>
              <a:defRPr sz="975" b="0">
                <a:solidFill>
                  <a:srgbClr val="6F7782"/>
                </a:solidFill>
                <a:latin typeface="Aptos"/>
                <a:ea typeface="Aptos"/>
                <a:cs typeface="Aptos"/>
              </a:defRPr>
            </a:lvl3pPr>
            <a:lvl4pPr>
              <a:defRPr sz="975" b="0">
                <a:solidFill>
                  <a:srgbClr val="6F7782"/>
                </a:solidFill>
                <a:latin typeface="Aptos"/>
                <a:ea typeface="Aptos"/>
                <a:cs typeface="Aptos"/>
              </a:defRPr>
            </a:lvl4pPr>
            <a:lvl5pPr>
              <a:defRPr sz="975" b="0">
                <a:solidFill>
                  <a:srgbClr val="6F7782"/>
                </a:solidFill>
                <a:latin typeface="Aptos"/>
                <a:ea typeface="Aptos"/>
                <a:cs typeface="Aptos"/>
              </a:defRPr>
            </a:lvl5pPr>
            <a:lvl6pPr>
              <a:defRPr sz="975" b="0">
                <a:solidFill>
                  <a:srgbClr val="6F7782"/>
                </a:solidFill>
                <a:latin typeface="Aptos"/>
                <a:ea typeface="Aptos"/>
                <a:cs typeface="Aptos"/>
              </a:defRPr>
            </a:lvl6pPr>
            <a:lvl7pPr>
              <a:defRPr sz="975" b="0">
                <a:solidFill>
                  <a:srgbClr val="6F7782"/>
                </a:solidFill>
                <a:latin typeface="Aptos"/>
                <a:ea typeface="Aptos"/>
                <a:cs typeface="Aptos"/>
              </a:defRPr>
            </a:lvl7pPr>
            <a:lvl8pPr>
              <a:defRPr sz="975" b="0">
                <a:solidFill>
                  <a:srgbClr val="6F7782"/>
                </a:solidFill>
                <a:latin typeface="Aptos"/>
                <a:ea typeface="Aptos"/>
                <a:cs typeface="Aptos"/>
              </a:defRPr>
            </a:lvl8pPr>
            <a:lvl9pPr>
              <a:defRPr sz="975" b="0">
                <a:solidFill>
                  <a:srgbClr val="6F7782"/>
                </a:solidFill>
                <a:latin typeface="Aptos"/>
                <a:ea typeface="Aptos"/>
                <a:cs typeface="Aptos"/>
              </a:defRPr>
            </a:lvl9pPr>
          </a:lstStyle>
          <a:p xmlns:a="http://schemas.openxmlformats.org/drawingml/2006/main">
            <a:pPr>
              <a:defRPr sz="975" b="0">
                <a:solidFill>
                  <a:srgbClr val="6F7782"/>
                </a:solidFill>
                <a:latin typeface="Aptos"/>
                <a:ea typeface="Aptos"/>
                <a:cs typeface="Aptos"/>
              </a:defRPr>
            </a:pPr>
            <a:r>
              <a:rPr sz="975" b="0">
                <a:solidFill>
                  <a:srgbClr val="6F7782"/>
                </a:solidFill>
                <a:latin typeface="Aptos"/>
                <a:ea typeface="Aptos"/>
                <a:cs typeface="Aptos"/>
              </a:rPr>
              <a:t>Candidate models, not a benchmark ranking or a safety certification. Versions checked October 30, 2026.</a:t>
            </a:r>
          </a:p>
        </p:txBody>
      </p:sp>
      <p:sp>
        <p:nvSpPr>
          <p:cNvPr id="8" name="page-number">
            <a:extLst xmlns:a="http://schemas.openxmlformats.org/drawingml/2006/main">
              <a:ext uri="{FF2B5EF4-FFF2-40B4-BE49-F238E27FC236}">
                <a16:creationId xmlns:a16="http://schemas.microsoft.com/office/drawing/2014/main" id="{E9CFF98C-3CDA-48AB-9C6B-9E85F75E4ECE}"/>
              </a:ext>
            </a:extLst>
          </p:cNvPr>
          <p:cNvSpPr>
            <a:spLocks xmlns:a="http://schemas.openxmlformats.org/drawingml/2006/main" noGrp="1"/>
          </p:cNvSpPr>
          <p:nvPr/>
        </p:nvSpPr>
        <p:spPr>
          <a:xfrm xmlns:a="http://schemas.openxmlformats.org/drawingml/2006/main">
            <a:off x="11896725" y="266700"/>
            <a:ext cx="190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825" b="0">
                <a:solidFill>
                  <a:srgbClr val="9F9F9F"/>
                </a:solidFill>
                <a:latin typeface="Aptos"/>
                <a:ea typeface="Aptos"/>
                <a:cs typeface="Aptos"/>
              </a:defRPr>
            </a:defPPr>
            <a:lvl1pPr>
              <a:defRPr sz="825" b="0">
                <a:solidFill>
                  <a:srgbClr val="9F9F9F"/>
                </a:solidFill>
                <a:latin typeface="Aptos"/>
                <a:ea typeface="Aptos"/>
                <a:cs typeface="Aptos"/>
              </a:defRPr>
            </a:lvl1pPr>
            <a:lvl2pPr>
              <a:defRPr sz="825" b="0">
                <a:solidFill>
                  <a:srgbClr val="9F9F9F"/>
                </a:solidFill>
                <a:latin typeface="Aptos"/>
                <a:ea typeface="Aptos"/>
                <a:cs typeface="Aptos"/>
              </a:defRPr>
            </a:lvl2pPr>
            <a:lvl3pPr>
              <a:defRPr sz="825" b="0">
                <a:solidFill>
                  <a:srgbClr val="9F9F9F"/>
                </a:solidFill>
                <a:latin typeface="Aptos"/>
                <a:ea typeface="Aptos"/>
                <a:cs typeface="Aptos"/>
              </a:defRPr>
            </a:lvl3pPr>
            <a:lvl4pPr>
              <a:defRPr sz="825" b="0">
                <a:solidFill>
                  <a:srgbClr val="9F9F9F"/>
                </a:solidFill>
                <a:latin typeface="Aptos"/>
                <a:ea typeface="Aptos"/>
                <a:cs typeface="Aptos"/>
              </a:defRPr>
            </a:lvl4pPr>
            <a:lvl5pPr>
              <a:defRPr sz="825" b="0">
                <a:solidFill>
                  <a:srgbClr val="9F9F9F"/>
                </a:solidFill>
                <a:latin typeface="Aptos"/>
                <a:ea typeface="Aptos"/>
                <a:cs typeface="Aptos"/>
              </a:defRPr>
            </a:lvl5pPr>
            <a:lvl6pPr>
              <a:defRPr sz="825" b="0">
                <a:solidFill>
                  <a:srgbClr val="9F9F9F"/>
                </a:solidFill>
                <a:latin typeface="Aptos"/>
                <a:ea typeface="Aptos"/>
                <a:cs typeface="Aptos"/>
              </a:defRPr>
            </a:lvl6pPr>
            <a:lvl7pPr>
              <a:defRPr sz="825" b="0">
                <a:solidFill>
                  <a:srgbClr val="9F9F9F"/>
                </a:solidFill>
                <a:latin typeface="Aptos"/>
                <a:ea typeface="Aptos"/>
                <a:cs typeface="Aptos"/>
              </a:defRPr>
            </a:lvl7pPr>
            <a:lvl8pPr>
              <a:defRPr sz="825" b="0">
                <a:solidFill>
                  <a:srgbClr val="9F9F9F"/>
                </a:solidFill>
                <a:latin typeface="Aptos"/>
                <a:ea typeface="Aptos"/>
                <a:cs typeface="Aptos"/>
              </a:defRPr>
            </a:lvl8pPr>
            <a:lvl9pPr>
              <a:defRPr sz="825" b="0">
                <a:solidFill>
                  <a:srgbClr val="9F9F9F"/>
                </a:solidFill>
                <a:latin typeface="Aptos"/>
                <a:ea typeface="Aptos"/>
                <a:cs typeface="Aptos"/>
              </a:defRPr>
            </a:lvl9pPr>
          </a:lstStyle>
          <a:p xmlns:a="http://schemas.openxmlformats.org/drawingml/2006/main">
            <a:pPr>
              <a:defRPr sz="825" b="0">
                <a:solidFill>
                  <a:srgbClr val="9F9F9F"/>
                </a:solidFill>
                <a:latin typeface="Aptos"/>
                <a:ea typeface="Aptos"/>
                <a:cs typeface="Aptos"/>
              </a:defRPr>
            </a:pPr>
            <a:r>
              <a:rPr sz="825" b="0">
                <a:solidFill>
                  <a:srgbClr val="9F9F9F"/>
                </a:solidFill>
                <a:latin typeface="Aptos"/>
                <a:ea typeface="Aptos"/>
                <a:cs typeface="Aptos"/>
              </a:rPr>
              <a:t>6</a:t>
            </a:r>
          </a:p>
        </p:txBody>
      </p:sp>
    </p:spTree>
    <p:extLst>
      <p:ext uri="{BB962C8B-B14F-4D97-AF65-F5344CB8AC3E}">
        <p14:creationId xmlns:p14="http://schemas.microsoft.com/office/powerpoint/2010/main" val="335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18BF87-5861-434A-8D1A-C7377DF342C2}"/>
              </a:ext>
            </a:extLst>
          </p:cNvPr>
          <p:cNvSpPr>
            <a:spLocks xmlns:a="http://schemas.openxmlformats.org/drawingml/2006/main" noGrp="1"/>
          </p:cNvSpPr>
          <p:nvPr/>
        </p:nvSpPr>
        <p:spPr>
          <a:xfrm xmlns:a="http://schemas.openxmlformats.org/drawingml/2006/main">
            <a:off x="502920" y="5029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80">
                <a:solidFill>
                  <a:srgbClr val="F57C00"/>
                </a:solidFill>
              </a:rPr>
              <a:t>JOOLIAN CASE 4 OF 6</a:t>
            </a:r>
            <a:endParaRPr sz="1000"/>
          </a:p>
        </p:txBody>
      </p:sp>
      <p:sp>
        <p:nvSpPr>
          <p:cNvPr id="3" name="Text 1">
            <a:extLst xmlns:a="http://schemas.openxmlformats.org/drawingml/2006/main">
              <a:ext uri="{FF2B5EF4-FFF2-40B4-BE49-F238E27FC236}">
                <a16:creationId xmlns:a16="http://schemas.microsoft.com/office/drawing/2014/main" id="{6F18B500-2E9B-4213-A44D-A77FC77D5207}"/>
              </a:ext>
            </a:extLst>
          </p:cNvPr>
          <p:cNvSpPr>
            <a:spLocks xmlns:a="http://schemas.openxmlformats.org/drawingml/2006/main" noGrp="1"/>
          </p:cNvSpPr>
          <p:nvPr/>
        </p:nvSpPr>
        <p:spPr>
          <a:xfrm xmlns:a="http://schemas.openxmlformats.org/drawingml/2006/main">
            <a:off x="502920" y="786384"/>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72033"/>
                </a:solidFill>
              </a:rPr>
              <a:t>Joolian’s purpose: give families choice</a:t>
            </a:r>
            <a:endParaRPr sz="2700"/>
          </a:p>
        </p:txBody>
      </p:sp>
      <p:sp>
        <p:nvSpPr>
          <p:cNvPr id="4" name="Text 2">
            <a:extLst xmlns:a="http://schemas.openxmlformats.org/drawingml/2006/main">
              <a:ext uri="{FF2B5EF4-FFF2-40B4-BE49-F238E27FC236}">
                <a16:creationId xmlns:a16="http://schemas.microsoft.com/office/drawing/2014/main" id="{29B49E4F-4378-4D2B-B00B-EEB87F85FF3C}"/>
              </a:ext>
            </a:extLst>
          </p:cNvPr>
          <p:cNvSpPr>
            <a:spLocks xmlns:a="http://schemas.openxmlformats.org/drawingml/2006/main" noGrp="1"/>
          </p:cNvSpPr>
          <p:nvPr/>
        </p:nvSpPr>
        <p:spPr>
          <a:xfrm xmlns:a="http://schemas.openxmlformats.org/drawingml/2006/main">
            <a:off x="502920" y="1353312"/>
            <a:ext cx="109728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buNone/>
            </a:pPr>
            <a:r>
              <a:rPr sz="1650">
                <a:solidFill>
                  <a:srgbClr val="6F7782"/>
                </a:solidFill>
              </a:rPr>
              <a:t>Support shared decisions, realistic routines, and appealing alternatives.</a:t>
            </a:r>
            <a:endParaRPr sz="1250"/>
          </a:p>
        </p:txBody>
      </p:sp>
      <p:sp>
        <p:nvSpPr>
          <p:cNvPr id="5" name="Text 3">
            <a:extLst xmlns:a="http://schemas.openxmlformats.org/drawingml/2006/main">
              <a:ext uri="{FF2B5EF4-FFF2-40B4-BE49-F238E27FC236}">
                <a16:creationId xmlns:a16="http://schemas.microsoft.com/office/drawing/2014/main" id="{2FA723CA-C96E-449D-B2B9-F735D2DA6B92}"/>
              </a:ext>
            </a:extLst>
          </p:cNvPr>
          <p:cNvSpPr>
            <a:spLocks xmlns:a="http://schemas.openxmlformats.org/drawingml/2006/main" noGrp="1"/>
          </p:cNvSpPr>
          <p:nvPr/>
        </p:nvSpPr>
        <p:spPr>
          <a:xfrm xmlns:a="http://schemas.openxmlformats.org/drawingml/2006/main">
            <a:off x="576072" y="1856232"/>
            <a:ext cx="214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60">
                <a:solidFill>
                  <a:srgbClr val="6F7782"/>
                </a:solidFill>
              </a:rPr>
              <a:t>REALITY</a:t>
            </a:r>
            <a:endParaRPr sz="850"/>
          </a:p>
        </p:txBody>
      </p:sp>
      <p:sp>
        <p:nvSpPr>
          <p:cNvPr id="6" name="Shape 4">
            <a:extLst xmlns:a="http://schemas.openxmlformats.org/drawingml/2006/main">
              <a:ext uri="{FF2B5EF4-FFF2-40B4-BE49-F238E27FC236}">
                <a16:creationId xmlns:a16="http://schemas.microsoft.com/office/drawing/2014/main" id="{FF710BCF-8D9E-4A13-82C6-F40EEB6DCE36}"/>
              </a:ext>
            </a:extLst>
          </p:cNvPr>
          <p:cNvSpPr>
            <a:spLocks xmlns:a="http://schemas.openxmlformats.org/drawingml/2006/main" noGrp="1"/>
          </p:cNvSpPr>
          <p:nvPr/>
        </p:nvSpPr>
        <p:spPr>
          <a:xfrm xmlns:a="http://schemas.openxmlformats.org/drawingml/2006/main">
            <a:off x="576072" y="2084832"/>
            <a:ext cx="2148840" cy="1170432"/>
          </a:xfrm>
          <a:prstGeom xmlns:a="http://schemas.openxmlformats.org/drawingml/2006/main" prst="roundRect">
            <a:avLst/>
          </a:prstGeom>
          <a:solidFill xmlns:a="http://schemas.openxmlformats.org/drawingml/2006/main">
            <a:srgbClr val="EAF1F8"/>
          </a:solidFill>
          <a:ln xmlns:a="http://schemas.openxmlformats.org/drawingml/2006/main" w="12700">
            <a:solidFill>
              <a:srgbClr val="DDD3C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7B2A4052-6FD5-4E69-B34F-4118CFD803B0}"/>
              </a:ext>
            </a:extLst>
          </p:cNvPr>
          <p:cNvSpPr>
            <a:spLocks xmlns:a="http://schemas.openxmlformats.org/drawingml/2006/main" noGrp="1"/>
          </p:cNvSpPr>
          <p:nvPr/>
        </p:nvSpPr>
        <p:spPr>
          <a:xfrm xmlns:a="http://schemas.openxmlformats.org/drawingml/2006/main">
            <a:off x="722376" y="2377440"/>
            <a:ext cx="1856232"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72033"/>
                </a:solidFill>
              </a:rPr>
              <a:t>Digital life is part</a:t>
            </a:r>
            <a:endParaRPr sz="1600"/>
          </a:p>
          <a:p xmlns:a="http://schemas.openxmlformats.org/drawingml/2006/main">
            <a:pPr marL="0" indent="0" algn="ctr">
              <a:buNone/>
            </a:pPr>
            <a:r>
              <a:rPr sz="1600" b="1">
                <a:solidFill>
                  <a:srgbClr val="172033"/>
                </a:solidFill>
              </a:rPr>
              <a:t>of growing up</a:t>
            </a:r>
            <a:endParaRPr sz="1600"/>
          </a:p>
        </p:txBody>
      </p:sp>
      <p:sp>
        <p:nvSpPr>
          <p:cNvPr id="8" name="Shape 6">
            <a:extLst xmlns:a="http://schemas.openxmlformats.org/drawingml/2006/main">
              <a:ext uri="{FF2B5EF4-FFF2-40B4-BE49-F238E27FC236}">
                <a16:creationId xmlns:a16="http://schemas.microsoft.com/office/drawing/2014/main" id="{C3E25F24-DA93-4AC2-9852-E7CE0C421A13}"/>
              </a:ext>
            </a:extLst>
          </p:cNvPr>
          <p:cNvSpPr>
            <a:spLocks xmlns:a="http://schemas.openxmlformats.org/drawingml/2006/main" noGrp="1"/>
          </p:cNvSpPr>
          <p:nvPr/>
        </p:nvSpPr>
        <p:spPr>
          <a:xfrm xmlns:a="http://schemas.openxmlformats.org/drawingml/2006/main">
            <a:off x="2756916" y="2468880"/>
            <a:ext cx="109728" cy="384048"/>
          </a:xfrm>
          <a:prstGeom xmlns:a="http://schemas.openxmlformats.org/drawingml/2006/main" prst="chevron">
            <a:avLst/>
          </a:prstGeom>
          <a:solidFill xmlns:a="http://schemas.openxmlformats.org/drawingml/2006/main">
            <a:srgbClr val="D2C5B7"/>
          </a:solidFill>
          <a:ln xmlns:a="http://schemas.openxmlformats.org/drawingml/2006/main" w="12700">
            <a:solidFill>
              <a:srgbClr val="D2C5B7"/>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E1CDF925-F52E-41E8-8443-7BBB6A50E1F0}"/>
              </a:ext>
            </a:extLst>
          </p:cNvPr>
          <p:cNvSpPr>
            <a:spLocks xmlns:a="http://schemas.openxmlformats.org/drawingml/2006/main" noGrp="1"/>
          </p:cNvSpPr>
          <p:nvPr/>
        </p:nvSpPr>
        <p:spPr>
          <a:xfrm xmlns:a="http://schemas.openxmlformats.org/drawingml/2006/main">
            <a:off x="2880360" y="1856232"/>
            <a:ext cx="214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60">
                <a:solidFill>
                  <a:srgbClr val="6F7782"/>
                </a:solidFill>
              </a:rPr>
              <a:t>RISK</a:t>
            </a:r>
            <a:endParaRPr sz="850"/>
          </a:p>
        </p:txBody>
      </p:sp>
      <p:sp>
        <p:nvSpPr>
          <p:cNvPr id="10" name="Shape 8">
            <a:extLst xmlns:a="http://schemas.openxmlformats.org/drawingml/2006/main">
              <a:ext uri="{FF2B5EF4-FFF2-40B4-BE49-F238E27FC236}">
                <a16:creationId xmlns:a16="http://schemas.microsoft.com/office/drawing/2014/main" id="{6A7E34EE-4305-4D17-814A-B5B85415D31F}"/>
              </a:ext>
            </a:extLst>
          </p:cNvPr>
          <p:cNvSpPr>
            <a:spLocks xmlns:a="http://schemas.openxmlformats.org/drawingml/2006/main" noGrp="1"/>
          </p:cNvSpPr>
          <p:nvPr/>
        </p:nvSpPr>
        <p:spPr>
          <a:xfrm xmlns:a="http://schemas.openxmlformats.org/drawingml/2006/main">
            <a:off x="2880360" y="2084832"/>
            <a:ext cx="2148840" cy="1170432"/>
          </a:xfrm>
          <a:prstGeom xmlns:a="http://schemas.openxmlformats.org/drawingml/2006/main" prst="roundRect">
            <a:avLst/>
          </a:prstGeom>
          <a:solidFill xmlns:a="http://schemas.openxmlformats.org/drawingml/2006/main">
            <a:srgbClr val="FCEBE3"/>
          </a:solidFill>
          <a:ln xmlns:a="http://schemas.openxmlformats.org/drawingml/2006/main" w="12700">
            <a:solidFill>
              <a:srgbClr val="DDD3C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2C5712B5-AD8C-42C7-99F9-F1994729EC3C}"/>
              </a:ext>
            </a:extLst>
          </p:cNvPr>
          <p:cNvSpPr>
            <a:spLocks xmlns:a="http://schemas.openxmlformats.org/drawingml/2006/main" noGrp="1"/>
          </p:cNvSpPr>
          <p:nvPr/>
        </p:nvSpPr>
        <p:spPr>
          <a:xfrm xmlns:a="http://schemas.openxmlformats.org/drawingml/2006/main">
            <a:off x="3026664" y="2377440"/>
            <a:ext cx="1856232"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72033"/>
                </a:solidFill>
              </a:rPr>
              <a:t>It can </a:t>
            </a:r>
            <a:r>
              <a:rPr sz="1600" b="1" u="sng">
                <a:solidFill>
                  <a:schemeClr val="accent2"/>
                </a:solidFill>
              </a:rPr>
              <a:t>crowd out</a:t>
            </a:r>
            <a:endParaRPr sz="1600" u="sng">
              <a:solidFill>
                <a:schemeClr val="accent2"/>
              </a:solidFill>
            </a:endParaRPr>
          </a:p>
          <a:p xmlns:a="http://schemas.openxmlformats.org/drawingml/2006/main">
            <a:pPr marL="0" indent="0" algn="ctr">
              <a:buNone/>
            </a:pPr>
            <a:r>
              <a:rPr sz="1600" b="1">
                <a:solidFill>
                  <a:srgbClr val="172033"/>
                </a:solidFill>
              </a:rPr>
              <a:t>sleep, friends, movement &amp; family</a:t>
            </a:r>
            <a:endParaRPr sz="1600"/>
          </a:p>
        </p:txBody>
      </p:sp>
      <p:sp>
        <p:nvSpPr>
          <p:cNvPr id="12" name="Shape 10">
            <a:extLst xmlns:a="http://schemas.openxmlformats.org/drawingml/2006/main">
              <a:ext uri="{FF2B5EF4-FFF2-40B4-BE49-F238E27FC236}">
                <a16:creationId xmlns:a16="http://schemas.microsoft.com/office/drawing/2014/main" id="{36FBD4EE-518A-40AF-BBEC-6A40C1EB9E7E}"/>
              </a:ext>
            </a:extLst>
          </p:cNvPr>
          <p:cNvSpPr>
            <a:spLocks xmlns:a="http://schemas.openxmlformats.org/drawingml/2006/main" noGrp="1"/>
          </p:cNvSpPr>
          <p:nvPr/>
        </p:nvSpPr>
        <p:spPr>
          <a:xfrm xmlns:a="http://schemas.openxmlformats.org/drawingml/2006/main">
            <a:off x="5061204" y="2468880"/>
            <a:ext cx="109728" cy="384048"/>
          </a:xfrm>
          <a:prstGeom xmlns:a="http://schemas.openxmlformats.org/drawingml/2006/main" prst="chevron">
            <a:avLst/>
          </a:prstGeom>
          <a:solidFill xmlns:a="http://schemas.openxmlformats.org/drawingml/2006/main">
            <a:srgbClr val="D2C5B7"/>
          </a:solidFill>
          <a:ln xmlns:a="http://schemas.openxmlformats.org/drawingml/2006/main" w="12700">
            <a:solidFill>
              <a:srgbClr val="D2C5B7"/>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974C9EB5-CC28-4569-97DE-E19FBD89A32F}"/>
              </a:ext>
            </a:extLst>
          </p:cNvPr>
          <p:cNvSpPr>
            <a:spLocks xmlns:a="http://schemas.openxmlformats.org/drawingml/2006/main" noGrp="1"/>
          </p:cNvSpPr>
          <p:nvPr/>
        </p:nvSpPr>
        <p:spPr>
          <a:xfrm xmlns:a="http://schemas.openxmlformats.org/drawingml/2006/main">
            <a:off x="5184648" y="1856232"/>
            <a:ext cx="214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60">
                <a:solidFill>
                  <a:srgbClr val="6F7782"/>
                </a:solidFill>
              </a:rPr>
              <a:t>GAP</a:t>
            </a:r>
            <a:endParaRPr sz="850"/>
          </a:p>
        </p:txBody>
      </p:sp>
      <p:sp>
        <p:nvSpPr>
          <p:cNvPr id="14" name="Shape 12">
            <a:extLst xmlns:a="http://schemas.openxmlformats.org/drawingml/2006/main">
              <a:ext uri="{FF2B5EF4-FFF2-40B4-BE49-F238E27FC236}">
                <a16:creationId xmlns:a16="http://schemas.microsoft.com/office/drawing/2014/main" id="{DA81A69C-34E6-4574-BCBB-4D92D9A36DF8}"/>
              </a:ext>
            </a:extLst>
          </p:cNvPr>
          <p:cNvSpPr>
            <a:spLocks xmlns:a="http://schemas.openxmlformats.org/drawingml/2006/main" noGrp="1"/>
          </p:cNvSpPr>
          <p:nvPr/>
        </p:nvSpPr>
        <p:spPr>
          <a:xfrm xmlns:a="http://schemas.openxmlformats.org/drawingml/2006/main">
            <a:off x="5184648" y="2084832"/>
            <a:ext cx="2148840" cy="1170432"/>
          </a:xfrm>
          <a:prstGeom xmlns:a="http://schemas.openxmlformats.org/drawingml/2006/main" prst="roundRect">
            <a:avLst/>
          </a:prstGeom>
          <a:solidFill xmlns:a="http://schemas.openxmlformats.org/drawingml/2006/main">
            <a:srgbClr val="FFF4DE"/>
          </a:solidFill>
          <a:ln xmlns:a="http://schemas.openxmlformats.org/drawingml/2006/main" w="12700">
            <a:solidFill>
              <a:srgbClr val="DDD3C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DE133066-09F8-4FFA-85E7-DE21B7570A50}"/>
              </a:ext>
            </a:extLst>
          </p:cNvPr>
          <p:cNvSpPr>
            <a:spLocks xmlns:a="http://schemas.openxmlformats.org/drawingml/2006/main" noGrp="1"/>
          </p:cNvSpPr>
          <p:nvPr/>
        </p:nvSpPr>
        <p:spPr>
          <a:xfrm xmlns:a="http://schemas.openxmlformats.org/drawingml/2006/main">
            <a:off x="5330952" y="2377440"/>
            <a:ext cx="1856232"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72033"/>
                </a:solidFill>
              </a:rPr>
              <a:t>Parents need more</a:t>
            </a:r>
            <a:endParaRPr sz="1600"/>
          </a:p>
          <a:p xmlns:a="http://schemas.openxmlformats.org/drawingml/2006/main">
            <a:pPr marL="0" indent="0" algn="ctr">
              <a:buNone/>
            </a:pPr>
            <a:r>
              <a:rPr sz="1600" b="1">
                <a:solidFill>
                  <a:srgbClr val="172033"/>
                </a:solidFill>
              </a:rPr>
              <a:t>than restriction</a:t>
            </a:r>
            <a:endParaRPr sz="1600"/>
          </a:p>
        </p:txBody>
      </p:sp>
      <p:sp>
        <p:nvSpPr>
          <p:cNvPr id="16" name="Shape 14">
            <a:extLst xmlns:a="http://schemas.openxmlformats.org/drawingml/2006/main">
              <a:ext uri="{FF2B5EF4-FFF2-40B4-BE49-F238E27FC236}">
                <a16:creationId xmlns:a16="http://schemas.microsoft.com/office/drawing/2014/main" id="{5124BC55-5FD3-4921-8084-66AAD572969E}"/>
              </a:ext>
            </a:extLst>
          </p:cNvPr>
          <p:cNvSpPr>
            <a:spLocks xmlns:a="http://schemas.openxmlformats.org/drawingml/2006/main" noGrp="1"/>
          </p:cNvSpPr>
          <p:nvPr/>
        </p:nvSpPr>
        <p:spPr>
          <a:xfrm xmlns:a="http://schemas.openxmlformats.org/drawingml/2006/main">
            <a:off x="7365492" y="2468880"/>
            <a:ext cx="109728" cy="384048"/>
          </a:xfrm>
          <a:prstGeom xmlns:a="http://schemas.openxmlformats.org/drawingml/2006/main" prst="chevron">
            <a:avLst/>
          </a:prstGeom>
          <a:solidFill xmlns:a="http://schemas.openxmlformats.org/drawingml/2006/main">
            <a:srgbClr val="D2C5B7"/>
          </a:solidFill>
          <a:ln xmlns:a="http://schemas.openxmlformats.org/drawingml/2006/main" w="12700">
            <a:solidFill>
              <a:srgbClr val="D2C5B7"/>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01E0719-7771-4CE5-9EBD-40FC1CA89307}"/>
              </a:ext>
            </a:extLst>
          </p:cNvPr>
          <p:cNvSpPr>
            <a:spLocks xmlns:a="http://schemas.openxmlformats.org/drawingml/2006/main" noGrp="1"/>
          </p:cNvSpPr>
          <p:nvPr/>
        </p:nvSpPr>
        <p:spPr>
          <a:xfrm xmlns:a="http://schemas.openxmlformats.org/drawingml/2006/main">
            <a:off x="7488936" y="1856232"/>
            <a:ext cx="214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60">
                <a:solidFill>
                  <a:srgbClr val="F57C00"/>
                </a:solidFill>
              </a:rPr>
              <a:t>JOOLIAN</a:t>
            </a:r>
            <a:endParaRPr sz="850"/>
          </a:p>
        </p:txBody>
      </p:sp>
      <p:sp>
        <p:nvSpPr>
          <p:cNvPr id="18" name="Shape 16">
            <a:extLst xmlns:a="http://schemas.openxmlformats.org/drawingml/2006/main">
              <a:ext uri="{FF2B5EF4-FFF2-40B4-BE49-F238E27FC236}">
                <a16:creationId xmlns:a16="http://schemas.microsoft.com/office/drawing/2014/main" id="{AD86F6C7-CDC8-49AC-83E7-34F98C3BF8E5}"/>
              </a:ext>
            </a:extLst>
          </p:cNvPr>
          <p:cNvSpPr>
            <a:spLocks xmlns:a="http://schemas.openxmlformats.org/drawingml/2006/main" noGrp="1"/>
          </p:cNvSpPr>
          <p:nvPr/>
        </p:nvSpPr>
        <p:spPr>
          <a:xfrm xmlns:a="http://schemas.openxmlformats.org/drawingml/2006/main">
            <a:off x="7488936" y="2084832"/>
            <a:ext cx="2148840" cy="1170432"/>
          </a:xfrm>
          <a:prstGeom xmlns:a="http://schemas.openxmlformats.org/drawingml/2006/main" prst="roundRect">
            <a:avLst/>
          </a:prstGeom>
          <a:solidFill xmlns:a="http://schemas.openxmlformats.org/drawingml/2006/main">
            <a:srgbClr val="E7F3EE"/>
          </a:solidFill>
          <a:ln xmlns:a="http://schemas.openxmlformats.org/drawingml/2006/main" w="57150">
            <a:solidFill>
              <a:srgbClr val="F57C00"/>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7FBC97E3-B08E-47D7-A51F-34DC458A8EF4}"/>
              </a:ext>
            </a:extLst>
          </p:cNvPr>
          <p:cNvSpPr>
            <a:spLocks xmlns:a="http://schemas.openxmlformats.org/drawingml/2006/main" noGrp="1"/>
          </p:cNvSpPr>
          <p:nvPr/>
        </p:nvSpPr>
        <p:spPr>
          <a:xfrm xmlns:a="http://schemas.openxmlformats.org/drawingml/2006/main">
            <a:off x="7635240" y="2377440"/>
            <a:ext cx="1856232"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a:solidFill>
                  <a:srgbClr val="172033"/>
                </a:solidFill>
              </a:rPr>
              <a:t>Understand, agree,</a:t>
            </a:r>
            <a:endParaRPr sz="1600"/>
          </a:p>
          <a:p xmlns:a="http://schemas.openxmlformats.org/drawingml/2006/main">
            <a:pPr marL="0" indent="0" algn="ctr">
              <a:buNone/>
            </a:pPr>
            <a:r>
              <a:rPr sz="1650" b="1">
                <a:solidFill>
                  <a:srgbClr val="172033"/>
                </a:solidFill>
              </a:rPr>
              <a:t>act and review</a:t>
            </a:r>
            <a:endParaRPr sz="1600"/>
          </a:p>
        </p:txBody>
      </p:sp>
      <p:sp>
        <p:nvSpPr>
          <p:cNvPr id="20" name="Shape 18">
            <a:extLst xmlns:a="http://schemas.openxmlformats.org/drawingml/2006/main">
              <a:ext uri="{FF2B5EF4-FFF2-40B4-BE49-F238E27FC236}">
                <a16:creationId xmlns:a16="http://schemas.microsoft.com/office/drawing/2014/main" id="{8C5C86F5-F91D-4795-B6EA-3563A4F6CB7D}"/>
              </a:ext>
            </a:extLst>
          </p:cNvPr>
          <p:cNvSpPr>
            <a:spLocks xmlns:a="http://schemas.openxmlformats.org/drawingml/2006/main" noGrp="1"/>
          </p:cNvSpPr>
          <p:nvPr/>
        </p:nvSpPr>
        <p:spPr>
          <a:xfrm xmlns:a="http://schemas.openxmlformats.org/drawingml/2006/main">
            <a:off x="9669780" y="2468880"/>
            <a:ext cx="109728" cy="384048"/>
          </a:xfrm>
          <a:prstGeom xmlns:a="http://schemas.openxmlformats.org/drawingml/2006/main" prst="chevron">
            <a:avLst/>
          </a:prstGeom>
          <a:solidFill xmlns:a="http://schemas.openxmlformats.org/drawingml/2006/main">
            <a:srgbClr val="D2C5B7"/>
          </a:solidFill>
          <a:ln xmlns:a="http://schemas.openxmlformats.org/drawingml/2006/main" w="12700">
            <a:solidFill>
              <a:srgbClr val="D2C5B7"/>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6DEE34B3-3639-43E9-B0D9-6DBDD52DC05F}"/>
              </a:ext>
            </a:extLst>
          </p:cNvPr>
          <p:cNvSpPr>
            <a:spLocks xmlns:a="http://schemas.openxmlformats.org/drawingml/2006/main" noGrp="1"/>
          </p:cNvSpPr>
          <p:nvPr/>
        </p:nvSpPr>
        <p:spPr>
          <a:xfrm xmlns:a="http://schemas.openxmlformats.org/drawingml/2006/main">
            <a:off x="9793224" y="1856232"/>
            <a:ext cx="214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60">
                <a:solidFill>
                  <a:srgbClr val="6F7782"/>
                </a:solidFill>
              </a:rPr>
              <a:t>OUTCOME</a:t>
            </a:r>
            <a:endParaRPr sz="850"/>
          </a:p>
        </p:txBody>
      </p:sp>
      <p:sp>
        <p:nvSpPr>
          <p:cNvPr id="22" name="Shape 20">
            <a:extLst xmlns:a="http://schemas.openxmlformats.org/drawingml/2006/main">
              <a:ext uri="{FF2B5EF4-FFF2-40B4-BE49-F238E27FC236}">
                <a16:creationId xmlns:a16="http://schemas.microsoft.com/office/drawing/2014/main" id="{BFD4ACBD-C96D-4CC5-B811-90AAA3DD97A3}"/>
              </a:ext>
            </a:extLst>
          </p:cNvPr>
          <p:cNvSpPr>
            <a:spLocks xmlns:a="http://schemas.openxmlformats.org/drawingml/2006/main" noGrp="1"/>
          </p:cNvSpPr>
          <p:nvPr/>
        </p:nvSpPr>
        <p:spPr>
          <a:xfrm xmlns:a="http://schemas.openxmlformats.org/drawingml/2006/main">
            <a:off x="9793224" y="2084832"/>
            <a:ext cx="2148840" cy="1170432"/>
          </a:xfrm>
          <a:prstGeom xmlns:a="http://schemas.openxmlformats.org/drawingml/2006/main" prst="roundRect">
            <a:avLst/>
          </a:prstGeom>
          <a:solidFill xmlns:a="http://schemas.openxmlformats.org/drawingml/2006/main">
            <a:srgbClr val="E6F0E9"/>
          </a:solidFill>
          <a:ln xmlns:a="http://schemas.openxmlformats.org/drawingml/2006/main" w="12700">
            <a:solidFill>
              <a:srgbClr val="DDD3C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72BCDE1D-A22A-42BD-8FFD-9CD222D3547E}"/>
              </a:ext>
            </a:extLst>
          </p:cNvPr>
          <p:cNvSpPr>
            <a:spLocks xmlns:a="http://schemas.openxmlformats.org/drawingml/2006/main" noGrp="1"/>
          </p:cNvSpPr>
          <p:nvPr/>
        </p:nvSpPr>
        <p:spPr>
          <a:xfrm xmlns:a="http://schemas.openxmlformats.org/drawingml/2006/main">
            <a:off x="9939528" y="2377440"/>
            <a:ext cx="1856232"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72033"/>
                </a:solidFill>
              </a:rPr>
              <a:t>Capable digital kids</a:t>
            </a:r>
            <a:endParaRPr sz="1600"/>
          </a:p>
          <a:p xmlns:a="http://schemas.openxmlformats.org/drawingml/2006/main">
            <a:pPr marL="0" indent="0" algn="ctr">
              <a:buNone/>
            </a:pPr>
            <a:r>
              <a:rPr sz="1600" b="1">
                <a:solidFill>
                  <a:srgbClr val="172033"/>
                </a:solidFill>
              </a:rPr>
              <a:t>with richer real lives</a:t>
            </a:r>
            <a:endParaRPr sz="1600"/>
          </a:p>
        </p:txBody>
      </p:sp>
      <p:sp>
        <p:nvSpPr>
          <p:cNvPr id="24" name="Text 22">
            <a:extLst xmlns:a="http://schemas.openxmlformats.org/drawingml/2006/main">
              <a:ext uri="{FF2B5EF4-FFF2-40B4-BE49-F238E27FC236}">
                <a16:creationId xmlns:a16="http://schemas.microsoft.com/office/drawing/2014/main" id="{9F1FF19B-687D-46F8-B839-2F0637F9D965}"/>
              </a:ext>
            </a:extLst>
          </p:cNvPr>
          <p:cNvSpPr>
            <a:spLocks xmlns:a="http://schemas.openxmlformats.org/drawingml/2006/main" noGrp="1"/>
          </p:cNvSpPr>
          <p:nvPr/>
        </p:nvSpPr>
        <p:spPr>
          <a:xfrm xmlns:a="http://schemas.openxmlformats.org/drawingml/2006/main">
            <a:off x="1188720" y="3401568"/>
            <a:ext cx="98298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a:solidFill>
                  <a:srgbClr val="172033"/>
                </a:solidFill>
              </a:rPr>
              <a:t>A family chooses a small change and a worthwhile alternative</a:t>
            </a:r>
            <a:endParaRPr sz="1550"/>
          </a:p>
        </p:txBody>
      </p:sp>
      <p:sp>
        <p:nvSpPr>
          <p:cNvPr id="25" name="Shape 23">
            <a:extLst xmlns:a="http://schemas.openxmlformats.org/drawingml/2006/main">
              <a:ext uri="{FF2B5EF4-FFF2-40B4-BE49-F238E27FC236}">
                <a16:creationId xmlns:a16="http://schemas.microsoft.com/office/drawing/2014/main" id="{E23BD08B-3439-4A86-8A84-0720FDD101D7}"/>
              </a:ext>
            </a:extLst>
          </p:cNvPr>
          <p:cNvSpPr>
            <a:spLocks xmlns:a="http://schemas.openxmlformats.org/drawingml/2006/main" noGrp="1"/>
          </p:cNvSpPr>
          <p:nvPr/>
        </p:nvSpPr>
        <p:spPr>
          <a:xfrm xmlns:a="http://schemas.openxmlformats.org/drawingml/2006/main">
            <a:off x="685800" y="4087368"/>
            <a:ext cx="411480" cy="411480"/>
          </a:xfrm>
          <a:prstGeom xmlns:a="http://schemas.openxmlformats.org/drawingml/2006/main" prst="ellipse">
            <a:avLst/>
          </a:prstGeom>
          <a:solidFill xmlns:a="http://schemas.openxmlformats.org/drawingml/2006/main">
            <a:srgbClr val="F57C00"/>
          </a:solidFill>
          <a:ln xmlns:a="http://schemas.openxmlformats.org/drawingml/2006/main" w="12700">
            <a:solidFill>
              <a:srgbClr val="F57C00"/>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6" name="Text 24">
            <a:extLst xmlns:a="http://schemas.openxmlformats.org/drawingml/2006/main">
              <a:ext uri="{FF2B5EF4-FFF2-40B4-BE49-F238E27FC236}">
                <a16:creationId xmlns:a16="http://schemas.microsoft.com/office/drawing/2014/main" id="{D0E0C733-8A99-47EB-B7C9-6E169FDAC7CB}"/>
              </a:ext>
            </a:extLst>
          </p:cNvPr>
          <p:cNvSpPr>
            <a:spLocks xmlns:a="http://schemas.openxmlformats.org/drawingml/2006/main" noGrp="1"/>
          </p:cNvSpPr>
          <p:nvPr/>
        </p:nvSpPr>
        <p:spPr>
          <a:xfrm xmlns:a="http://schemas.openxmlformats.org/drawingml/2006/main">
            <a:off x="685800" y="4224528"/>
            <a:ext cx="41148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01</a:t>
            </a:r>
            <a:endParaRPr sz="1400"/>
          </a:p>
        </p:txBody>
      </p:sp>
      <p:sp>
        <p:nvSpPr>
          <p:cNvPr id="27" name="Text 25">
            <a:extLst xmlns:a="http://schemas.openxmlformats.org/drawingml/2006/main">
              <a:ext uri="{FF2B5EF4-FFF2-40B4-BE49-F238E27FC236}">
                <a16:creationId xmlns:a16="http://schemas.microsoft.com/office/drawing/2014/main" id="{007FA02E-CDAE-46CD-BC47-3311462006C7}"/>
              </a:ext>
            </a:extLst>
          </p:cNvPr>
          <p:cNvSpPr>
            <a:spLocks xmlns:a="http://schemas.openxmlformats.org/drawingml/2006/main" noGrp="1"/>
          </p:cNvSpPr>
          <p:nvPr/>
        </p:nvSpPr>
        <p:spPr>
          <a:xfrm xmlns:a="http://schemas.openxmlformats.org/drawingml/2006/main">
            <a:off x="1234440" y="416509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72033"/>
                </a:solidFill>
              </a:rPr>
              <a:t>Research-informed</a:t>
            </a:r>
            <a:endParaRPr sz="1400"/>
          </a:p>
        </p:txBody>
      </p:sp>
      <p:sp>
        <p:nvSpPr>
          <p:cNvPr id="28" name="Text 26">
            <a:extLst xmlns:a="http://schemas.openxmlformats.org/drawingml/2006/main">
              <a:ext uri="{FF2B5EF4-FFF2-40B4-BE49-F238E27FC236}">
                <a16:creationId xmlns:a16="http://schemas.microsoft.com/office/drawing/2014/main" id="{E73C2C92-C626-4DAD-8634-E8FC0963BA2F}"/>
              </a:ext>
            </a:extLst>
          </p:cNvPr>
          <p:cNvSpPr>
            <a:spLocks xmlns:a="http://schemas.openxmlformats.org/drawingml/2006/main" noGrp="1"/>
          </p:cNvSpPr>
          <p:nvPr/>
        </p:nvSpPr>
        <p:spPr>
          <a:xfrm xmlns:a="http://schemas.openxmlformats.org/drawingml/2006/main">
            <a:off x="1234440" y="4453128"/>
            <a:ext cx="2011680" cy="84124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marL="0" indent="0">
              <a:buNone/>
            </a:pPr>
            <a:r>
              <a:rPr sz="1425">
                <a:solidFill>
                  <a:srgbClr val="6F7782"/>
                </a:solidFill>
              </a:rPr>
              <a:t>Relevant evidence with clear limits.</a:t>
            </a:r>
            <a:endParaRPr sz="1050"/>
          </a:p>
        </p:txBody>
      </p:sp>
      <p:sp>
        <p:nvSpPr>
          <p:cNvPr id="29" name="Shape 27">
            <a:extLst xmlns:a="http://schemas.openxmlformats.org/drawingml/2006/main">
              <a:ext uri="{FF2B5EF4-FFF2-40B4-BE49-F238E27FC236}">
                <a16:creationId xmlns:a16="http://schemas.microsoft.com/office/drawing/2014/main" id="{2E3DA46A-2202-4407-81CF-DCD007F1763C}"/>
              </a:ext>
            </a:extLst>
          </p:cNvPr>
          <p:cNvSpPr>
            <a:spLocks xmlns:a="http://schemas.openxmlformats.org/drawingml/2006/main" noGrp="1"/>
          </p:cNvSpPr>
          <p:nvPr/>
        </p:nvSpPr>
        <p:spPr>
          <a:xfrm xmlns:a="http://schemas.openxmlformats.org/drawingml/2006/main">
            <a:off x="3502152" y="4087368"/>
            <a:ext cx="411480" cy="411480"/>
          </a:xfrm>
          <a:prstGeom xmlns:a="http://schemas.openxmlformats.org/drawingml/2006/main" prst="ellipse">
            <a:avLst/>
          </a:prstGeom>
          <a:solidFill xmlns:a="http://schemas.openxmlformats.org/drawingml/2006/main">
            <a:srgbClr val="F57C00"/>
          </a:solidFill>
          <a:ln xmlns:a="http://schemas.openxmlformats.org/drawingml/2006/main" w="12700">
            <a:solidFill>
              <a:srgbClr val="F57C00"/>
            </a:solidFill>
            <a:prstDash val="solid"/>
          </a:ln>
        </p:spPr>
        <p:txBody>
          <a:bodyPr xmlns:a="http://schemas.openxmlformats.org/drawingml/2006/main"/>
          <a:lstStyle xmlns:a="http://schemas.openxmlformats.org/drawingml/2006/main"/>
          <a:p xmlns:a="http://schemas.openxmlformats.org/drawingml/2006/main">
            <a:endParaRPr sz="4400"/>
          </a:p>
        </p:txBody>
      </p:sp>
      <p:sp>
        <p:nvSpPr>
          <p:cNvPr id="30" name="Text 28">
            <a:extLst xmlns:a="http://schemas.openxmlformats.org/drawingml/2006/main">
              <a:ext uri="{FF2B5EF4-FFF2-40B4-BE49-F238E27FC236}">
                <a16:creationId xmlns:a16="http://schemas.microsoft.com/office/drawing/2014/main" id="{8D71198E-C8D3-4A3A-AFD9-B803E39161CF}"/>
              </a:ext>
            </a:extLst>
          </p:cNvPr>
          <p:cNvSpPr>
            <a:spLocks xmlns:a="http://schemas.openxmlformats.org/drawingml/2006/main" noGrp="1"/>
          </p:cNvSpPr>
          <p:nvPr/>
        </p:nvSpPr>
        <p:spPr>
          <a:xfrm xmlns:a="http://schemas.openxmlformats.org/drawingml/2006/main">
            <a:off x="3502152" y="4224528"/>
            <a:ext cx="41148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02</a:t>
            </a:r>
            <a:endParaRPr sz="1400"/>
          </a:p>
        </p:txBody>
      </p:sp>
      <p:sp>
        <p:nvSpPr>
          <p:cNvPr id="31" name="Text 29">
            <a:extLst xmlns:a="http://schemas.openxmlformats.org/drawingml/2006/main">
              <a:ext uri="{FF2B5EF4-FFF2-40B4-BE49-F238E27FC236}">
                <a16:creationId xmlns:a16="http://schemas.microsoft.com/office/drawing/2014/main" id="{2215072D-BE43-49E2-8F74-8703B13980B3}"/>
              </a:ext>
            </a:extLst>
          </p:cNvPr>
          <p:cNvSpPr>
            <a:spLocks xmlns:a="http://schemas.openxmlformats.org/drawingml/2006/main" noGrp="1"/>
          </p:cNvSpPr>
          <p:nvPr/>
        </p:nvSpPr>
        <p:spPr>
          <a:xfrm xmlns:a="http://schemas.openxmlformats.org/drawingml/2006/main">
            <a:off x="4050792" y="416509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72033"/>
                </a:solidFill>
              </a:rPr>
              <a:t>Family-wide</a:t>
            </a:r>
            <a:endParaRPr sz="1400"/>
          </a:p>
        </p:txBody>
      </p:sp>
      <p:sp>
        <p:nvSpPr>
          <p:cNvPr id="32" name="Text 30">
            <a:extLst xmlns:a="http://schemas.openxmlformats.org/drawingml/2006/main">
              <a:ext uri="{FF2B5EF4-FFF2-40B4-BE49-F238E27FC236}">
                <a16:creationId xmlns:a16="http://schemas.microsoft.com/office/drawing/2014/main" id="{638898E2-0C99-499B-ADF6-70C5EDDE86CA}"/>
              </a:ext>
            </a:extLst>
          </p:cNvPr>
          <p:cNvSpPr>
            <a:spLocks xmlns:a="http://schemas.openxmlformats.org/drawingml/2006/main" noGrp="1"/>
          </p:cNvSpPr>
          <p:nvPr/>
        </p:nvSpPr>
        <p:spPr>
          <a:xfrm xmlns:a="http://schemas.openxmlformats.org/drawingml/2006/main">
            <a:off x="4050792" y="4453128"/>
            <a:ext cx="2011680" cy="84124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marL="0" indent="0">
              <a:buNone/>
            </a:pPr>
            <a:r>
              <a:rPr sz="1425">
                <a:solidFill>
                  <a:srgbClr val="6F7782"/>
                </a:solidFill>
              </a:rPr>
              <a:t>Parents and children each make commitments.</a:t>
            </a:r>
            <a:endParaRPr sz="1050"/>
          </a:p>
        </p:txBody>
      </p:sp>
      <p:sp>
        <p:nvSpPr>
          <p:cNvPr id="33" name="Shape 31">
            <a:extLst xmlns:a="http://schemas.openxmlformats.org/drawingml/2006/main">
              <a:ext uri="{FF2B5EF4-FFF2-40B4-BE49-F238E27FC236}">
                <a16:creationId xmlns:a16="http://schemas.microsoft.com/office/drawing/2014/main" id="{6FF25C3B-A3DC-46C3-A37E-FBDBCA7F84A8}"/>
              </a:ext>
            </a:extLst>
          </p:cNvPr>
          <p:cNvSpPr>
            <a:spLocks xmlns:a="http://schemas.openxmlformats.org/drawingml/2006/main" noGrp="1"/>
          </p:cNvSpPr>
          <p:nvPr/>
        </p:nvSpPr>
        <p:spPr>
          <a:xfrm xmlns:a="http://schemas.openxmlformats.org/drawingml/2006/main">
            <a:off x="6318504" y="4087368"/>
            <a:ext cx="411480" cy="411480"/>
          </a:xfrm>
          <a:prstGeom xmlns:a="http://schemas.openxmlformats.org/drawingml/2006/main" prst="ellipse">
            <a:avLst/>
          </a:prstGeom>
          <a:solidFill xmlns:a="http://schemas.openxmlformats.org/drawingml/2006/main">
            <a:srgbClr val="F57C00"/>
          </a:solidFill>
          <a:ln xmlns:a="http://schemas.openxmlformats.org/drawingml/2006/main" w="12700">
            <a:solidFill>
              <a:srgbClr val="F57C00"/>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4" name="Text 32">
            <a:extLst xmlns:a="http://schemas.openxmlformats.org/drawingml/2006/main">
              <a:ext uri="{FF2B5EF4-FFF2-40B4-BE49-F238E27FC236}">
                <a16:creationId xmlns:a16="http://schemas.microsoft.com/office/drawing/2014/main" id="{6A7115C7-8B87-4C9D-856B-7446C8CC496C}"/>
              </a:ext>
            </a:extLst>
          </p:cNvPr>
          <p:cNvSpPr>
            <a:spLocks xmlns:a="http://schemas.openxmlformats.org/drawingml/2006/main" noGrp="1"/>
          </p:cNvSpPr>
          <p:nvPr/>
        </p:nvSpPr>
        <p:spPr>
          <a:xfrm xmlns:a="http://schemas.openxmlformats.org/drawingml/2006/main">
            <a:off x="6318504" y="4224528"/>
            <a:ext cx="41148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03</a:t>
            </a:r>
            <a:endParaRPr sz="1400"/>
          </a:p>
        </p:txBody>
      </p:sp>
      <p:sp>
        <p:nvSpPr>
          <p:cNvPr id="35" name="Text 33">
            <a:extLst xmlns:a="http://schemas.openxmlformats.org/drawingml/2006/main">
              <a:ext uri="{FF2B5EF4-FFF2-40B4-BE49-F238E27FC236}">
                <a16:creationId xmlns:a16="http://schemas.microsoft.com/office/drawing/2014/main" id="{EB4A7779-7457-4D5B-B2B9-C98567C02251}"/>
              </a:ext>
            </a:extLst>
          </p:cNvPr>
          <p:cNvSpPr>
            <a:spLocks xmlns:a="http://schemas.openxmlformats.org/drawingml/2006/main" noGrp="1"/>
          </p:cNvSpPr>
          <p:nvPr/>
        </p:nvSpPr>
        <p:spPr>
          <a:xfrm xmlns:a="http://schemas.openxmlformats.org/drawingml/2006/main">
            <a:off x="6867144" y="416509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72033"/>
                </a:solidFill>
              </a:rPr>
              <a:t>Pragmatic</a:t>
            </a:r>
            <a:endParaRPr sz="1400"/>
          </a:p>
        </p:txBody>
      </p:sp>
      <p:sp>
        <p:nvSpPr>
          <p:cNvPr id="36" name="Text 34">
            <a:extLst xmlns:a="http://schemas.openxmlformats.org/drawingml/2006/main">
              <a:ext uri="{FF2B5EF4-FFF2-40B4-BE49-F238E27FC236}">
                <a16:creationId xmlns:a16="http://schemas.microsoft.com/office/drawing/2014/main" id="{98B5BE95-4294-4A51-8F75-32255550021B}"/>
              </a:ext>
            </a:extLst>
          </p:cNvPr>
          <p:cNvSpPr>
            <a:spLocks xmlns:a="http://schemas.openxmlformats.org/drawingml/2006/main" noGrp="1"/>
          </p:cNvSpPr>
          <p:nvPr/>
        </p:nvSpPr>
        <p:spPr>
          <a:xfrm xmlns:a="http://schemas.openxmlformats.org/drawingml/2006/main">
            <a:off x="6867144" y="4453128"/>
            <a:ext cx="2011680" cy="84124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marL="0" indent="0">
              <a:buNone/>
            </a:pPr>
            <a:r>
              <a:rPr sz="1425">
                <a:solidFill>
                  <a:srgbClr val="6F7782"/>
                </a:solidFill>
              </a:rPr>
              <a:t>One useful step the family can actually try.</a:t>
            </a:r>
            <a:endParaRPr sz="1050"/>
          </a:p>
        </p:txBody>
      </p:sp>
      <p:sp>
        <p:nvSpPr>
          <p:cNvPr id="37" name="Shape 35">
            <a:extLst xmlns:a="http://schemas.openxmlformats.org/drawingml/2006/main">
              <a:ext uri="{FF2B5EF4-FFF2-40B4-BE49-F238E27FC236}">
                <a16:creationId xmlns:a16="http://schemas.microsoft.com/office/drawing/2014/main" id="{71C815EA-FE74-44AD-A540-EEDD65DC7B1B}"/>
              </a:ext>
            </a:extLst>
          </p:cNvPr>
          <p:cNvSpPr>
            <a:spLocks xmlns:a="http://schemas.openxmlformats.org/drawingml/2006/main" noGrp="1"/>
          </p:cNvSpPr>
          <p:nvPr/>
        </p:nvSpPr>
        <p:spPr>
          <a:xfrm xmlns:a="http://schemas.openxmlformats.org/drawingml/2006/main">
            <a:off x="9134856" y="4087368"/>
            <a:ext cx="411480" cy="411480"/>
          </a:xfrm>
          <a:prstGeom xmlns:a="http://schemas.openxmlformats.org/drawingml/2006/main" prst="ellipse">
            <a:avLst/>
          </a:prstGeom>
          <a:solidFill xmlns:a="http://schemas.openxmlformats.org/drawingml/2006/main">
            <a:srgbClr val="F57C00"/>
          </a:solidFill>
          <a:ln xmlns:a="http://schemas.openxmlformats.org/drawingml/2006/main" w="12700">
            <a:solidFill>
              <a:srgbClr val="F57C00"/>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8" name="Text 36">
            <a:extLst xmlns:a="http://schemas.openxmlformats.org/drawingml/2006/main">
              <a:ext uri="{FF2B5EF4-FFF2-40B4-BE49-F238E27FC236}">
                <a16:creationId xmlns:a16="http://schemas.microsoft.com/office/drawing/2014/main" id="{C70BFF53-DC19-439A-AA3F-881DB243192D}"/>
              </a:ext>
            </a:extLst>
          </p:cNvPr>
          <p:cNvSpPr>
            <a:spLocks xmlns:a="http://schemas.openxmlformats.org/drawingml/2006/main" noGrp="1"/>
          </p:cNvSpPr>
          <p:nvPr/>
        </p:nvSpPr>
        <p:spPr>
          <a:xfrm xmlns:a="http://schemas.openxmlformats.org/drawingml/2006/main">
            <a:off x="9134856" y="4224528"/>
            <a:ext cx="411480"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04</a:t>
            </a:r>
            <a:endParaRPr sz="1400"/>
          </a:p>
        </p:txBody>
      </p:sp>
      <p:sp>
        <p:nvSpPr>
          <p:cNvPr id="39" name="Text 37">
            <a:extLst xmlns:a="http://schemas.openxmlformats.org/drawingml/2006/main">
              <a:ext uri="{FF2B5EF4-FFF2-40B4-BE49-F238E27FC236}">
                <a16:creationId xmlns:a16="http://schemas.microsoft.com/office/drawing/2014/main" id="{B9322354-D9BD-4F46-AC18-C6B2DBA7902F}"/>
              </a:ext>
            </a:extLst>
          </p:cNvPr>
          <p:cNvSpPr>
            <a:spLocks xmlns:a="http://schemas.openxmlformats.org/drawingml/2006/main" noGrp="1"/>
          </p:cNvSpPr>
          <p:nvPr/>
        </p:nvSpPr>
        <p:spPr>
          <a:xfrm xmlns:a="http://schemas.openxmlformats.org/drawingml/2006/main">
            <a:off x="9683496" y="416509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72033"/>
                </a:solidFill>
              </a:rPr>
              <a:t>Replacement-led</a:t>
            </a:r>
            <a:endParaRPr sz="1400"/>
          </a:p>
        </p:txBody>
      </p:sp>
      <p:sp>
        <p:nvSpPr>
          <p:cNvPr id="40" name="Text 38">
            <a:extLst xmlns:a="http://schemas.openxmlformats.org/drawingml/2006/main">
              <a:ext uri="{FF2B5EF4-FFF2-40B4-BE49-F238E27FC236}">
                <a16:creationId xmlns:a16="http://schemas.microsoft.com/office/drawing/2014/main" id="{84C42BE0-2EE0-4B95-9709-2B805B7107BF}"/>
              </a:ext>
            </a:extLst>
          </p:cNvPr>
          <p:cNvSpPr>
            <a:spLocks xmlns:a="http://schemas.openxmlformats.org/drawingml/2006/main" noGrp="1"/>
          </p:cNvSpPr>
          <p:nvPr/>
        </p:nvSpPr>
        <p:spPr>
          <a:xfrm xmlns:a="http://schemas.openxmlformats.org/drawingml/2006/main">
            <a:off x="9683496" y="4453128"/>
            <a:ext cx="2011680" cy="84124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marL="0" indent="0">
              <a:buNone/>
            </a:pPr>
            <a:r>
              <a:rPr sz="1425">
                <a:solidFill>
                  <a:srgbClr val="6F7782"/>
                </a:solidFill>
              </a:rPr>
              <a:t>Every reduction needs an appealing alternative.</a:t>
            </a:r>
            <a:endParaRPr sz="1050"/>
          </a:p>
        </p:txBody>
      </p:sp>
      <p:sp>
        <p:nvSpPr>
          <p:cNvPr id="41" name="Shape 39">
            <a:extLst xmlns:a="http://schemas.openxmlformats.org/drawingml/2006/main">
              <a:ext uri="{FF2B5EF4-FFF2-40B4-BE49-F238E27FC236}">
                <a16:creationId xmlns:a16="http://schemas.microsoft.com/office/drawing/2014/main" id="{7BE08D35-2958-43C3-A37A-3EA778DEAB97}"/>
              </a:ext>
            </a:extLst>
          </p:cNvPr>
          <p:cNvSpPr>
            <a:spLocks xmlns:a="http://schemas.openxmlformats.org/drawingml/2006/main" noGrp="1"/>
          </p:cNvSpPr>
          <p:nvPr/>
        </p:nvSpPr>
        <p:spPr>
          <a:xfrm xmlns:a="http://schemas.openxmlformats.org/drawingml/2006/main">
            <a:off x="914400" y="5596128"/>
            <a:ext cx="10332720" cy="566928"/>
          </a:xfrm>
          <a:prstGeom xmlns:a="http://schemas.openxmlformats.org/drawingml/2006/main" prst="roundRect">
            <a:avLst/>
          </a:prstGeom>
          <a:solidFill xmlns:a="http://schemas.openxmlformats.org/drawingml/2006/main">
            <a:srgbClr val="172033"/>
          </a:solidFill>
          <a:ln xmlns:a="http://schemas.openxmlformats.org/drawingml/2006/main" w="12700">
            <a:solidFill>
              <a:srgbClr val="172033"/>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1CD8B9BA-C92E-4A1A-A8CC-163574BD03FD}"/>
              </a:ext>
            </a:extLst>
          </p:cNvPr>
          <p:cNvSpPr>
            <a:spLocks xmlns:a="http://schemas.openxmlformats.org/drawingml/2006/main" noGrp="1"/>
          </p:cNvSpPr>
          <p:nvPr/>
        </p:nvSpPr>
        <p:spPr>
          <a:xfrm xmlns:a="http://schemas.openxmlformats.org/drawingml/2006/main">
            <a:off x="1143000" y="5751576"/>
            <a:ext cx="9875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800"/>
            </a:defPPr>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marL="0" indent="0" algn="ctr">
              <a:buNone/>
            </a:pPr>
            <a:r>
              <a:rPr sz="1800" b="1">
                <a:solidFill>
                  <a:srgbClr val="FFFFFF"/>
                </a:solidFill>
              </a:rPr>
              <a:t>A family owns the decision. Joolian helps make it easier to act.</a:t>
            </a:r>
            <a:endParaRPr sz="1600"/>
          </a:p>
        </p:txBody>
      </p:sp>
      <p:sp>
        <p:nvSpPr>
          <p:cNvPr id="43" name="Slide Number Placeholder 0">
            <a:extLst xmlns:a="http://schemas.openxmlformats.org/drawingml/2006/main">
              <a:ext uri="{FF2B5EF4-FFF2-40B4-BE49-F238E27FC236}">
                <a16:creationId xmlns:a16="http://schemas.microsoft.com/office/drawing/2014/main" id="{8C35006F-23CE-4B25-B586-496FD5596BC9}"/>
              </a:ext>
            </a:extLst>
          </p:cNvPr>
          <p:cNvSpPr>
            <a:spLocks xmlns:a="http://schemas.openxmlformats.org/drawingml/2006/main" noGrp="1"/>
          </p:cNvSpPr>
          <p:nvPr>
            <p:ph type="sldNum" idx="4294967295"/>
          </p:nvPr>
        </p:nvSpPr>
        <p:spPr>
          <a:xfrm xmlns:a="http://schemas.openxmlformats.org/drawingml/2006/main">
            <a:off x="11887200" y="201168"/>
            <a:ext cx="1905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A0A0A0"/>
                </a:solidFill>
              </a:defRPr>
            </a:lvl1pPr>
          </a:lstStyle>
          <a:p xmlns:a="http://schemas.openxmlformats.org/drawingml/2006/main">
            <a:pPr algn="l">
              <a:buNone/>
            </a:pPr>
            <a:fld id="{D3D7D1C8-AE23-AA48-DF65-C742588DBE47}" type="slidenum">
              <a:rPr b="0"/>
              <a:t>7</a:t>
            </a:fld>
            <a:endParaRPr/>
          </a:p>
        </p:txBody>
      </p:sp>
    </p:spTree>
    <p:extLst>
      <p:ext uri="{BB962C8B-B14F-4D97-AF65-F5344CB8AC3E}">
        <p14:creationId xmlns:p14="http://schemas.microsoft.com/office/powerpoint/2010/main" val="8328124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B0E7B1EE-7B04-4F68-ADAA-99EF8EEAF1AD}"/>
              </a:ext>
            </a:extLst>
          </p:cNvPr>
          <p:cNvSpPr>
            <a:spLocks xmlns:a="http://schemas.openxmlformats.org/drawingml/2006/main" noGrp="1"/>
          </p:cNvSpPr>
          <p:nvPr/>
        </p:nvSpPr>
        <p:spPr>
          <a:xfrm xmlns:a="http://schemas.openxmlformats.org/drawingml/2006/main">
            <a:off x="504825" y="5334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1">
                <a:solidFill>
                  <a:srgbClr val="2F73B9"/>
                </a:solidFill>
                <a:latin typeface="Aptos"/>
                <a:ea typeface="Aptos"/>
                <a:cs typeface="Aptos"/>
              </a:defRPr>
            </a:defPPr>
            <a:lvl1pPr>
              <a:defRPr sz="1050" b="1">
                <a:solidFill>
                  <a:srgbClr val="2F73B9"/>
                </a:solidFill>
                <a:latin typeface="Aptos"/>
                <a:ea typeface="Aptos"/>
                <a:cs typeface="Aptos"/>
              </a:defRPr>
            </a:lvl1pPr>
            <a:lvl2pPr>
              <a:defRPr sz="1050" b="1">
                <a:solidFill>
                  <a:srgbClr val="2F73B9"/>
                </a:solidFill>
                <a:latin typeface="Aptos"/>
                <a:ea typeface="Aptos"/>
                <a:cs typeface="Aptos"/>
              </a:defRPr>
            </a:lvl2pPr>
            <a:lvl3pPr>
              <a:defRPr sz="1050" b="1">
                <a:solidFill>
                  <a:srgbClr val="2F73B9"/>
                </a:solidFill>
                <a:latin typeface="Aptos"/>
                <a:ea typeface="Aptos"/>
                <a:cs typeface="Aptos"/>
              </a:defRPr>
            </a:lvl3pPr>
            <a:lvl4pPr>
              <a:defRPr sz="1050" b="1">
                <a:solidFill>
                  <a:srgbClr val="2F73B9"/>
                </a:solidFill>
                <a:latin typeface="Aptos"/>
                <a:ea typeface="Aptos"/>
                <a:cs typeface="Aptos"/>
              </a:defRPr>
            </a:lvl4pPr>
            <a:lvl5pPr>
              <a:defRPr sz="1050" b="1">
                <a:solidFill>
                  <a:srgbClr val="2F73B9"/>
                </a:solidFill>
                <a:latin typeface="Aptos"/>
                <a:ea typeface="Aptos"/>
                <a:cs typeface="Aptos"/>
              </a:defRPr>
            </a:lvl5pPr>
            <a:lvl6pPr>
              <a:defRPr sz="1050" b="1">
                <a:solidFill>
                  <a:srgbClr val="2F73B9"/>
                </a:solidFill>
                <a:latin typeface="Aptos"/>
                <a:ea typeface="Aptos"/>
                <a:cs typeface="Aptos"/>
              </a:defRPr>
            </a:lvl6pPr>
            <a:lvl7pPr>
              <a:defRPr sz="1050" b="1">
                <a:solidFill>
                  <a:srgbClr val="2F73B9"/>
                </a:solidFill>
                <a:latin typeface="Aptos"/>
                <a:ea typeface="Aptos"/>
                <a:cs typeface="Aptos"/>
              </a:defRPr>
            </a:lvl7pPr>
            <a:lvl8pPr>
              <a:defRPr sz="1050" b="1">
                <a:solidFill>
                  <a:srgbClr val="2F73B9"/>
                </a:solidFill>
                <a:latin typeface="Aptos"/>
                <a:ea typeface="Aptos"/>
                <a:cs typeface="Aptos"/>
              </a:defRPr>
            </a:lvl8pPr>
            <a:lvl9pPr>
              <a:defRPr sz="1050" b="1">
                <a:solidFill>
                  <a:srgbClr val="2F73B9"/>
                </a:solidFill>
                <a:latin typeface="Aptos"/>
                <a:ea typeface="Aptos"/>
                <a:cs typeface="Aptos"/>
              </a:defRPr>
            </a:lvl9pPr>
          </a:lstStyle>
          <a:p xmlns:a="http://schemas.openxmlformats.org/drawingml/2006/main">
            <a:pPr>
              <a:defRPr sz="1050" b="1">
                <a:solidFill>
                  <a:srgbClr val="2F73B9"/>
                </a:solidFill>
                <a:latin typeface="Aptos"/>
                <a:ea typeface="Aptos"/>
                <a:cs typeface="Aptos"/>
              </a:defRPr>
            </a:pPr>
            <a:r>
              <a:rPr sz="1050" b="1">
                <a:solidFill>
                  <a:srgbClr val="2F73B9"/>
                </a:solidFill>
                <a:latin typeface="Aptos"/>
                <a:ea typeface="Aptos"/>
                <a:cs typeface="Aptos"/>
              </a:rPr>
              <a:t>AI PRACTICE 4 OF 6</a:t>
            </a:r>
          </a:p>
        </p:txBody>
      </p:sp>
      <p:sp>
        <p:nvSpPr>
          <p:cNvPr id="2" name="title">
            <a:extLst xmlns:a="http://schemas.openxmlformats.org/drawingml/2006/main">
              <a:ext uri="{FF2B5EF4-FFF2-40B4-BE49-F238E27FC236}">
                <a16:creationId xmlns:a16="http://schemas.microsoft.com/office/drawing/2014/main" id="{FF9E3DEE-85E1-4F8D-91B6-AFD6DF4C0566}"/>
              </a:ext>
            </a:extLst>
          </p:cNvPr>
          <p:cNvSpPr>
            <a:spLocks xmlns:a="http://schemas.openxmlformats.org/drawingml/2006/main" noGrp="1"/>
          </p:cNvSpPr>
          <p:nvPr/>
        </p:nvSpPr>
        <p:spPr>
          <a:xfrm xmlns:a="http://schemas.openxmlformats.org/drawingml/2006/main">
            <a:off x="504825" y="885825"/>
            <a:ext cx="11182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2033"/>
                </a:solidFill>
                <a:latin typeface="Aptos"/>
                <a:ea typeface="Aptos"/>
                <a:cs typeface="Aptos"/>
              </a:defRPr>
            </a:defPPr>
            <a:lvl1pPr>
              <a:defRPr sz="2850" b="1">
                <a:solidFill>
                  <a:srgbClr val="172033"/>
                </a:solidFill>
                <a:latin typeface="Aptos"/>
                <a:ea typeface="Aptos"/>
                <a:cs typeface="Aptos"/>
              </a:defRPr>
            </a:lvl1pPr>
            <a:lvl2pPr>
              <a:defRPr sz="2850" b="1">
                <a:solidFill>
                  <a:srgbClr val="172033"/>
                </a:solidFill>
                <a:latin typeface="Aptos"/>
                <a:ea typeface="Aptos"/>
                <a:cs typeface="Aptos"/>
              </a:defRPr>
            </a:lvl2pPr>
            <a:lvl3pPr>
              <a:defRPr sz="2850" b="1">
                <a:solidFill>
                  <a:srgbClr val="172033"/>
                </a:solidFill>
                <a:latin typeface="Aptos"/>
                <a:ea typeface="Aptos"/>
                <a:cs typeface="Aptos"/>
              </a:defRPr>
            </a:lvl3pPr>
            <a:lvl4pPr>
              <a:defRPr sz="2850" b="1">
                <a:solidFill>
                  <a:srgbClr val="172033"/>
                </a:solidFill>
                <a:latin typeface="Aptos"/>
                <a:ea typeface="Aptos"/>
                <a:cs typeface="Aptos"/>
              </a:defRPr>
            </a:lvl4pPr>
            <a:lvl5pPr>
              <a:defRPr sz="2850" b="1">
                <a:solidFill>
                  <a:srgbClr val="172033"/>
                </a:solidFill>
                <a:latin typeface="Aptos"/>
                <a:ea typeface="Aptos"/>
                <a:cs typeface="Aptos"/>
              </a:defRPr>
            </a:lvl5pPr>
            <a:lvl6pPr>
              <a:defRPr sz="2850" b="1">
                <a:solidFill>
                  <a:srgbClr val="172033"/>
                </a:solidFill>
                <a:latin typeface="Aptos"/>
                <a:ea typeface="Aptos"/>
                <a:cs typeface="Aptos"/>
              </a:defRPr>
            </a:lvl6pPr>
            <a:lvl7pPr>
              <a:defRPr sz="2850" b="1">
                <a:solidFill>
                  <a:srgbClr val="172033"/>
                </a:solidFill>
                <a:latin typeface="Aptos"/>
                <a:ea typeface="Aptos"/>
                <a:cs typeface="Aptos"/>
              </a:defRPr>
            </a:lvl7pPr>
            <a:lvl8pPr>
              <a:defRPr sz="2850" b="1">
                <a:solidFill>
                  <a:srgbClr val="172033"/>
                </a:solidFill>
                <a:latin typeface="Aptos"/>
                <a:ea typeface="Aptos"/>
                <a:cs typeface="Aptos"/>
              </a:defRPr>
            </a:lvl8pPr>
            <a:lvl9pPr>
              <a:defRPr sz="2850" b="1">
                <a:solidFill>
                  <a:srgbClr val="172033"/>
                </a:solidFill>
                <a:latin typeface="Aptos"/>
                <a:ea typeface="Aptos"/>
                <a:cs typeface="Aptos"/>
              </a:defRPr>
            </a:lvl9pPr>
          </a:lstStyle>
          <a:p xmlns:a="http://schemas.openxmlformats.org/drawingml/2006/main">
            <a:pPr>
              <a:defRPr sz="2850" b="1">
                <a:solidFill>
                  <a:srgbClr val="172033"/>
                </a:solidFill>
                <a:latin typeface="Aptos"/>
                <a:ea typeface="Aptos"/>
                <a:cs typeface="Aptos"/>
              </a:defRPr>
            </a:pPr>
            <a:r>
              <a:rPr sz="2850" b="1">
                <a:solidFill>
                  <a:srgbClr val="172033"/>
                </a:solidFill>
                <a:latin typeface="Aptos"/>
                <a:ea typeface="Aptos"/>
                <a:cs typeface="Aptos"/>
              </a:rPr>
              <a:t>The system around the model</a:t>
            </a:r>
          </a:p>
        </p:txBody>
      </p:sp>
      <p:sp>
        <p:nvSpPr>
          <p:cNvPr id="3" name="subtitle">
            <a:extLst xmlns:a="http://schemas.openxmlformats.org/drawingml/2006/main">
              <a:ext uri="{FF2B5EF4-FFF2-40B4-BE49-F238E27FC236}">
                <a16:creationId xmlns:a16="http://schemas.microsoft.com/office/drawing/2014/main" id="{A299CC3E-E4BD-4B7D-823F-FF027A55F1FD}"/>
              </a:ext>
            </a:extLst>
          </p:cNvPr>
          <p:cNvSpPr>
            <a:spLocks xmlns:a="http://schemas.openxmlformats.org/drawingml/2006/main" noGrp="1"/>
          </p:cNvSpPr>
          <p:nvPr/>
        </p:nvSpPr>
        <p:spPr>
          <a:xfrm xmlns:a="http://schemas.openxmlformats.org/drawingml/2006/main">
            <a:off x="504825" y="1457325"/>
            <a:ext cx="11182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F7782"/>
                </a:solidFill>
                <a:latin typeface="Aptos"/>
                <a:ea typeface="Aptos"/>
                <a:cs typeface="Aptos"/>
              </a:defRPr>
            </a:defPPr>
            <a:lvl1pPr>
              <a:defRPr sz="1650" b="0">
                <a:solidFill>
                  <a:srgbClr val="6F7782"/>
                </a:solidFill>
                <a:latin typeface="Aptos"/>
                <a:ea typeface="Aptos"/>
                <a:cs typeface="Aptos"/>
              </a:defRPr>
            </a:lvl1pPr>
            <a:lvl2pPr>
              <a:defRPr sz="1650" b="0">
                <a:solidFill>
                  <a:srgbClr val="6F7782"/>
                </a:solidFill>
                <a:latin typeface="Aptos"/>
                <a:ea typeface="Aptos"/>
                <a:cs typeface="Aptos"/>
              </a:defRPr>
            </a:lvl2pPr>
            <a:lvl3pPr>
              <a:defRPr sz="1650" b="0">
                <a:solidFill>
                  <a:srgbClr val="6F7782"/>
                </a:solidFill>
                <a:latin typeface="Aptos"/>
                <a:ea typeface="Aptos"/>
                <a:cs typeface="Aptos"/>
              </a:defRPr>
            </a:lvl3pPr>
            <a:lvl4pPr>
              <a:defRPr sz="1650" b="0">
                <a:solidFill>
                  <a:srgbClr val="6F7782"/>
                </a:solidFill>
                <a:latin typeface="Aptos"/>
                <a:ea typeface="Aptos"/>
                <a:cs typeface="Aptos"/>
              </a:defRPr>
            </a:lvl4pPr>
            <a:lvl5pPr>
              <a:defRPr sz="1650" b="0">
                <a:solidFill>
                  <a:srgbClr val="6F7782"/>
                </a:solidFill>
                <a:latin typeface="Aptos"/>
                <a:ea typeface="Aptos"/>
                <a:cs typeface="Aptos"/>
              </a:defRPr>
            </a:lvl5pPr>
            <a:lvl6pPr>
              <a:defRPr sz="1650" b="0">
                <a:solidFill>
                  <a:srgbClr val="6F7782"/>
                </a:solidFill>
                <a:latin typeface="Aptos"/>
                <a:ea typeface="Aptos"/>
                <a:cs typeface="Aptos"/>
              </a:defRPr>
            </a:lvl6pPr>
            <a:lvl7pPr>
              <a:defRPr sz="1650" b="0">
                <a:solidFill>
                  <a:srgbClr val="6F7782"/>
                </a:solidFill>
                <a:latin typeface="Aptos"/>
                <a:ea typeface="Aptos"/>
                <a:cs typeface="Aptos"/>
              </a:defRPr>
            </a:lvl7pPr>
            <a:lvl8pPr>
              <a:defRPr sz="1650" b="0">
                <a:solidFill>
                  <a:srgbClr val="6F7782"/>
                </a:solidFill>
                <a:latin typeface="Aptos"/>
                <a:ea typeface="Aptos"/>
                <a:cs typeface="Aptos"/>
              </a:defRPr>
            </a:lvl8pPr>
            <a:lvl9pPr>
              <a:defRPr sz="1650" b="0">
                <a:solidFill>
                  <a:srgbClr val="6F7782"/>
                </a:solidFill>
                <a:latin typeface="Aptos"/>
                <a:ea typeface="Aptos"/>
                <a:cs typeface="Aptos"/>
              </a:defRPr>
            </a:lvl9pPr>
          </a:lstStyle>
          <a:p xmlns:a="http://schemas.openxmlformats.org/drawingml/2006/main">
            <a:pPr>
              <a:defRPr sz="1650" b="0">
                <a:solidFill>
                  <a:srgbClr val="6F7782"/>
                </a:solidFill>
                <a:latin typeface="Aptos"/>
                <a:ea typeface="Aptos"/>
                <a:cs typeface="Aptos"/>
              </a:defRPr>
            </a:pPr>
            <a:r>
              <a:rPr sz="1650" b="0">
                <a:solidFill>
                  <a:srgbClr val="6F7782"/>
                </a:solidFill>
                <a:latin typeface="Aptos"/>
                <a:ea typeface="Aptos"/>
                <a:cs typeface="Aptos"/>
              </a:rPr>
              <a:t>Proposed architecture: the model drafts a suggestion using approved context and retrieved facts.</a:t>
            </a:r>
          </a:p>
        </p:txBody>
      </p:sp>
      <p:graphicFrame>
        <p:nvGraphicFramePr>
          <p:cNvPr id="4" name="">
            <a:extLst xmlns:a="http://schemas.openxmlformats.org/drawingml/2006/main">
              <a:ext uri="{FF2B5EF4-FFF2-40B4-BE49-F238E27FC236}">
                <a16:creationId xmlns:a16="http://schemas.microsoft.com/office/drawing/2014/main" id="{16F61EF5-5B3C-4D52-A170-823AADC0D55E}"/>
              </a:ext>
            </a:extLst>
          </p:cNvPr>
          <p:cNvGraphicFramePr/>
          <p:nvPr/>
        </p:nvGraphicFramePr>
        <p:xfrm>
          <a:off xmlns:a="http://schemas.openxmlformats.org/drawingml/2006/main" x="504825" y="1981200"/>
          <a:ext xmlns:a="http://schemas.openxmlformats.org/drawingml/2006/main" cx="11182350" cy="3333750"/>
        </p:xfrm>
        <a:graphic xmlns:a="http://schemas.openxmlformats.org/drawingml/2006/main">
          <a:graphicData uri="http://schemas.openxmlformats.org/drawingml/2006/table">
            <a:tbl>
              <a:tblPr/>
              <a:tblGrid>
                <a:gridCol w="2381250"/>
                <a:gridCol w="3333750"/>
                <a:gridCol w="5467350"/>
              </a:tblGrid>
              <a:tr h="666750">
                <a:tc>
                  <a:txBody>
                    <a:bodyPr/>
                    <a:lstStyle/>
                    <a:p>
                      <a:r>
                        <a:rPr sz="1425" b="1">
                          <a:solidFill>
                            <a:srgbClr val="FFFFFF"/>
                          </a:solidFill>
                          <a:latin typeface="Aptos"/>
                          <a:ea typeface="Aptos"/>
                          <a:cs typeface="Aptos"/>
                        </a:rPr>
                        <a:t>Layer</a:t>
                      </a:r>
                    </a:p>
                  </a:txBody>
                  <a:tcPr marL="133350" marR="114300" marT="114300" marB="95250" anchor="ctr">
                    <a:lnL w="6668">
                      <a:solidFill>
                        <a:srgbClr val="E2D8C9"/>
                      </a:solidFill>
                    </a:lnL>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Tools or approach</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Role in Joolian</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r>
              <a:tr h="666750">
                <a:tc>
                  <a:txBody>
                    <a:bodyPr/>
                    <a:lstStyle/>
                    <a:p>
                      <a:r>
                        <a:rPr sz="1650" b="1">
                          <a:solidFill>
                            <a:srgbClr val="172033"/>
                          </a:solidFill>
                          <a:latin typeface="Aptos"/>
                          <a:ea typeface="Aptos"/>
                          <a:cs typeface="Aptos"/>
                        </a:rPr>
                        <a:t>Family context</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650" b="0">
                          <a:solidFill>
                            <a:srgbClr val="172033"/>
                          </a:solidFill>
                          <a:latin typeface="Aptos"/>
                          <a:ea typeface="Aptos"/>
                          <a:cs typeface="Aptos"/>
                        </a:rPr>
                        <a:t>Consent + application database</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650" b="0">
                          <a:solidFill>
                            <a:srgbClr val="172033"/>
                          </a:solidFill>
                          <a:latin typeface="Aptos"/>
                          <a:ea typeface="Aptos"/>
                          <a:cs typeface="Aptos"/>
                        </a:rPr>
                        <a:t>Store only approved preferences,</a:t>
                      </a:r>
                    </a:p>
                    <a:p>
                      <a:r>
                        <a:rPr sz="1650" b="0">
                          <a:solidFill>
                            <a:srgbClr val="172033"/>
                          </a:solidFill>
                          <a:latin typeface="Aptos"/>
                          <a:ea typeface="Aptos"/>
                          <a:cs typeface="Aptos"/>
                        </a:rPr>
                        <a:t>constraints, and past feedback.</a:t>
                      </a:r>
                    </a:p>
                  </a:txBody>
                  <a:tcPr marL="133350" marR="114300" marT="114300" marB="95250" anchor="ctr">
                    <a:lnR w="6668">
                      <a:solidFill>
                        <a:srgbClr val="E2D8C9"/>
                      </a:solidFill>
                    </a:lnR>
                    <a:lnB w="6668">
                      <a:solidFill>
                        <a:srgbClr val="E2D8C9"/>
                      </a:solidFill>
                    </a:lnB>
                    <a:solidFill>
                      <a:srgbClr val="FFFCF8"/>
                    </a:solidFill>
                  </a:tcPr>
                </a:tc>
              </a:tr>
              <a:tr h="666750">
                <a:tc>
                  <a:txBody>
                    <a:bodyPr/>
                    <a:lstStyle/>
                    <a:p>
                      <a:r>
                        <a:rPr sz="1650" b="1">
                          <a:solidFill>
                            <a:srgbClr val="172033"/>
                          </a:solidFill>
                          <a:latin typeface="Aptos"/>
                          <a:ea typeface="Aptos"/>
                          <a:cs typeface="Aptos"/>
                        </a:rPr>
                        <a:t>Trusted knowledge</a:t>
                      </a:r>
                    </a:p>
                  </a:txBody>
                  <a:tcPr marL="133350" marR="114300" marT="114300" marB="95250" anchor="ctr">
                    <a:lnL w="6668">
                      <a:solidFill>
                        <a:srgbClr val="E2D8C9"/>
                      </a:solidFill>
                    </a:lnL>
                    <a:lnR w="6668">
                      <a:solidFill>
                        <a:srgbClr val="E2D8C9"/>
                      </a:solidFill>
                    </a:lnR>
                    <a:lnB w="6668">
                      <a:solidFill>
                        <a:srgbClr val="E2D8C9"/>
                      </a:solidFill>
                    </a:lnB>
                    <a:solidFill>
                      <a:srgbClr val="F1EBE1"/>
                    </a:solidFill>
                  </a:tcPr>
                </a:tc>
                <a:tc>
                  <a:txBody>
                    <a:bodyPr/>
                    <a:lstStyle/>
                    <a:p>
                      <a:r>
                        <a:rPr sz="1650" b="0">
                          <a:solidFill>
                            <a:srgbClr val="172033"/>
                          </a:solidFill>
                          <a:latin typeface="Aptos"/>
                          <a:ea typeface="Aptos"/>
                          <a:cs typeface="Aptos"/>
                        </a:rPr>
                        <a:t>File search / retrieval (RAG)</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650" b="0">
                          <a:solidFill>
                            <a:srgbClr val="172033"/>
                          </a:solidFill>
                          <a:latin typeface="Aptos"/>
                          <a:ea typeface="Aptos"/>
                          <a:cs typeface="Aptos"/>
                        </a:rPr>
                        <a:t>Retrieve reviewed guidance and</a:t>
                      </a:r>
                    </a:p>
                    <a:p>
                      <a:r>
                        <a:rPr sz="1650" b="0">
                          <a:solidFill>
                            <a:srgbClr val="172033"/>
                          </a:solidFill>
                          <a:latin typeface="Aptos"/>
                          <a:ea typeface="Aptos"/>
                          <a:cs typeface="Aptos"/>
                        </a:rPr>
                        <a:t>show the evidence behind advice.</a:t>
                      </a:r>
                    </a:p>
                  </a:txBody>
                  <a:tcPr marL="133350" marR="114300" marT="114300" marB="95250" anchor="ctr">
                    <a:lnR w="6668">
                      <a:solidFill>
                        <a:srgbClr val="E2D8C9"/>
                      </a:solidFill>
                    </a:lnR>
                    <a:lnB w="6668">
                      <a:solidFill>
                        <a:srgbClr val="E2D8C9"/>
                      </a:solidFill>
                    </a:lnB>
                    <a:solidFill>
                      <a:srgbClr val="F1EBE1"/>
                    </a:solidFill>
                  </a:tcPr>
                </a:tc>
              </a:tr>
              <a:tr h="666750">
                <a:tc>
                  <a:txBody>
                    <a:bodyPr/>
                    <a:lstStyle/>
                    <a:p>
                      <a:r>
                        <a:rPr sz="1650" b="1">
                          <a:solidFill>
                            <a:srgbClr val="172033"/>
                          </a:solidFill>
                          <a:latin typeface="Aptos"/>
                          <a:ea typeface="Aptos"/>
                          <a:cs typeface="Aptos"/>
                        </a:rPr>
                        <a:t>Current local facts</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650" b="0">
                          <a:solidFill>
                            <a:srgbClr val="172033"/>
                          </a:solidFill>
                          <a:latin typeface="Aptos"/>
                          <a:ea typeface="Aptos"/>
                          <a:cs typeface="Aptos"/>
                        </a:rPr>
                        <a:t>Google Places + provider records</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650" b="0">
                          <a:solidFill>
                            <a:srgbClr val="172033"/>
                          </a:solidFill>
                          <a:latin typeface="Aptos"/>
                          <a:ea typeface="Aptos"/>
                          <a:cs typeface="Aptos"/>
                        </a:rPr>
                        <a:t>Find venues. Confirm activity ages,</a:t>
                      </a:r>
                    </a:p>
                    <a:p>
                      <a:r>
                        <a:rPr sz="1650" b="0">
                          <a:solidFill>
                            <a:srgbClr val="172033"/>
                          </a:solidFill>
                          <a:latin typeface="Aptos"/>
                          <a:ea typeface="Aptos"/>
                          <a:cs typeface="Aptos"/>
                        </a:rPr>
                        <a:t>prices, and available places separately.</a:t>
                      </a:r>
                    </a:p>
                  </a:txBody>
                  <a:tcPr marL="133350" marR="114300" marT="114300" marB="95250" anchor="ctr">
                    <a:lnR w="6668">
                      <a:solidFill>
                        <a:srgbClr val="E2D8C9"/>
                      </a:solidFill>
                    </a:lnR>
                    <a:lnB w="6668">
                      <a:solidFill>
                        <a:srgbClr val="E2D8C9"/>
                      </a:solidFill>
                    </a:lnB>
                    <a:solidFill>
                      <a:srgbClr val="FFFCF8"/>
                    </a:solidFill>
                  </a:tcPr>
                </a:tc>
              </a:tr>
              <a:tr h="666750">
                <a:tc>
                  <a:txBody>
                    <a:bodyPr/>
                    <a:lstStyle/>
                    <a:p>
                      <a:r>
                        <a:rPr sz="1650" b="1">
                          <a:solidFill>
                            <a:srgbClr val="172033"/>
                          </a:solidFill>
                          <a:latin typeface="Aptos"/>
                          <a:ea typeface="Aptos"/>
                          <a:cs typeface="Aptos"/>
                        </a:rPr>
                        <a:t>Workflow control</a:t>
                      </a:r>
                    </a:p>
                  </a:txBody>
                  <a:tcPr marL="133350" marR="114300" marT="114300" marB="95250" anchor="ctr">
                    <a:lnL w="6668">
                      <a:solidFill>
                        <a:srgbClr val="E2D8C9"/>
                      </a:solidFill>
                    </a:lnL>
                    <a:lnR w="6668">
                      <a:solidFill>
                        <a:srgbClr val="E2D8C9"/>
                      </a:solidFill>
                    </a:lnR>
                    <a:lnB w="6668">
                      <a:solidFill>
                        <a:srgbClr val="E2D8C9"/>
                      </a:solidFill>
                    </a:lnB>
                    <a:solidFill>
                      <a:srgbClr val="F1EBE1"/>
                    </a:solidFill>
                  </a:tcPr>
                </a:tc>
                <a:tc>
                  <a:txBody>
                    <a:bodyPr/>
                    <a:lstStyle/>
                    <a:p>
                      <a:r>
                        <a:rPr sz="1650" b="0">
                          <a:solidFill>
                            <a:srgbClr val="172033"/>
                          </a:solidFill>
                          <a:latin typeface="Aptos"/>
                          <a:ea typeface="Aptos"/>
                          <a:cs typeface="Aptos"/>
                        </a:rPr>
                        <a:t>Function calling or n8n</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650" b="0">
                          <a:solidFill>
                            <a:srgbClr val="172033"/>
                          </a:solidFill>
                          <a:latin typeface="Aptos"/>
                          <a:ea typeface="Aptos"/>
                          <a:cs typeface="Aptos"/>
                        </a:rPr>
                        <a:t>Run permitted steps, validate results,</a:t>
                      </a:r>
                    </a:p>
                    <a:p>
                      <a:r>
                        <a:rPr sz="1650" b="0">
                          <a:solidFill>
                            <a:srgbClr val="172033"/>
                          </a:solidFill>
                          <a:latin typeface="Aptos"/>
                          <a:ea typeface="Aptos"/>
                          <a:cs typeface="Aptos"/>
                        </a:rPr>
                        <a:t>and ask before booking or sharing.</a:t>
                      </a:r>
                    </a:p>
                  </a:txBody>
                  <a:tcPr marL="133350" marR="114300" marT="114300" marB="95250" anchor="ctr">
                    <a:lnR w="6668">
                      <a:solidFill>
                        <a:srgbClr val="E2D8C9"/>
                      </a:solidFill>
                    </a:lnR>
                    <a:lnB w="6668">
                      <a:solidFill>
                        <a:srgbClr val="E2D8C9"/>
                      </a:solidFill>
                    </a:lnB>
                    <a:solidFill>
                      <a:srgbClr val="F1EBE1"/>
                    </a:solidFill>
                  </a:tcPr>
                </a:tc>
              </a:tr>
            </a:tbl>
          </a:graphicData>
        </a:graphic>
      </p:graphicFrame>
      <p:sp>
        <p:nvSpPr>
          <p:cNvPr id="5" name="takeaway">
            <a:extLst xmlns:a="http://schemas.openxmlformats.org/drawingml/2006/main">
              <a:ext uri="{FF2B5EF4-FFF2-40B4-BE49-F238E27FC236}">
                <a16:creationId xmlns:a16="http://schemas.microsoft.com/office/drawing/2014/main" id="{65689912-B8BC-41A5-ABD3-123DEBC9D8CB}"/>
              </a:ext>
            </a:extLst>
          </p:cNvPr>
          <p:cNvSpPr>
            <a:spLocks xmlns:a="http://schemas.openxmlformats.org/drawingml/2006/main" noGrp="1"/>
          </p:cNvSpPr>
          <p:nvPr/>
        </p:nvSpPr>
        <p:spPr>
          <a:xfrm xmlns:a="http://schemas.openxmlformats.org/drawingml/2006/main">
            <a:off x="504825" y="5953125"/>
            <a:ext cx="11182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2033"/>
                </a:solidFill>
                <a:latin typeface="Aptos"/>
                <a:ea typeface="Aptos"/>
                <a:cs typeface="Aptos"/>
              </a:defRPr>
            </a:defPPr>
            <a:lvl1pPr>
              <a:defRPr sz="1875" b="1">
                <a:solidFill>
                  <a:srgbClr val="172033"/>
                </a:solidFill>
                <a:latin typeface="Aptos"/>
                <a:ea typeface="Aptos"/>
                <a:cs typeface="Aptos"/>
              </a:defRPr>
            </a:lvl1pPr>
            <a:lvl2pPr>
              <a:defRPr sz="1875" b="1">
                <a:solidFill>
                  <a:srgbClr val="172033"/>
                </a:solidFill>
                <a:latin typeface="Aptos"/>
                <a:ea typeface="Aptos"/>
                <a:cs typeface="Aptos"/>
              </a:defRPr>
            </a:lvl2pPr>
            <a:lvl3pPr>
              <a:defRPr sz="1875" b="1">
                <a:solidFill>
                  <a:srgbClr val="172033"/>
                </a:solidFill>
                <a:latin typeface="Aptos"/>
                <a:ea typeface="Aptos"/>
                <a:cs typeface="Aptos"/>
              </a:defRPr>
            </a:lvl3pPr>
            <a:lvl4pPr>
              <a:defRPr sz="1875" b="1">
                <a:solidFill>
                  <a:srgbClr val="172033"/>
                </a:solidFill>
                <a:latin typeface="Aptos"/>
                <a:ea typeface="Aptos"/>
                <a:cs typeface="Aptos"/>
              </a:defRPr>
            </a:lvl4pPr>
            <a:lvl5pPr>
              <a:defRPr sz="1875" b="1">
                <a:solidFill>
                  <a:srgbClr val="172033"/>
                </a:solidFill>
                <a:latin typeface="Aptos"/>
                <a:ea typeface="Aptos"/>
                <a:cs typeface="Aptos"/>
              </a:defRPr>
            </a:lvl5pPr>
            <a:lvl6pPr>
              <a:defRPr sz="1875" b="1">
                <a:solidFill>
                  <a:srgbClr val="172033"/>
                </a:solidFill>
                <a:latin typeface="Aptos"/>
                <a:ea typeface="Aptos"/>
                <a:cs typeface="Aptos"/>
              </a:defRPr>
            </a:lvl6pPr>
            <a:lvl7pPr>
              <a:defRPr sz="1875" b="1">
                <a:solidFill>
                  <a:srgbClr val="172033"/>
                </a:solidFill>
                <a:latin typeface="Aptos"/>
                <a:ea typeface="Aptos"/>
                <a:cs typeface="Aptos"/>
              </a:defRPr>
            </a:lvl7pPr>
            <a:lvl8pPr>
              <a:defRPr sz="1875" b="1">
                <a:solidFill>
                  <a:srgbClr val="172033"/>
                </a:solidFill>
                <a:latin typeface="Aptos"/>
                <a:ea typeface="Aptos"/>
                <a:cs typeface="Aptos"/>
              </a:defRPr>
            </a:lvl8pPr>
            <a:lvl9pPr>
              <a:defRPr sz="1875" b="1">
                <a:solidFill>
                  <a:srgbClr val="172033"/>
                </a:solidFill>
                <a:latin typeface="Aptos"/>
                <a:ea typeface="Aptos"/>
                <a:cs typeface="Aptos"/>
              </a:defRPr>
            </a:lvl9pPr>
          </a:lstStyle>
          <a:p xmlns:a="http://schemas.openxmlformats.org/drawingml/2006/main">
            <a:pPr>
              <a:defRPr sz="1875" b="1">
                <a:solidFill>
                  <a:srgbClr val="172033"/>
                </a:solidFill>
                <a:latin typeface="Aptos"/>
                <a:ea typeface="Aptos"/>
                <a:cs typeface="Aptos"/>
              </a:defRPr>
            </a:pPr>
            <a:r>
              <a:rPr sz="1875" b="1">
                <a:solidFill>
                  <a:srgbClr val="172033"/>
                </a:solidFill>
                <a:latin typeface="Aptos"/>
                <a:ea typeface="Aptos"/>
                <a:cs typeface="Aptos"/>
              </a:rPr>
              <a:t>RAG means retrieving relevant evidence before the model writes.</a:t>
            </a:r>
          </a:p>
        </p:txBody>
      </p:sp>
      <p:sp>
        <p:nvSpPr>
          <p:cNvPr id="6" name="caption">
            <a:extLst xmlns:a="http://schemas.openxmlformats.org/drawingml/2006/main">
              <a:ext uri="{FF2B5EF4-FFF2-40B4-BE49-F238E27FC236}">
                <a16:creationId xmlns:a16="http://schemas.microsoft.com/office/drawing/2014/main" id="{05212218-55BB-42A4-85E0-A40EADB2781D}"/>
              </a:ext>
            </a:extLst>
          </p:cNvPr>
          <p:cNvSpPr>
            <a:spLocks xmlns:a="http://schemas.openxmlformats.org/drawingml/2006/main" noGrp="1"/>
          </p:cNvSpPr>
          <p:nvPr/>
        </p:nvSpPr>
        <p:spPr>
          <a:xfrm xmlns:a="http://schemas.openxmlformats.org/drawingml/2006/main">
            <a:off x="504825" y="6372225"/>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75" b="0">
                <a:solidFill>
                  <a:srgbClr val="6F7782"/>
                </a:solidFill>
                <a:latin typeface="Aptos"/>
                <a:ea typeface="Aptos"/>
                <a:cs typeface="Aptos"/>
              </a:defRPr>
            </a:defPPr>
            <a:lvl1pPr>
              <a:defRPr sz="975" b="0">
                <a:solidFill>
                  <a:srgbClr val="6F7782"/>
                </a:solidFill>
                <a:latin typeface="Aptos"/>
                <a:ea typeface="Aptos"/>
                <a:cs typeface="Aptos"/>
              </a:defRPr>
            </a:lvl1pPr>
            <a:lvl2pPr>
              <a:defRPr sz="975" b="0">
                <a:solidFill>
                  <a:srgbClr val="6F7782"/>
                </a:solidFill>
                <a:latin typeface="Aptos"/>
                <a:ea typeface="Aptos"/>
                <a:cs typeface="Aptos"/>
              </a:defRPr>
            </a:lvl2pPr>
            <a:lvl3pPr>
              <a:defRPr sz="975" b="0">
                <a:solidFill>
                  <a:srgbClr val="6F7782"/>
                </a:solidFill>
                <a:latin typeface="Aptos"/>
                <a:ea typeface="Aptos"/>
                <a:cs typeface="Aptos"/>
              </a:defRPr>
            </a:lvl3pPr>
            <a:lvl4pPr>
              <a:defRPr sz="975" b="0">
                <a:solidFill>
                  <a:srgbClr val="6F7782"/>
                </a:solidFill>
                <a:latin typeface="Aptos"/>
                <a:ea typeface="Aptos"/>
                <a:cs typeface="Aptos"/>
              </a:defRPr>
            </a:lvl4pPr>
            <a:lvl5pPr>
              <a:defRPr sz="975" b="0">
                <a:solidFill>
                  <a:srgbClr val="6F7782"/>
                </a:solidFill>
                <a:latin typeface="Aptos"/>
                <a:ea typeface="Aptos"/>
                <a:cs typeface="Aptos"/>
              </a:defRPr>
            </a:lvl5pPr>
            <a:lvl6pPr>
              <a:defRPr sz="975" b="0">
                <a:solidFill>
                  <a:srgbClr val="6F7782"/>
                </a:solidFill>
                <a:latin typeface="Aptos"/>
                <a:ea typeface="Aptos"/>
                <a:cs typeface="Aptos"/>
              </a:defRPr>
            </a:lvl6pPr>
            <a:lvl7pPr>
              <a:defRPr sz="975" b="0">
                <a:solidFill>
                  <a:srgbClr val="6F7782"/>
                </a:solidFill>
                <a:latin typeface="Aptos"/>
                <a:ea typeface="Aptos"/>
                <a:cs typeface="Aptos"/>
              </a:defRPr>
            </a:lvl7pPr>
            <a:lvl8pPr>
              <a:defRPr sz="975" b="0">
                <a:solidFill>
                  <a:srgbClr val="6F7782"/>
                </a:solidFill>
                <a:latin typeface="Aptos"/>
                <a:ea typeface="Aptos"/>
                <a:cs typeface="Aptos"/>
              </a:defRPr>
            </a:lvl8pPr>
            <a:lvl9pPr>
              <a:defRPr sz="975" b="0">
                <a:solidFill>
                  <a:srgbClr val="6F7782"/>
                </a:solidFill>
                <a:latin typeface="Aptos"/>
                <a:ea typeface="Aptos"/>
                <a:cs typeface="Aptos"/>
              </a:defRPr>
            </a:lvl9pPr>
          </a:lstStyle>
          <a:p xmlns:a="http://schemas.openxmlformats.org/drawingml/2006/main">
            <a:pPr>
              <a:defRPr sz="975" b="0">
                <a:solidFill>
                  <a:srgbClr val="6F7782"/>
                </a:solidFill>
                <a:latin typeface="Aptos"/>
                <a:ea typeface="Aptos"/>
                <a:cs typeface="Aptos"/>
              </a:defRPr>
            </a:pPr>
            <a:r>
              <a:rPr sz="975" b="0">
                <a:solidFill>
                  <a:srgbClr val="6F7782"/>
                </a:solidFill>
                <a:latin typeface="Aptos"/>
                <a:ea typeface="Aptos"/>
                <a:cs typeface="Aptos"/>
              </a:rPr>
              <a:t>A model’s built-in knowledge is not a live activity schedule. The application enforces permissions.</a:t>
            </a:r>
          </a:p>
        </p:txBody>
      </p:sp>
      <p:sp>
        <p:nvSpPr>
          <p:cNvPr id="7" name="page-number">
            <a:extLst xmlns:a="http://schemas.openxmlformats.org/drawingml/2006/main">
              <a:ext uri="{FF2B5EF4-FFF2-40B4-BE49-F238E27FC236}">
                <a16:creationId xmlns:a16="http://schemas.microsoft.com/office/drawing/2014/main" id="{53EAFF4F-B9AD-4357-8282-7AEEA41352C0}"/>
              </a:ext>
            </a:extLst>
          </p:cNvPr>
          <p:cNvSpPr>
            <a:spLocks xmlns:a="http://schemas.openxmlformats.org/drawingml/2006/main" noGrp="1"/>
          </p:cNvSpPr>
          <p:nvPr/>
        </p:nvSpPr>
        <p:spPr>
          <a:xfrm xmlns:a="http://schemas.openxmlformats.org/drawingml/2006/main">
            <a:off x="11896725" y="266700"/>
            <a:ext cx="190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825" b="0">
                <a:solidFill>
                  <a:srgbClr val="9F9F9F"/>
                </a:solidFill>
                <a:latin typeface="Aptos"/>
                <a:ea typeface="Aptos"/>
                <a:cs typeface="Aptos"/>
              </a:defRPr>
            </a:defPPr>
            <a:lvl1pPr>
              <a:defRPr sz="825" b="0">
                <a:solidFill>
                  <a:srgbClr val="9F9F9F"/>
                </a:solidFill>
                <a:latin typeface="Aptos"/>
                <a:ea typeface="Aptos"/>
                <a:cs typeface="Aptos"/>
              </a:defRPr>
            </a:lvl1pPr>
            <a:lvl2pPr>
              <a:defRPr sz="825" b="0">
                <a:solidFill>
                  <a:srgbClr val="9F9F9F"/>
                </a:solidFill>
                <a:latin typeface="Aptos"/>
                <a:ea typeface="Aptos"/>
                <a:cs typeface="Aptos"/>
              </a:defRPr>
            </a:lvl2pPr>
            <a:lvl3pPr>
              <a:defRPr sz="825" b="0">
                <a:solidFill>
                  <a:srgbClr val="9F9F9F"/>
                </a:solidFill>
                <a:latin typeface="Aptos"/>
                <a:ea typeface="Aptos"/>
                <a:cs typeface="Aptos"/>
              </a:defRPr>
            </a:lvl3pPr>
            <a:lvl4pPr>
              <a:defRPr sz="825" b="0">
                <a:solidFill>
                  <a:srgbClr val="9F9F9F"/>
                </a:solidFill>
                <a:latin typeface="Aptos"/>
                <a:ea typeface="Aptos"/>
                <a:cs typeface="Aptos"/>
              </a:defRPr>
            </a:lvl4pPr>
            <a:lvl5pPr>
              <a:defRPr sz="825" b="0">
                <a:solidFill>
                  <a:srgbClr val="9F9F9F"/>
                </a:solidFill>
                <a:latin typeface="Aptos"/>
                <a:ea typeface="Aptos"/>
                <a:cs typeface="Aptos"/>
              </a:defRPr>
            </a:lvl5pPr>
            <a:lvl6pPr>
              <a:defRPr sz="825" b="0">
                <a:solidFill>
                  <a:srgbClr val="9F9F9F"/>
                </a:solidFill>
                <a:latin typeface="Aptos"/>
                <a:ea typeface="Aptos"/>
                <a:cs typeface="Aptos"/>
              </a:defRPr>
            </a:lvl6pPr>
            <a:lvl7pPr>
              <a:defRPr sz="825" b="0">
                <a:solidFill>
                  <a:srgbClr val="9F9F9F"/>
                </a:solidFill>
                <a:latin typeface="Aptos"/>
                <a:ea typeface="Aptos"/>
                <a:cs typeface="Aptos"/>
              </a:defRPr>
            </a:lvl7pPr>
            <a:lvl8pPr>
              <a:defRPr sz="825" b="0">
                <a:solidFill>
                  <a:srgbClr val="9F9F9F"/>
                </a:solidFill>
                <a:latin typeface="Aptos"/>
                <a:ea typeface="Aptos"/>
                <a:cs typeface="Aptos"/>
              </a:defRPr>
            </a:lvl8pPr>
            <a:lvl9pPr>
              <a:defRPr sz="825" b="0">
                <a:solidFill>
                  <a:srgbClr val="9F9F9F"/>
                </a:solidFill>
                <a:latin typeface="Aptos"/>
                <a:ea typeface="Aptos"/>
                <a:cs typeface="Aptos"/>
              </a:defRPr>
            </a:lvl9pPr>
          </a:lstStyle>
          <a:p xmlns:a="http://schemas.openxmlformats.org/drawingml/2006/main">
            <a:pPr>
              <a:defRPr sz="825" b="0">
                <a:solidFill>
                  <a:srgbClr val="9F9F9F"/>
                </a:solidFill>
                <a:latin typeface="Aptos"/>
                <a:ea typeface="Aptos"/>
                <a:cs typeface="Aptos"/>
              </a:defRPr>
            </a:pPr>
            <a:r>
              <a:rPr sz="825" b="0">
                <a:solidFill>
                  <a:srgbClr val="9F9F9F"/>
                </a:solidFill>
                <a:latin typeface="Aptos"/>
                <a:ea typeface="Aptos"/>
                <a:cs typeface="Aptos"/>
              </a:rPr>
              <a:t>8</a:t>
            </a:r>
          </a:p>
        </p:txBody>
      </p:sp>
    </p:spTree>
    <p:extLst>
      <p:ext uri="{BB962C8B-B14F-4D97-AF65-F5344CB8AC3E}">
        <p14:creationId xmlns:p14="http://schemas.microsoft.com/office/powerpoint/2010/main" val="14915176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924F7F-C4B0-40D6-9AC6-95CEB8EB84CD}"/>
              </a:ext>
            </a:extLst>
          </p:cNvPr>
          <p:cNvSpPr>
            <a:spLocks xmlns:a="http://schemas.openxmlformats.org/drawingml/2006/main" noGrp="1"/>
          </p:cNvSpPr>
          <p:nvPr/>
        </p:nvSpPr>
        <p:spPr>
          <a:xfrm xmlns:a="http://schemas.openxmlformats.org/drawingml/2006/main">
            <a:off x="502920" y="5029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80">
                <a:solidFill>
                  <a:srgbClr val="F57C00"/>
                </a:solidFill>
              </a:rPr>
              <a:t>JOOLIAN CASE 5 OF 6</a:t>
            </a:r>
            <a:endParaRPr sz="1000"/>
          </a:p>
        </p:txBody>
      </p:sp>
      <p:sp>
        <p:nvSpPr>
          <p:cNvPr id="3" name="Text 1">
            <a:extLst xmlns:a="http://schemas.openxmlformats.org/drawingml/2006/main">
              <a:ext uri="{FF2B5EF4-FFF2-40B4-BE49-F238E27FC236}">
                <a16:creationId xmlns:a16="http://schemas.microsoft.com/office/drawing/2014/main" id="{98717CC6-7E86-4F22-A17A-D58EF5701AD8}"/>
              </a:ext>
            </a:extLst>
          </p:cNvPr>
          <p:cNvSpPr>
            <a:spLocks xmlns:a="http://schemas.openxmlformats.org/drawingml/2006/main" noGrp="1"/>
          </p:cNvSpPr>
          <p:nvPr/>
        </p:nvSpPr>
        <p:spPr>
          <a:xfrm xmlns:a="http://schemas.openxmlformats.org/drawingml/2006/main">
            <a:off x="502920" y="786384"/>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700"/>
            </a:defPPr>
            <a:lvl1pPr>
              <a:defRPr sz="2700"/>
            </a:lvl1pPr>
            <a:lvl2pPr>
              <a:defRPr sz="2700"/>
            </a:lvl2pPr>
            <a:lvl3pPr>
              <a:defRPr sz="2700"/>
            </a:lvl3pPr>
            <a:lvl4pPr>
              <a:defRPr sz="2700"/>
            </a:lvl4pPr>
            <a:lvl5pPr>
              <a:defRPr sz="2700"/>
            </a:lvl5pPr>
            <a:lvl6pPr>
              <a:defRPr sz="2700"/>
            </a:lvl6pPr>
            <a:lvl7pPr>
              <a:defRPr sz="2700"/>
            </a:lvl7pPr>
            <a:lvl8pPr>
              <a:defRPr sz="2700"/>
            </a:lvl8pPr>
            <a:lvl9pPr>
              <a:defRPr sz="2700"/>
            </a:lvl9pPr>
          </a:lstStyle>
          <a:p xmlns:a="http://schemas.openxmlformats.org/drawingml/2006/main">
            <a:pPr marL="0" indent="0">
              <a:buNone/>
            </a:pPr>
            <a:r>
              <a:rPr sz="2700" b="1">
                <a:solidFill>
                  <a:srgbClr val="172033"/>
                </a:solidFill>
              </a:rPr>
              <a:t>The six jobs Joolian helps a family solve</a:t>
            </a:r>
            <a:endParaRPr sz="2700"/>
          </a:p>
        </p:txBody>
      </p:sp>
      <p:sp>
        <p:nvSpPr>
          <p:cNvPr id="4" name="Text 2">
            <a:extLst xmlns:a="http://schemas.openxmlformats.org/drawingml/2006/main">
              <a:ext uri="{FF2B5EF4-FFF2-40B4-BE49-F238E27FC236}">
                <a16:creationId xmlns:a16="http://schemas.microsoft.com/office/drawing/2014/main" id="{3BFD055D-E2BA-4A3E-98C7-E71642BE0B58}"/>
              </a:ext>
            </a:extLst>
          </p:cNvPr>
          <p:cNvSpPr>
            <a:spLocks xmlns:a="http://schemas.openxmlformats.org/drawingml/2006/main" noGrp="1"/>
          </p:cNvSpPr>
          <p:nvPr/>
        </p:nvSpPr>
        <p:spPr>
          <a:xfrm xmlns:a="http://schemas.openxmlformats.org/drawingml/2006/main">
            <a:off x="502920" y="1353312"/>
            <a:ext cx="109728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buNone/>
            </a:pPr>
            <a:r>
              <a:rPr sz="1650">
                <a:solidFill>
                  <a:srgbClr val="6F7782"/>
                </a:solidFill>
              </a:rPr>
              <a:t>A family can enter where it needs help and return as circumstances change.</a:t>
            </a:r>
            <a:endParaRPr sz="1600"/>
          </a:p>
        </p:txBody>
      </p:sp>
      <p:sp>
        <p:nvSpPr>
          <p:cNvPr id="5" name="Text 3">
            <a:extLst xmlns:a="http://schemas.openxmlformats.org/drawingml/2006/main">
              <a:ext uri="{FF2B5EF4-FFF2-40B4-BE49-F238E27FC236}">
                <a16:creationId xmlns:a16="http://schemas.microsoft.com/office/drawing/2014/main" id="{97CA7BFC-E504-41D0-B678-060A8B4723B8}"/>
              </a:ext>
            </a:extLst>
          </p:cNvPr>
          <p:cNvSpPr>
            <a:spLocks xmlns:a="http://schemas.openxmlformats.org/drawingml/2006/main" noGrp="1"/>
          </p:cNvSpPr>
          <p:nvPr/>
        </p:nvSpPr>
        <p:spPr>
          <a:xfrm xmlns:a="http://schemas.openxmlformats.org/drawingml/2006/main">
            <a:off x="512064" y="1874520"/>
            <a:ext cx="17830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57C00"/>
                </a:solidFill>
              </a:rPr>
              <a:t>UNDERSTAND</a:t>
            </a:r>
            <a:endParaRPr sz="1200"/>
          </a:p>
        </p:txBody>
      </p:sp>
      <p:sp>
        <p:nvSpPr>
          <p:cNvPr id="6" name="Shape 4">
            <a:extLst xmlns:a="http://schemas.openxmlformats.org/drawingml/2006/main">
              <a:ext uri="{FF2B5EF4-FFF2-40B4-BE49-F238E27FC236}">
                <a16:creationId xmlns:a16="http://schemas.microsoft.com/office/drawing/2014/main" id="{2B015BED-B593-40C3-98AF-EA0A37DECD8C}"/>
              </a:ext>
            </a:extLst>
          </p:cNvPr>
          <p:cNvSpPr>
            <a:spLocks xmlns:a="http://schemas.openxmlformats.org/drawingml/2006/main" noGrp="1"/>
          </p:cNvSpPr>
          <p:nvPr/>
        </p:nvSpPr>
        <p:spPr>
          <a:xfrm xmlns:a="http://schemas.openxmlformats.org/drawingml/2006/main">
            <a:off x="512064" y="2103120"/>
            <a:ext cx="1783080" cy="1216152"/>
          </a:xfrm>
          <a:prstGeom xmlns:a="http://schemas.openxmlformats.org/drawingml/2006/main" prst="roundRect">
            <a:avLst/>
          </a:prstGeom>
          <a:solidFill xmlns:a="http://schemas.openxmlformats.org/drawingml/2006/main">
            <a:srgbClr val="E8F0FA"/>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D6E5E5A-DFC1-470F-85CD-0A13A85DDDA9}"/>
              </a:ext>
            </a:extLst>
          </p:cNvPr>
          <p:cNvSpPr>
            <a:spLocks xmlns:a="http://schemas.openxmlformats.org/drawingml/2006/main" noGrp="1"/>
          </p:cNvSpPr>
          <p:nvPr/>
        </p:nvSpPr>
        <p:spPr>
          <a:xfrm xmlns:a="http://schemas.openxmlformats.org/drawingml/2006/main">
            <a:off x="603504" y="2322576"/>
            <a:ext cx="1600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Digital Life</a:t>
            </a:r>
            <a:endParaRPr sz="1400"/>
          </a:p>
          <a:p xmlns:a="http://schemas.openxmlformats.org/drawingml/2006/main">
            <a:pPr marL="0" indent="0" algn="ctr">
              <a:buNone/>
            </a:pPr>
            <a:r>
              <a:rPr sz="1400" b="1">
                <a:solidFill>
                  <a:srgbClr val="172033"/>
                </a:solidFill>
              </a:rPr>
              <a:t>“Self-Check”</a:t>
            </a:r>
            <a:endParaRPr sz="1400"/>
          </a:p>
        </p:txBody>
      </p:sp>
      <p:sp>
        <p:nvSpPr>
          <p:cNvPr id="8" name="Text 6">
            <a:extLst xmlns:a="http://schemas.openxmlformats.org/drawingml/2006/main">
              <a:ext uri="{FF2B5EF4-FFF2-40B4-BE49-F238E27FC236}">
                <a16:creationId xmlns:a16="http://schemas.microsoft.com/office/drawing/2014/main" id="{529C8B56-4C4C-47DA-B26B-0E37FE77D782}"/>
              </a:ext>
            </a:extLst>
          </p:cNvPr>
          <p:cNvSpPr>
            <a:spLocks xmlns:a="http://schemas.openxmlformats.org/drawingml/2006/main" noGrp="1"/>
          </p:cNvSpPr>
          <p:nvPr/>
        </p:nvSpPr>
        <p:spPr>
          <a:xfrm xmlns:a="http://schemas.openxmlformats.org/drawingml/2006/main">
            <a:off x="603504" y="2889504"/>
            <a:ext cx="1600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F7782"/>
                </a:solidFill>
              </a:rPr>
              <a:t>What is going on?</a:t>
            </a:r>
            <a:endParaRPr sz="1200"/>
          </a:p>
        </p:txBody>
      </p:sp>
      <p:sp>
        <p:nvSpPr>
          <p:cNvPr id="9" name="Shape 7">
            <a:extLst xmlns:a="http://schemas.openxmlformats.org/drawingml/2006/main">
              <a:ext uri="{FF2B5EF4-FFF2-40B4-BE49-F238E27FC236}">
                <a16:creationId xmlns:a16="http://schemas.microsoft.com/office/drawing/2014/main" id="{F5ED9480-49C2-4C61-B6EA-8FE9E716A5BD}"/>
              </a:ext>
            </a:extLst>
          </p:cNvPr>
          <p:cNvSpPr>
            <a:spLocks xmlns:a="http://schemas.openxmlformats.org/drawingml/2006/main" noGrp="1"/>
          </p:cNvSpPr>
          <p:nvPr/>
        </p:nvSpPr>
        <p:spPr>
          <a:xfrm xmlns:a="http://schemas.openxmlformats.org/drawingml/2006/main">
            <a:off x="2313432" y="2560320"/>
            <a:ext cx="73152" cy="310896"/>
          </a:xfrm>
          <a:prstGeom xmlns:a="http://schemas.openxmlformats.org/drawingml/2006/main" prst="chevron">
            <a:avLst/>
          </a:prstGeom>
          <a:solidFill xmlns:a="http://schemas.openxmlformats.org/drawingml/2006/main">
            <a:srgbClr val="D4C8BA"/>
          </a:solidFill>
          <a:ln xmlns:a="http://schemas.openxmlformats.org/drawingml/2006/main" w="12700">
            <a:solidFill>
              <a:srgbClr val="D4C8BA"/>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98D9002E-379E-495C-9739-A2FCA8E9B296}"/>
              </a:ext>
            </a:extLst>
          </p:cNvPr>
          <p:cNvSpPr>
            <a:spLocks xmlns:a="http://schemas.openxmlformats.org/drawingml/2006/main" noGrp="1"/>
          </p:cNvSpPr>
          <p:nvPr/>
        </p:nvSpPr>
        <p:spPr>
          <a:xfrm xmlns:a="http://schemas.openxmlformats.org/drawingml/2006/main">
            <a:off x="2386584" y="1874520"/>
            <a:ext cx="17830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57C00"/>
                </a:solidFill>
              </a:rPr>
              <a:t>AGREE</a:t>
            </a:r>
            <a:endParaRPr sz="1200"/>
          </a:p>
        </p:txBody>
      </p:sp>
      <p:sp>
        <p:nvSpPr>
          <p:cNvPr id="11" name="Shape 9">
            <a:extLst xmlns:a="http://schemas.openxmlformats.org/drawingml/2006/main">
              <a:ext uri="{FF2B5EF4-FFF2-40B4-BE49-F238E27FC236}">
                <a16:creationId xmlns:a16="http://schemas.microsoft.com/office/drawing/2014/main" id="{9E6D3446-1BA6-443E-A463-B018E5AD32DD}"/>
              </a:ext>
            </a:extLst>
          </p:cNvPr>
          <p:cNvSpPr>
            <a:spLocks xmlns:a="http://schemas.openxmlformats.org/drawingml/2006/main" noGrp="1"/>
          </p:cNvSpPr>
          <p:nvPr/>
        </p:nvSpPr>
        <p:spPr>
          <a:xfrm xmlns:a="http://schemas.openxmlformats.org/drawingml/2006/main">
            <a:off x="2386584" y="2103120"/>
            <a:ext cx="1783080" cy="1216152"/>
          </a:xfrm>
          <a:prstGeom xmlns:a="http://schemas.openxmlformats.org/drawingml/2006/main" prst="roundRect">
            <a:avLst/>
          </a:prstGeom>
          <a:solidFill xmlns:a="http://schemas.openxmlformats.org/drawingml/2006/main">
            <a:srgbClr val="F7E7E2"/>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4849C60-0DDA-4C2B-BD43-6894D730EE73}"/>
              </a:ext>
            </a:extLst>
          </p:cNvPr>
          <p:cNvSpPr>
            <a:spLocks xmlns:a="http://schemas.openxmlformats.org/drawingml/2006/main" noGrp="1"/>
          </p:cNvSpPr>
          <p:nvPr/>
        </p:nvSpPr>
        <p:spPr>
          <a:xfrm xmlns:a="http://schemas.openxmlformats.org/drawingml/2006/main">
            <a:off x="2478024" y="2322576"/>
            <a:ext cx="1600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Family Pact</a:t>
            </a:r>
            <a:endParaRPr sz="1400"/>
          </a:p>
        </p:txBody>
      </p:sp>
      <p:sp>
        <p:nvSpPr>
          <p:cNvPr id="13" name="Text 11">
            <a:extLst xmlns:a="http://schemas.openxmlformats.org/drawingml/2006/main">
              <a:ext uri="{FF2B5EF4-FFF2-40B4-BE49-F238E27FC236}">
                <a16:creationId xmlns:a16="http://schemas.microsoft.com/office/drawing/2014/main" id="{61F17488-D5F4-44E7-B600-BFA0AB3FF07D}"/>
              </a:ext>
            </a:extLst>
          </p:cNvPr>
          <p:cNvSpPr>
            <a:spLocks xmlns:a="http://schemas.openxmlformats.org/drawingml/2006/main" noGrp="1"/>
          </p:cNvSpPr>
          <p:nvPr/>
        </p:nvSpPr>
        <p:spPr>
          <a:xfrm xmlns:a="http://schemas.openxmlformats.org/drawingml/2006/main">
            <a:off x="2478024" y="2889504"/>
            <a:ext cx="1600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F7782"/>
                </a:solidFill>
              </a:rPr>
              <a:t>What will we do</a:t>
            </a:r>
            <a:endParaRPr sz="1200"/>
          </a:p>
          <a:p xmlns:a="http://schemas.openxmlformats.org/drawingml/2006/main">
            <a:pPr marL="0" indent="0" algn="ctr">
              <a:buNone/>
            </a:pPr>
            <a:r>
              <a:rPr sz="1200">
                <a:solidFill>
                  <a:srgbClr val="6F7782"/>
                </a:solidFill>
              </a:rPr>
              <a:t>as a family?</a:t>
            </a:r>
            <a:endParaRPr sz="1200"/>
          </a:p>
        </p:txBody>
      </p:sp>
      <p:sp>
        <p:nvSpPr>
          <p:cNvPr id="14" name="Shape 12">
            <a:extLst xmlns:a="http://schemas.openxmlformats.org/drawingml/2006/main">
              <a:ext uri="{FF2B5EF4-FFF2-40B4-BE49-F238E27FC236}">
                <a16:creationId xmlns:a16="http://schemas.microsoft.com/office/drawing/2014/main" id="{D5BFE634-E188-43A8-B9CD-16AE80DE7A7F}"/>
              </a:ext>
            </a:extLst>
          </p:cNvPr>
          <p:cNvSpPr>
            <a:spLocks xmlns:a="http://schemas.openxmlformats.org/drawingml/2006/main" noGrp="1"/>
          </p:cNvSpPr>
          <p:nvPr/>
        </p:nvSpPr>
        <p:spPr>
          <a:xfrm xmlns:a="http://schemas.openxmlformats.org/drawingml/2006/main">
            <a:off x="4187952" y="2560320"/>
            <a:ext cx="73152" cy="310896"/>
          </a:xfrm>
          <a:prstGeom xmlns:a="http://schemas.openxmlformats.org/drawingml/2006/main" prst="chevron">
            <a:avLst/>
          </a:prstGeom>
          <a:solidFill xmlns:a="http://schemas.openxmlformats.org/drawingml/2006/main">
            <a:srgbClr val="D4C8BA"/>
          </a:solidFill>
          <a:ln xmlns:a="http://schemas.openxmlformats.org/drawingml/2006/main" w="12700">
            <a:solidFill>
              <a:srgbClr val="D4C8BA"/>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E045CCCB-1B29-42F9-AAEB-284385508C06}"/>
              </a:ext>
            </a:extLst>
          </p:cNvPr>
          <p:cNvSpPr>
            <a:spLocks xmlns:a="http://schemas.openxmlformats.org/drawingml/2006/main" noGrp="1"/>
          </p:cNvSpPr>
          <p:nvPr/>
        </p:nvSpPr>
        <p:spPr>
          <a:xfrm xmlns:a="http://schemas.openxmlformats.org/drawingml/2006/main">
            <a:off x="4261104" y="1874520"/>
            <a:ext cx="17830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57C00"/>
                </a:solidFill>
              </a:rPr>
              <a:t>CHOOSE</a:t>
            </a:r>
            <a:endParaRPr sz="1200"/>
          </a:p>
        </p:txBody>
      </p:sp>
      <p:sp>
        <p:nvSpPr>
          <p:cNvPr id="16" name="Shape 14">
            <a:extLst xmlns:a="http://schemas.openxmlformats.org/drawingml/2006/main">
              <a:ext uri="{FF2B5EF4-FFF2-40B4-BE49-F238E27FC236}">
                <a16:creationId xmlns:a16="http://schemas.microsoft.com/office/drawing/2014/main" id="{FFD31286-D531-44B1-9F00-7944989BFACA}"/>
              </a:ext>
            </a:extLst>
          </p:cNvPr>
          <p:cNvSpPr>
            <a:spLocks xmlns:a="http://schemas.openxmlformats.org/drawingml/2006/main" noGrp="1"/>
          </p:cNvSpPr>
          <p:nvPr/>
        </p:nvSpPr>
        <p:spPr>
          <a:xfrm xmlns:a="http://schemas.openxmlformats.org/drawingml/2006/main">
            <a:off x="4261104" y="2103120"/>
            <a:ext cx="1783080" cy="1216152"/>
          </a:xfrm>
          <a:prstGeom xmlns:a="http://schemas.openxmlformats.org/drawingml/2006/main" prst="roundRect">
            <a:avLst/>
          </a:prstGeom>
          <a:solidFill xmlns:a="http://schemas.openxmlformats.org/drawingml/2006/main">
            <a:srgbClr val="FFF0DC"/>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B23F330A-60C4-42F8-857E-A2A5496B183B}"/>
              </a:ext>
            </a:extLst>
          </p:cNvPr>
          <p:cNvSpPr>
            <a:spLocks xmlns:a="http://schemas.openxmlformats.org/drawingml/2006/main" noGrp="1"/>
          </p:cNvSpPr>
          <p:nvPr/>
        </p:nvSpPr>
        <p:spPr>
          <a:xfrm xmlns:a="http://schemas.openxmlformats.org/drawingml/2006/main">
            <a:off x="4352544" y="2322576"/>
            <a:ext cx="1600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Readiness +</a:t>
            </a:r>
            <a:endParaRPr sz="1400"/>
          </a:p>
          <a:p xmlns:a="http://schemas.openxmlformats.org/drawingml/2006/main">
            <a:pPr marL="0" indent="0" algn="ctr">
              <a:buNone/>
            </a:pPr>
            <a:r>
              <a:rPr sz="1400" b="1">
                <a:solidFill>
                  <a:srgbClr val="172033"/>
                </a:solidFill>
              </a:rPr>
              <a:t>Rating</a:t>
            </a:r>
            <a:endParaRPr sz="1400"/>
          </a:p>
        </p:txBody>
      </p:sp>
      <p:sp>
        <p:nvSpPr>
          <p:cNvPr id="18" name="Text 16">
            <a:extLst xmlns:a="http://schemas.openxmlformats.org/drawingml/2006/main">
              <a:ext uri="{FF2B5EF4-FFF2-40B4-BE49-F238E27FC236}">
                <a16:creationId xmlns:a16="http://schemas.microsoft.com/office/drawing/2014/main" id="{4C9D87D4-0B00-4AFF-98C1-59FD0A93356E}"/>
              </a:ext>
            </a:extLst>
          </p:cNvPr>
          <p:cNvSpPr>
            <a:spLocks xmlns:a="http://schemas.openxmlformats.org/drawingml/2006/main" noGrp="1"/>
          </p:cNvSpPr>
          <p:nvPr/>
        </p:nvSpPr>
        <p:spPr>
          <a:xfrm xmlns:a="http://schemas.openxmlformats.org/drawingml/2006/main">
            <a:off x="4352544" y="2889504"/>
            <a:ext cx="1600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F7782"/>
                </a:solidFill>
              </a:rPr>
              <a:t>What should we allow</a:t>
            </a:r>
            <a:endParaRPr sz="1200"/>
          </a:p>
          <a:p xmlns:a="http://schemas.openxmlformats.org/drawingml/2006/main">
            <a:pPr marL="0" indent="0" algn="ctr">
              <a:buNone/>
            </a:pPr>
            <a:r>
              <a:rPr sz="1200">
                <a:solidFill>
                  <a:srgbClr val="6F7782"/>
                </a:solidFill>
              </a:rPr>
              <a:t>or introduce?</a:t>
            </a:r>
            <a:endParaRPr sz="1200"/>
          </a:p>
        </p:txBody>
      </p:sp>
      <p:sp>
        <p:nvSpPr>
          <p:cNvPr id="19" name="Shape 17">
            <a:extLst xmlns:a="http://schemas.openxmlformats.org/drawingml/2006/main">
              <a:ext uri="{FF2B5EF4-FFF2-40B4-BE49-F238E27FC236}">
                <a16:creationId xmlns:a16="http://schemas.microsoft.com/office/drawing/2014/main" id="{F2565BE5-531C-4833-AB4D-95D93B6F546F}"/>
              </a:ext>
            </a:extLst>
          </p:cNvPr>
          <p:cNvSpPr>
            <a:spLocks xmlns:a="http://schemas.openxmlformats.org/drawingml/2006/main" noGrp="1"/>
          </p:cNvSpPr>
          <p:nvPr/>
        </p:nvSpPr>
        <p:spPr>
          <a:xfrm xmlns:a="http://schemas.openxmlformats.org/drawingml/2006/main">
            <a:off x="6062472" y="2560320"/>
            <a:ext cx="73152" cy="310896"/>
          </a:xfrm>
          <a:prstGeom xmlns:a="http://schemas.openxmlformats.org/drawingml/2006/main" prst="chevron">
            <a:avLst/>
          </a:prstGeom>
          <a:solidFill xmlns:a="http://schemas.openxmlformats.org/drawingml/2006/main">
            <a:srgbClr val="D4C8BA"/>
          </a:solidFill>
          <a:ln xmlns:a="http://schemas.openxmlformats.org/drawingml/2006/main" w="12700">
            <a:solidFill>
              <a:srgbClr val="D4C8BA"/>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6DDFB971-DF0F-4DCF-9FAA-A907B81C2E05}"/>
              </a:ext>
            </a:extLst>
          </p:cNvPr>
          <p:cNvSpPr>
            <a:spLocks xmlns:a="http://schemas.openxmlformats.org/drawingml/2006/main" noGrp="1"/>
          </p:cNvSpPr>
          <p:nvPr/>
        </p:nvSpPr>
        <p:spPr>
          <a:xfrm xmlns:a="http://schemas.openxmlformats.org/drawingml/2006/main">
            <a:off x="6135624" y="1874520"/>
            <a:ext cx="17830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57C00"/>
                </a:solidFill>
              </a:rPr>
              <a:t>CHANGE</a:t>
            </a:r>
            <a:endParaRPr sz="1200"/>
          </a:p>
        </p:txBody>
      </p:sp>
      <p:sp>
        <p:nvSpPr>
          <p:cNvPr id="21" name="Shape 19">
            <a:extLst xmlns:a="http://schemas.openxmlformats.org/drawingml/2006/main">
              <a:ext uri="{FF2B5EF4-FFF2-40B4-BE49-F238E27FC236}">
                <a16:creationId xmlns:a16="http://schemas.microsoft.com/office/drawing/2014/main" id="{F0CE1D9E-D799-4CC4-8A96-DAD3466912AD}"/>
              </a:ext>
            </a:extLst>
          </p:cNvPr>
          <p:cNvSpPr>
            <a:spLocks xmlns:a="http://schemas.openxmlformats.org/drawingml/2006/main" noGrp="1"/>
          </p:cNvSpPr>
          <p:nvPr/>
        </p:nvSpPr>
        <p:spPr>
          <a:xfrm xmlns:a="http://schemas.openxmlformats.org/drawingml/2006/main">
            <a:off x="6135624" y="2103120"/>
            <a:ext cx="1783080" cy="1216152"/>
          </a:xfrm>
          <a:prstGeom xmlns:a="http://schemas.openxmlformats.org/drawingml/2006/main" prst="roundRect">
            <a:avLst/>
          </a:prstGeom>
          <a:solidFill xmlns:a="http://schemas.openxmlformats.org/drawingml/2006/main">
            <a:srgbClr val="F8E9E5"/>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74B6156-D803-4C7B-A5AA-F777D38DAC9C}"/>
              </a:ext>
            </a:extLst>
          </p:cNvPr>
          <p:cNvSpPr>
            <a:spLocks xmlns:a="http://schemas.openxmlformats.org/drawingml/2006/main" noGrp="1"/>
          </p:cNvSpPr>
          <p:nvPr/>
        </p:nvSpPr>
        <p:spPr>
          <a:xfrm xmlns:a="http://schemas.openxmlformats.org/drawingml/2006/main">
            <a:off x="6227064" y="2322576"/>
            <a:ext cx="1600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Balance +</a:t>
            </a:r>
            <a:endParaRPr sz="1400"/>
          </a:p>
          <a:p xmlns:a="http://schemas.openxmlformats.org/drawingml/2006/main">
            <a:pPr marL="0" indent="0" algn="ctr">
              <a:buNone/>
            </a:pPr>
            <a:r>
              <a:rPr sz="1400" b="1">
                <a:solidFill>
                  <a:srgbClr val="172033"/>
                </a:solidFill>
              </a:rPr>
              <a:t>Reset</a:t>
            </a:r>
            <a:endParaRPr sz="1400"/>
          </a:p>
        </p:txBody>
      </p:sp>
      <p:sp>
        <p:nvSpPr>
          <p:cNvPr id="23" name="Text 21">
            <a:extLst xmlns:a="http://schemas.openxmlformats.org/drawingml/2006/main">
              <a:ext uri="{FF2B5EF4-FFF2-40B4-BE49-F238E27FC236}">
                <a16:creationId xmlns:a16="http://schemas.microsoft.com/office/drawing/2014/main" id="{A9F1C175-24E9-4652-A872-7F786FEB5697}"/>
              </a:ext>
            </a:extLst>
          </p:cNvPr>
          <p:cNvSpPr>
            <a:spLocks xmlns:a="http://schemas.openxmlformats.org/drawingml/2006/main" noGrp="1"/>
          </p:cNvSpPr>
          <p:nvPr/>
        </p:nvSpPr>
        <p:spPr>
          <a:xfrm xmlns:a="http://schemas.openxmlformats.org/drawingml/2006/main">
            <a:off x="6227064" y="2889504"/>
            <a:ext cx="1600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F7782"/>
                </a:solidFill>
              </a:rPr>
              <a:t>What if something is</a:t>
            </a:r>
            <a:endParaRPr sz="1200"/>
          </a:p>
          <a:p xmlns:a="http://schemas.openxmlformats.org/drawingml/2006/main">
            <a:pPr marL="0" indent="0" algn="ctr">
              <a:buNone/>
            </a:pPr>
            <a:r>
              <a:rPr sz="1200">
                <a:solidFill>
                  <a:srgbClr val="6F7782"/>
                </a:solidFill>
              </a:rPr>
              <a:t>not working?</a:t>
            </a:r>
            <a:endParaRPr sz="1200"/>
          </a:p>
        </p:txBody>
      </p:sp>
      <p:sp>
        <p:nvSpPr>
          <p:cNvPr id="24" name="Shape 22">
            <a:extLst xmlns:a="http://schemas.openxmlformats.org/drawingml/2006/main">
              <a:ext uri="{FF2B5EF4-FFF2-40B4-BE49-F238E27FC236}">
                <a16:creationId xmlns:a16="http://schemas.microsoft.com/office/drawing/2014/main" id="{B8808A49-B939-4B71-8190-87BD900AB86C}"/>
              </a:ext>
            </a:extLst>
          </p:cNvPr>
          <p:cNvSpPr>
            <a:spLocks xmlns:a="http://schemas.openxmlformats.org/drawingml/2006/main" noGrp="1"/>
          </p:cNvSpPr>
          <p:nvPr/>
        </p:nvSpPr>
        <p:spPr>
          <a:xfrm xmlns:a="http://schemas.openxmlformats.org/drawingml/2006/main">
            <a:off x="7936992" y="2560320"/>
            <a:ext cx="73152" cy="310896"/>
          </a:xfrm>
          <a:prstGeom xmlns:a="http://schemas.openxmlformats.org/drawingml/2006/main" prst="chevron">
            <a:avLst/>
          </a:prstGeom>
          <a:solidFill xmlns:a="http://schemas.openxmlformats.org/drawingml/2006/main">
            <a:srgbClr val="D4C8BA"/>
          </a:solidFill>
          <a:ln xmlns:a="http://schemas.openxmlformats.org/drawingml/2006/main" w="12700">
            <a:solidFill>
              <a:srgbClr val="D4C8BA"/>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5079305D-EE8C-4CA1-A9F0-AEA3FC2297B9}"/>
              </a:ext>
            </a:extLst>
          </p:cNvPr>
          <p:cNvSpPr>
            <a:spLocks xmlns:a="http://schemas.openxmlformats.org/drawingml/2006/main" noGrp="1"/>
          </p:cNvSpPr>
          <p:nvPr/>
        </p:nvSpPr>
        <p:spPr>
          <a:xfrm xmlns:a="http://schemas.openxmlformats.org/drawingml/2006/main">
            <a:off x="8010144" y="1874520"/>
            <a:ext cx="17830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57C00"/>
                </a:solidFill>
              </a:rPr>
              <a:t>LIVE</a:t>
            </a:r>
            <a:endParaRPr sz="1200"/>
          </a:p>
        </p:txBody>
      </p:sp>
      <p:sp>
        <p:nvSpPr>
          <p:cNvPr id="26" name="Shape 24">
            <a:extLst xmlns:a="http://schemas.openxmlformats.org/drawingml/2006/main">
              <a:ext uri="{FF2B5EF4-FFF2-40B4-BE49-F238E27FC236}">
                <a16:creationId xmlns:a16="http://schemas.microsoft.com/office/drawing/2014/main" id="{19822C3B-4B68-44A5-89A8-F6526921E1A6}"/>
              </a:ext>
            </a:extLst>
          </p:cNvPr>
          <p:cNvSpPr>
            <a:spLocks xmlns:a="http://schemas.openxmlformats.org/drawingml/2006/main" noGrp="1"/>
          </p:cNvSpPr>
          <p:nvPr/>
        </p:nvSpPr>
        <p:spPr>
          <a:xfrm xmlns:a="http://schemas.openxmlformats.org/drawingml/2006/main">
            <a:off x="8010144" y="2103120"/>
            <a:ext cx="1783080" cy="1216152"/>
          </a:xfrm>
          <a:prstGeom xmlns:a="http://schemas.openxmlformats.org/drawingml/2006/main" prst="roundRect">
            <a:avLst/>
          </a:prstGeom>
          <a:solidFill xmlns:a="http://schemas.openxmlformats.org/drawingml/2006/main">
            <a:srgbClr val="E5F2E9"/>
          </a:solidFill>
          <a:ln xmlns:a="http://schemas.openxmlformats.org/drawingml/2006/main" w="76200">
            <a:solidFill>
              <a:schemeClr val="accent2"/>
            </a:solidFill>
            <a:prstDash val="solid"/>
          </a:ln>
        </p:spPr>
        <p:txBody>
          <a:bodyPr xmlns:a="http://schemas.openxmlformats.org/drawingml/2006/main"/>
          <a:lstStyle xmlns:a="http://schemas.openxmlformats.org/drawingml/2006/main"/>
          <a:p xmlns:a="http://schemas.openxmlformats.org/drawingml/2006/main">
            <a:endParaRPr>
              <a:solidFill>
                <a:schemeClr val="accent2"/>
              </a:solidFill>
            </a:endParaRPr>
          </a:p>
        </p:txBody>
      </p:sp>
      <p:sp>
        <p:nvSpPr>
          <p:cNvPr id="27" name="Text 25">
            <a:extLst xmlns:a="http://schemas.openxmlformats.org/drawingml/2006/main">
              <a:ext uri="{FF2B5EF4-FFF2-40B4-BE49-F238E27FC236}">
                <a16:creationId xmlns:a16="http://schemas.microsoft.com/office/drawing/2014/main" id="{FB071435-9257-40EA-9439-5BEB9C68068B}"/>
              </a:ext>
            </a:extLst>
          </p:cNvPr>
          <p:cNvSpPr>
            <a:spLocks xmlns:a="http://schemas.openxmlformats.org/drawingml/2006/main" noGrp="1"/>
          </p:cNvSpPr>
          <p:nvPr/>
        </p:nvSpPr>
        <p:spPr>
          <a:xfrm xmlns:a="http://schemas.openxmlformats.org/drawingml/2006/main">
            <a:off x="8101584" y="2322576"/>
            <a:ext cx="1600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t>Real-Life</a:t>
            </a:r>
            <a:endParaRPr sz="1400"/>
          </a:p>
          <a:p xmlns:a="http://schemas.openxmlformats.org/drawingml/2006/main">
            <a:pPr marL="0" indent="0" algn="ctr">
              <a:buNone/>
            </a:pPr>
            <a:r>
              <a:rPr sz="1400" b="1"/>
              <a:t>Alternatives</a:t>
            </a:r>
            <a:endParaRPr sz="1400"/>
          </a:p>
        </p:txBody>
      </p:sp>
      <p:sp>
        <p:nvSpPr>
          <p:cNvPr id="28" name="Text 26">
            <a:extLst xmlns:a="http://schemas.openxmlformats.org/drawingml/2006/main">
              <a:ext uri="{FF2B5EF4-FFF2-40B4-BE49-F238E27FC236}">
                <a16:creationId xmlns:a16="http://schemas.microsoft.com/office/drawing/2014/main" id="{3523FF40-A791-4593-B4CD-717C44012ABC}"/>
              </a:ext>
            </a:extLst>
          </p:cNvPr>
          <p:cNvSpPr>
            <a:spLocks xmlns:a="http://schemas.openxmlformats.org/drawingml/2006/main" noGrp="1"/>
          </p:cNvSpPr>
          <p:nvPr/>
        </p:nvSpPr>
        <p:spPr>
          <a:xfrm xmlns:a="http://schemas.openxmlformats.org/drawingml/2006/main">
            <a:off x="8101584" y="2889504"/>
            <a:ext cx="1600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t>What instead?</a:t>
            </a:r>
          </a:p>
        </p:txBody>
      </p:sp>
      <p:sp>
        <p:nvSpPr>
          <p:cNvPr id="29" name="Shape 27">
            <a:extLst xmlns:a="http://schemas.openxmlformats.org/drawingml/2006/main">
              <a:ext uri="{FF2B5EF4-FFF2-40B4-BE49-F238E27FC236}">
                <a16:creationId xmlns:a16="http://schemas.microsoft.com/office/drawing/2014/main" id="{77370164-046A-4F10-8FED-2A2F696327E4}"/>
              </a:ext>
            </a:extLst>
          </p:cNvPr>
          <p:cNvSpPr>
            <a:spLocks xmlns:a="http://schemas.openxmlformats.org/drawingml/2006/main" noGrp="1"/>
          </p:cNvSpPr>
          <p:nvPr/>
        </p:nvSpPr>
        <p:spPr>
          <a:xfrm xmlns:a="http://schemas.openxmlformats.org/drawingml/2006/main">
            <a:off x="9811512" y="2560320"/>
            <a:ext cx="73152" cy="310896"/>
          </a:xfrm>
          <a:prstGeom xmlns:a="http://schemas.openxmlformats.org/drawingml/2006/main" prst="chevron">
            <a:avLst/>
          </a:prstGeom>
          <a:solidFill xmlns:a="http://schemas.openxmlformats.org/drawingml/2006/main">
            <a:srgbClr val="D4C8BA"/>
          </a:solidFill>
          <a:ln xmlns:a="http://schemas.openxmlformats.org/drawingml/2006/main" w="12700">
            <a:solidFill>
              <a:srgbClr val="D4C8B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593E8866-3E75-4108-9666-B84D1722049F}"/>
              </a:ext>
            </a:extLst>
          </p:cNvPr>
          <p:cNvSpPr>
            <a:spLocks xmlns:a="http://schemas.openxmlformats.org/drawingml/2006/main" noGrp="1"/>
          </p:cNvSpPr>
          <p:nvPr/>
        </p:nvSpPr>
        <p:spPr>
          <a:xfrm xmlns:a="http://schemas.openxmlformats.org/drawingml/2006/main">
            <a:off x="9884664" y="1874520"/>
            <a:ext cx="17830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57C00"/>
                </a:solidFill>
              </a:rPr>
              <a:t>GROW</a:t>
            </a:r>
            <a:endParaRPr sz="1200"/>
          </a:p>
        </p:txBody>
      </p:sp>
      <p:sp>
        <p:nvSpPr>
          <p:cNvPr id="31" name="Shape 29">
            <a:extLst xmlns:a="http://schemas.openxmlformats.org/drawingml/2006/main">
              <a:ext uri="{FF2B5EF4-FFF2-40B4-BE49-F238E27FC236}">
                <a16:creationId xmlns:a16="http://schemas.microsoft.com/office/drawing/2014/main" id="{2D2561FD-A717-4112-A79D-1D3332609E1E}"/>
              </a:ext>
            </a:extLst>
          </p:cNvPr>
          <p:cNvSpPr>
            <a:spLocks xmlns:a="http://schemas.openxmlformats.org/drawingml/2006/main" noGrp="1"/>
          </p:cNvSpPr>
          <p:nvPr/>
        </p:nvSpPr>
        <p:spPr>
          <a:xfrm xmlns:a="http://schemas.openxmlformats.org/drawingml/2006/main">
            <a:off x="9884664" y="2103120"/>
            <a:ext cx="1783080" cy="1216152"/>
          </a:xfrm>
          <a:prstGeom xmlns:a="http://schemas.openxmlformats.org/drawingml/2006/main" prst="roundRect">
            <a:avLst/>
          </a:prstGeom>
          <a:solidFill xmlns:a="http://schemas.openxmlformats.org/drawingml/2006/main">
            <a:srgbClr val="EDE8F7"/>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D554D830-D853-4D33-BE8A-3CFBC924C001}"/>
              </a:ext>
            </a:extLst>
          </p:cNvPr>
          <p:cNvSpPr>
            <a:spLocks xmlns:a="http://schemas.openxmlformats.org/drawingml/2006/main" noGrp="1"/>
          </p:cNvSpPr>
          <p:nvPr/>
        </p:nvSpPr>
        <p:spPr>
          <a:xfrm xmlns:a="http://schemas.openxmlformats.org/drawingml/2006/main">
            <a:off x="9976104" y="2322576"/>
            <a:ext cx="1600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Digital License</a:t>
            </a:r>
            <a:endParaRPr sz="1400"/>
          </a:p>
        </p:txBody>
      </p:sp>
      <p:sp>
        <p:nvSpPr>
          <p:cNvPr id="33" name="Text 31">
            <a:extLst xmlns:a="http://schemas.openxmlformats.org/drawingml/2006/main">
              <a:ext uri="{FF2B5EF4-FFF2-40B4-BE49-F238E27FC236}">
                <a16:creationId xmlns:a16="http://schemas.microsoft.com/office/drawing/2014/main" id="{3439F343-E0CB-408E-8005-6B3BF2E57858}"/>
              </a:ext>
            </a:extLst>
          </p:cNvPr>
          <p:cNvSpPr>
            <a:spLocks xmlns:a="http://schemas.openxmlformats.org/drawingml/2006/main" noGrp="1"/>
          </p:cNvSpPr>
          <p:nvPr/>
        </p:nvSpPr>
        <p:spPr>
          <a:xfrm xmlns:a="http://schemas.openxmlformats.org/drawingml/2006/main">
            <a:off x="9976104" y="2889504"/>
            <a:ext cx="1600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F7782"/>
                </a:solidFill>
              </a:rPr>
              <a:t>How does independence</a:t>
            </a:r>
            <a:endParaRPr sz="1200"/>
          </a:p>
          <a:p xmlns:a="http://schemas.openxmlformats.org/drawingml/2006/main">
            <a:pPr marL="0" indent="0" algn="ctr">
              <a:buNone/>
            </a:pPr>
            <a:r>
              <a:rPr sz="1200">
                <a:solidFill>
                  <a:srgbClr val="6F7782"/>
                </a:solidFill>
              </a:rPr>
              <a:t>grow?</a:t>
            </a:r>
            <a:endParaRPr sz="1200"/>
          </a:p>
        </p:txBody>
      </p:sp>
      <p:sp>
        <p:nvSpPr>
          <p:cNvPr id="34" name="Text 32">
            <a:extLst xmlns:a="http://schemas.openxmlformats.org/drawingml/2006/main">
              <a:ext uri="{FF2B5EF4-FFF2-40B4-BE49-F238E27FC236}">
                <a16:creationId xmlns:a16="http://schemas.microsoft.com/office/drawing/2014/main" id="{7AF7643C-286D-4A88-BB61-4B9C2DAFEF63}"/>
              </a:ext>
            </a:extLst>
          </p:cNvPr>
          <p:cNvSpPr>
            <a:spLocks xmlns:a="http://schemas.openxmlformats.org/drawingml/2006/main" noGrp="1"/>
          </p:cNvSpPr>
          <p:nvPr/>
        </p:nvSpPr>
        <p:spPr>
          <a:xfrm xmlns:a="http://schemas.openxmlformats.org/drawingml/2006/main">
            <a:off x="603504" y="3611880"/>
            <a:ext cx="5238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buNone/>
            </a:pPr>
            <a:r>
              <a:rPr sz="1500" b="1">
                <a:solidFill>
                  <a:srgbClr val="172033"/>
                </a:solidFill>
              </a:rPr>
              <a:t>Support across the journey</a:t>
            </a:r>
            <a:endParaRPr sz="1400"/>
          </a:p>
        </p:txBody>
      </p:sp>
      <p:sp>
        <p:nvSpPr>
          <p:cNvPr id="35" name="Shape 33">
            <a:extLst xmlns:a="http://schemas.openxmlformats.org/drawingml/2006/main">
              <a:ext uri="{FF2B5EF4-FFF2-40B4-BE49-F238E27FC236}">
                <a16:creationId xmlns:a16="http://schemas.microsoft.com/office/drawing/2014/main" id="{6CDD950F-DABA-4EF7-B089-244229E2141E}"/>
              </a:ext>
            </a:extLst>
          </p:cNvPr>
          <p:cNvSpPr>
            <a:spLocks xmlns:a="http://schemas.openxmlformats.org/drawingml/2006/main" noGrp="1"/>
          </p:cNvSpPr>
          <p:nvPr/>
        </p:nvSpPr>
        <p:spPr>
          <a:xfrm xmlns:a="http://schemas.openxmlformats.org/drawingml/2006/main">
            <a:off x="603504" y="3968496"/>
            <a:ext cx="3493008" cy="932688"/>
          </a:xfrm>
          <a:prstGeom xmlns:a="http://schemas.openxmlformats.org/drawingml/2006/main" prst="roundRect">
            <a:avLst/>
          </a:prstGeom>
          <a:solidFill xmlns:a="http://schemas.openxmlformats.org/drawingml/2006/main">
            <a:srgbClr val="FFF4E5"/>
          </a:solidFill>
          <a:ln xmlns:a="http://schemas.openxmlformats.org/drawingml/2006/main" w="12700">
            <a:solidFill>
              <a:srgbClr val="F3C58A"/>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B8264EA5-77FF-4A34-B4C3-8F51D9D36AF5}"/>
              </a:ext>
            </a:extLst>
          </p:cNvPr>
          <p:cNvSpPr>
            <a:spLocks xmlns:a="http://schemas.openxmlformats.org/drawingml/2006/main" noGrp="1"/>
          </p:cNvSpPr>
          <p:nvPr/>
        </p:nvSpPr>
        <p:spPr>
          <a:xfrm xmlns:a="http://schemas.openxmlformats.org/drawingml/2006/main">
            <a:off x="740664" y="4069920"/>
            <a:ext cx="321868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Joolian Agent</a:t>
            </a:r>
            <a:endParaRPr sz="1400"/>
          </a:p>
        </p:txBody>
      </p:sp>
      <p:sp>
        <p:nvSpPr>
          <p:cNvPr id="37" name="Text 35">
            <a:extLst xmlns:a="http://schemas.openxmlformats.org/drawingml/2006/main">
              <a:ext uri="{FF2B5EF4-FFF2-40B4-BE49-F238E27FC236}">
                <a16:creationId xmlns:a16="http://schemas.microsoft.com/office/drawing/2014/main" id="{DF93D7DF-1953-4608-8B8E-EB098E5CCDC9}"/>
              </a:ext>
            </a:extLst>
          </p:cNvPr>
          <p:cNvSpPr>
            <a:spLocks xmlns:a="http://schemas.openxmlformats.org/drawingml/2006/main" noGrp="1"/>
          </p:cNvSpPr>
          <p:nvPr/>
        </p:nvSpPr>
        <p:spPr>
          <a:xfrm xmlns:a="http://schemas.openxmlformats.org/drawingml/2006/main">
            <a:off x="768096" y="4416552"/>
            <a:ext cx="3163824" cy="38404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Keeps approved context and routes to the relevant feature.</a:t>
            </a:r>
            <a:endParaRPr sz="1050"/>
          </a:p>
        </p:txBody>
      </p:sp>
      <p:sp>
        <p:nvSpPr>
          <p:cNvPr id="38" name="Shape 36">
            <a:extLst xmlns:a="http://schemas.openxmlformats.org/drawingml/2006/main">
              <a:ext uri="{FF2B5EF4-FFF2-40B4-BE49-F238E27FC236}">
                <a16:creationId xmlns:a16="http://schemas.microsoft.com/office/drawing/2014/main" id="{CB6102D7-0904-410F-8AE2-B3CCAFC3EB0E}"/>
              </a:ext>
            </a:extLst>
          </p:cNvPr>
          <p:cNvSpPr>
            <a:spLocks xmlns:a="http://schemas.openxmlformats.org/drawingml/2006/main" noGrp="1"/>
          </p:cNvSpPr>
          <p:nvPr/>
        </p:nvSpPr>
        <p:spPr>
          <a:xfrm xmlns:a="http://schemas.openxmlformats.org/drawingml/2006/main">
            <a:off x="4343400" y="3968496"/>
            <a:ext cx="3493008" cy="932688"/>
          </a:xfrm>
          <a:prstGeom xmlns:a="http://schemas.openxmlformats.org/drawingml/2006/main" prst="roundRect">
            <a:avLst/>
          </a:prstGeom>
          <a:solidFill xmlns:a="http://schemas.openxmlformats.org/drawingml/2006/main">
            <a:srgbClr val="EFF6F0"/>
          </a:solidFill>
          <a:ln xmlns:a="http://schemas.openxmlformats.org/drawingml/2006/main" w="12700">
            <a:solidFill>
              <a:srgbClr val="BBD8C3"/>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AE39F8A7-2B95-40F0-A808-20D383027CE0}"/>
              </a:ext>
            </a:extLst>
          </p:cNvPr>
          <p:cNvSpPr>
            <a:spLocks xmlns:a="http://schemas.openxmlformats.org/drawingml/2006/main" noGrp="1"/>
          </p:cNvSpPr>
          <p:nvPr/>
        </p:nvSpPr>
        <p:spPr>
          <a:xfrm xmlns:a="http://schemas.openxmlformats.org/drawingml/2006/main">
            <a:off x="4480560" y="4069920"/>
            <a:ext cx="321868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Review &amp; Learn</a:t>
            </a:r>
            <a:endParaRPr sz="1400"/>
          </a:p>
        </p:txBody>
      </p:sp>
      <p:sp>
        <p:nvSpPr>
          <p:cNvPr id="40" name="Text 38">
            <a:extLst xmlns:a="http://schemas.openxmlformats.org/drawingml/2006/main">
              <a:ext uri="{FF2B5EF4-FFF2-40B4-BE49-F238E27FC236}">
                <a16:creationId xmlns:a16="http://schemas.microsoft.com/office/drawing/2014/main" id="{96A79517-DE79-4DC2-A663-16FD118CA9FE}"/>
              </a:ext>
            </a:extLst>
          </p:cNvPr>
          <p:cNvSpPr>
            <a:spLocks xmlns:a="http://schemas.openxmlformats.org/drawingml/2006/main" noGrp="1"/>
          </p:cNvSpPr>
          <p:nvPr/>
        </p:nvSpPr>
        <p:spPr>
          <a:xfrm xmlns:a="http://schemas.openxmlformats.org/drawingml/2006/main">
            <a:off x="4507992" y="4416552"/>
            <a:ext cx="3163824" cy="38404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Checks what helped and adjusts the next suggestion.</a:t>
            </a:r>
            <a:endParaRPr sz="1050"/>
          </a:p>
        </p:txBody>
      </p:sp>
      <p:sp>
        <p:nvSpPr>
          <p:cNvPr id="41" name="Shape 39">
            <a:extLst xmlns:a="http://schemas.openxmlformats.org/drawingml/2006/main">
              <a:ext uri="{FF2B5EF4-FFF2-40B4-BE49-F238E27FC236}">
                <a16:creationId xmlns:a16="http://schemas.microsoft.com/office/drawing/2014/main" id="{7DD8845E-7D4E-4379-9B35-1E07680D46AF}"/>
              </a:ext>
            </a:extLst>
          </p:cNvPr>
          <p:cNvSpPr>
            <a:spLocks xmlns:a="http://schemas.openxmlformats.org/drawingml/2006/main" noGrp="1"/>
          </p:cNvSpPr>
          <p:nvPr/>
        </p:nvSpPr>
        <p:spPr>
          <a:xfrm xmlns:a="http://schemas.openxmlformats.org/drawingml/2006/main">
            <a:off x="8083296" y="3968496"/>
            <a:ext cx="3493008" cy="932688"/>
          </a:xfrm>
          <a:prstGeom xmlns:a="http://schemas.openxmlformats.org/drawingml/2006/main" prst="roundRect">
            <a:avLst/>
          </a:prstGeom>
          <a:solidFill xmlns:a="http://schemas.openxmlformats.org/drawingml/2006/main">
            <a:srgbClr val="F7ECEA"/>
          </a:solidFill>
          <a:ln xmlns:a="http://schemas.openxmlformats.org/drawingml/2006/main" w="12700">
            <a:solidFill>
              <a:srgbClr val="E1B7B2"/>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06CE3CE4-0BEE-419F-9B36-96B6EB2FDC67}"/>
              </a:ext>
            </a:extLst>
          </p:cNvPr>
          <p:cNvSpPr>
            <a:spLocks xmlns:a="http://schemas.openxmlformats.org/drawingml/2006/main" noGrp="1"/>
          </p:cNvSpPr>
          <p:nvPr/>
        </p:nvSpPr>
        <p:spPr>
          <a:xfrm xmlns:a="http://schemas.openxmlformats.org/drawingml/2006/main">
            <a:off x="8220456" y="4069920"/>
            <a:ext cx="321868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rPr>
              <a:t>Safety Escalation</a:t>
            </a:r>
            <a:endParaRPr sz="1400"/>
          </a:p>
        </p:txBody>
      </p:sp>
      <p:sp>
        <p:nvSpPr>
          <p:cNvPr id="43" name="Text 41">
            <a:extLst xmlns:a="http://schemas.openxmlformats.org/drawingml/2006/main">
              <a:ext uri="{FF2B5EF4-FFF2-40B4-BE49-F238E27FC236}">
                <a16:creationId xmlns:a16="http://schemas.microsoft.com/office/drawing/2014/main" id="{B4158C64-E34E-4606-B6D1-F693879ED890}"/>
              </a:ext>
            </a:extLst>
          </p:cNvPr>
          <p:cNvSpPr>
            <a:spLocks xmlns:a="http://schemas.openxmlformats.org/drawingml/2006/main" noGrp="1"/>
          </p:cNvSpPr>
          <p:nvPr/>
        </p:nvSpPr>
        <p:spPr>
          <a:xfrm xmlns:a="http://schemas.openxmlformats.org/drawingml/2006/main">
            <a:off x="8247888" y="4416552"/>
            <a:ext cx="3163824" cy="384048"/>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Routes concerning situations to appropriate human support.</a:t>
            </a:r>
            <a:endParaRPr sz="1050"/>
          </a:p>
        </p:txBody>
      </p:sp>
      <p:sp>
        <p:nvSpPr>
          <p:cNvPr id="44" name="Shape 42">
            <a:extLst xmlns:a="http://schemas.openxmlformats.org/drawingml/2006/main">
              <a:ext uri="{FF2B5EF4-FFF2-40B4-BE49-F238E27FC236}">
                <a16:creationId xmlns:a16="http://schemas.microsoft.com/office/drawing/2014/main" id="{BA2C71F2-2511-4CDE-8513-E0CCF6CBA9C9}"/>
              </a:ext>
            </a:extLst>
          </p:cNvPr>
          <p:cNvSpPr>
            <a:spLocks xmlns:a="http://schemas.openxmlformats.org/drawingml/2006/main" noGrp="1"/>
          </p:cNvSpPr>
          <p:nvPr/>
        </p:nvSpPr>
        <p:spPr>
          <a:xfrm xmlns:a="http://schemas.openxmlformats.org/drawingml/2006/main">
            <a:off x="658368" y="5230368"/>
            <a:ext cx="10881360" cy="859536"/>
          </a:xfrm>
          <a:prstGeom xmlns:a="http://schemas.openxmlformats.org/drawingml/2006/main" prst="roundRect">
            <a:avLst/>
          </a:prstGeom>
          <a:solidFill xmlns:a="http://schemas.openxmlformats.org/drawingml/2006/main">
            <a:srgbClr val="172033"/>
          </a:solidFill>
          <a:ln xmlns:a="http://schemas.openxmlformats.org/drawingml/2006/main" w="12700">
            <a:solidFill>
              <a:srgbClr val="172033"/>
            </a:solidFill>
            <a:prstDash val="solid"/>
          </a:ln>
        </p:spPr>
        <p:txBody>
          <a:bodyPr xmlns:a="http://schemas.openxmlformats.org/drawingml/2006/main"/>
          <a:lstStyle xmlns:a="http://schemas.openxmlformats.org/drawingml/2006/main"/>
          <a:p xmlns:a="http://schemas.openxmlformats.org/drawingml/2006/main">
            <a:endParaRPr/>
          </a:p>
        </p:txBody>
      </p:sp>
      <p:sp>
        <p:nvSpPr>
          <p:cNvPr id="45" name="Text 43">
            <a:extLst xmlns:a="http://schemas.openxmlformats.org/drawingml/2006/main">
              <a:ext uri="{FF2B5EF4-FFF2-40B4-BE49-F238E27FC236}">
                <a16:creationId xmlns:a16="http://schemas.microsoft.com/office/drawing/2014/main" id="{41FC6B83-FB7C-4094-9DF4-D9A336E36BBA}"/>
              </a:ext>
            </a:extLst>
          </p:cNvPr>
          <p:cNvSpPr>
            <a:spLocks xmlns:a="http://schemas.openxmlformats.org/drawingml/2006/main" noGrp="1"/>
          </p:cNvSpPr>
          <p:nvPr/>
        </p:nvSpPr>
        <p:spPr>
          <a:xfrm xmlns:a="http://schemas.openxmlformats.org/drawingml/2006/main">
            <a:off x="896112" y="5413248"/>
            <a:ext cx="1234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70">
                <a:solidFill>
                  <a:srgbClr val="F57C00"/>
                </a:solidFill>
              </a:rPr>
              <a:t>BUSINESS MODEL</a:t>
            </a:r>
            <a:endParaRPr sz="1050"/>
          </a:p>
        </p:txBody>
      </p:sp>
      <p:sp>
        <p:nvSpPr>
          <p:cNvPr id="46" name="Text 44">
            <a:extLst xmlns:a="http://schemas.openxmlformats.org/drawingml/2006/main">
              <a:ext uri="{FF2B5EF4-FFF2-40B4-BE49-F238E27FC236}">
                <a16:creationId xmlns:a16="http://schemas.microsoft.com/office/drawing/2014/main" id="{89477598-C095-4F0C-8E0D-8987B2CC7C38}"/>
              </a:ext>
            </a:extLst>
          </p:cNvPr>
          <p:cNvSpPr>
            <a:spLocks xmlns:a="http://schemas.openxmlformats.org/drawingml/2006/main" noGrp="1"/>
          </p:cNvSpPr>
          <p:nvPr/>
        </p:nvSpPr>
        <p:spPr>
          <a:xfrm xmlns:a="http://schemas.openxmlformats.org/drawingml/2006/main">
            <a:off x="2240280" y="5358384"/>
            <a:ext cx="10515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rPr>
              <a:t>Families</a:t>
            </a:r>
            <a:endParaRPr sz="1600"/>
          </a:p>
        </p:txBody>
      </p:sp>
      <p:sp>
        <p:nvSpPr>
          <p:cNvPr id="47" name="Text 45">
            <a:extLst xmlns:a="http://schemas.openxmlformats.org/drawingml/2006/main">
              <a:ext uri="{FF2B5EF4-FFF2-40B4-BE49-F238E27FC236}">
                <a16:creationId xmlns:a16="http://schemas.microsoft.com/office/drawing/2014/main" id="{F3611923-FE8E-4501-8F98-5C9B90FBB308}"/>
              </a:ext>
            </a:extLst>
          </p:cNvPr>
          <p:cNvSpPr>
            <a:spLocks xmlns:a="http://schemas.openxmlformats.org/drawingml/2006/main" noGrp="1"/>
          </p:cNvSpPr>
          <p:nvPr/>
        </p:nvSpPr>
        <p:spPr>
          <a:xfrm xmlns:a="http://schemas.openxmlformats.org/drawingml/2006/main">
            <a:off x="2029968" y="5813677"/>
            <a:ext cx="15087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125"/>
            </a:defPPr>
            <a:lvl1pPr>
              <a:defRPr sz="1125"/>
            </a:lvl1pPr>
            <a:lvl2pPr>
              <a:defRPr sz="1125"/>
            </a:lvl2pPr>
            <a:lvl3pPr>
              <a:defRPr sz="1125"/>
            </a:lvl3pPr>
            <a:lvl4pPr>
              <a:defRPr sz="1125"/>
            </a:lvl4pPr>
            <a:lvl5pPr>
              <a:defRPr sz="1125"/>
            </a:lvl5pPr>
            <a:lvl6pPr>
              <a:defRPr sz="1125"/>
            </a:lvl6pPr>
            <a:lvl7pPr>
              <a:defRPr sz="1125"/>
            </a:lvl7pPr>
            <a:lvl8pPr>
              <a:defRPr sz="1125"/>
            </a:lvl8pPr>
            <a:lvl9pPr>
              <a:defRPr sz="1125"/>
            </a:lvl9pPr>
          </a:lstStyle>
          <a:p xmlns:a="http://schemas.openxmlformats.org/drawingml/2006/main">
            <a:pPr marL="0" indent="0" algn="ctr">
              <a:buNone/>
            </a:pPr>
            <a:r>
              <a:rPr sz="1125">
                <a:solidFill>
                  <a:srgbClr val="E7EAF0"/>
                </a:solidFill>
              </a:rPr>
              <a:t>Subscriptions and support</a:t>
            </a:r>
            <a:endParaRPr sz="1000"/>
          </a:p>
        </p:txBody>
      </p:sp>
      <p:sp>
        <p:nvSpPr>
          <p:cNvPr id="48" name="Text 46">
            <a:extLst xmlns:a="http://schemas.openxmlformats.org/drawingml/2006/main">
              <a:ext uri="{FF2B5EF4-FFF2-40B4-BE49-F238E27FC236}">
                <a16:creationId xmlns:a16="http://schemas.microsoft.com/office/drawing/2014/main" id="{F10195AA-70D8-44B1-B867-2A31D221865A}"/>
              </a:ext>
            </a:extLst>
          </p:cNvPr>
          <p:cNvSpPr>
            <a:spLocks xmlns:a="http://schemas.openxmlformats.org/drawingml/2006/main" noGrp="1"/>
          </p:cNvSpPr>
          <p:nvPr/>
        </p:nvSpPr>
        <p:spPr>
          <a:xfrm xmlns:a="http://schemas.openxmlformats.org/drawingml/2006/main">
            <a:off x="4160520" y="5358384"/>
            <a:ext cx="10515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rPr>
              <a:t>Joolian</a:t>
            </a:r>
            <a:endParaRPr sz="1600"/>
          </a:p>
        </p:txBody>
      </p:sp>
      <p:sp>
        <p:nvSpPr>
          <p:cNvPr id="49" name="Text 47">
            <a:extLst xmlns:a="http://schemas.openxmlformats.org/drawingml/2006/main">
              <a:ext uri="{FF2B5EF4-FFF2-40B4-BE49-F238E27FC236}">
                <a16:creationId xmlns:a16="http://schemas.microsoft.com/office/drawing/2014/main" id="{A19D0545-1DFE-415D-A3DB-023D3C38BAB0}"/>
              </a:ext>
            </a:extLst>
          </p:cNvPr>
          <p:cNvSpPr>
            <a:spLocks xmlns:a="http://schemas.openxmlformats.org/drawingml/2006/main" noGrp="1"/>
          </p:cNvSpPr>
          <p:nvPr/>
        </p:nvSpPr>
        <p:spPr>
          <a:xfrm xmlns:a="http://schemas.openxmlformats.org/drawingml/2006/main">
            <a:off x="3886200" y="5813677"/>
            <a:ext cx="1600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125"/>
            </a:defPPr>
            <a:lvl1pPr>
              <a:defRPr sz="1125"/>
            </a:lvl1pPr>
            <a:lvl2pPr>
              <a:defRPr sz="1125"/>
            </a:lvl2pPr>
            <a:lvl3pPr>
              <a:defRPr sz="1125"/>
            </a:lvl3pPr>
            <a:lvl4pPr>
              <a:defRPr sz="1125"/>
            </a:lvl4pPr>
            <a:lvl5pPr>
              <a:defRPr sz="1125"/>
            </a:lvl5pPr>
            <a:lvl6pPr>
              <a:defRPr sz="1125"/>
            </a:lvl6pPr>
            <a:lvl7pPr>
              <a:defRPr sz="1125"/>
            </a:lvl7pPr>
            <a:lvl8pPr>
              <a:defRPr sz="1125"/>
            </a:lvl8pPr>
            <a:lvl9pPr>
              <a:defRPr sz="1125"/>
            </a:lvl9pPr>
          </a:lstStyle>
          <a:p xmlns:a="http://schemas.openxmlformats.org/drawingml/2006/main">
            <a:pPr marL="0" indent="0" algn="ctr">
              <a:buNone/>
            </a:pPr>
            <a:r>
              <a:rPr sz="1125">
                <a:solidFill>
                  <a:srgbClr val="E7EAF0"/>
                </a:solidFill>
              </a:rPr>
              <a:t>Tools and marketplace</a:t>
            </a:r>
            <a:endParaRPr sz="1000"/>
          </a:p>
        </p:txBody>
      </p:sp>
      <p:sp>
        <p:nvSpPr>
          <p:cNvPr id="50" name="Text 48">
            <a:extLst xmlns:a="http://schemas.openxmlformats.org/drawingml/2006/main">
              <a:ext uri="{FF2B5EF4-FFF2-40B4-BE49-F238E27FC236}">
                <a16:creationId xmlns:a16="http://schemas.microsoft.com/office/drawing/2014/main" id="{CEE47B6B-EE06-44F0-BEA6-F0D1570197F1}"/>
              </a:ext>
            </a:extLst>
          </p:cNvPr>
          <p:cNvSpPr>
            <a:spLocks xmlns:a="http://schemas.openxmlformats.org/drawingml/2006/main" noGrp="1"/>
          </p:cNvSpPr>
          <p:nvPr/>
        </p:nvSpPr>
        <p:spPr>
          <a:xfrm xmlns:a="http://schemas.openxmlformats.org/drawingml/2006/main">
            <a:off x="6080760" y="5358384"/>
            <a:ext cx="2103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rPr>
              <a:t>Providers + Professionals</a:t>
            </a:r>
            <a:endParaRPr sz="1600"/>
          </a:p>
        </p:txBody>
      </p:sp>
      <p:sp>
        <p:nvSpPr>
          <p:cNvPr id="51" name="Text 49">
            <a:extLst xmlns:a="http://schemas.openxmlformats.org/drawingml/2006/main">
              <a:ext uri="{FF2B5EF4-FFF2-40B4-BE49-F238E27FC236}">
                <a16:creationId xmlns:a16="http://schemas.microsoft.com/office/drawing/2014/main" id="{810160C1-5C4A-42B3-ABFA-577ABA58FA32}"/>
              </a:ext>
            </a:extLst>
          </p:cNvPr>
          <p:cNvSpPr>
            <a:spLocks xmlns:a="http://schemas.openxmlformats.org/drawingml/2006/main" noGrp="1"/>
          </p:cNvSpPr>
          <p:nvPr/>
        </p:nvSpPr>
        <p:spPr>
          <a:xfrm xmlns:a="http://schemas.openxmlformats.org/drawingml/2006/main">
            <a:off x="5980176" y="5813677"/>
            <a:ext cx="230428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125"/>
            </a:defPPr>
            <a:lvl1pPr>
              <a:defRPr sz="1125"/>
            </a:lvl1pPr>
            <a:lvl2pPr>
              <a:defRPr sz="1125"/>
            </a:lvl2pPr>
            <a:lvl3pPr>
              <a:defRPr sz="1125"/>
            </a:lvl3pPr>
            <a:lvl4pPr>
              <a:defRPr sz="1125"/>
            </a:lvl4pPr>
            <a:lvl5pPr>
              <a:defRPr sz="1125"/>
            </a:lvl5pPr>
            <a:lvl6pPr>
              <a:defRPr sz="1125"/>
            </a:lvl6pPr>
            <a:lvl7pPr>
              <a:defRPr sz="1125"/>
            </a:lvl7pPr>
            <a:lvl8pPr>
              <a:defRPr sz="1125"/>
            </a:lvl8pPr>
            <a:lvl9pPr>
              <a:defRPr sz="1125"/>
            </a:lvl9pPr>
          </a:lstStyle>
          <a:p xmlns:a="http://schemas.openxmlformats.org/drawingml/2006/main">
            <a:pPr marL="0" indent="0" algn="ctr">
              <a:buNone/>
            </a:pPr>
            <a:r>
              <a:rPr sz="1125">
                <a:solidFill>
                  <a:srgbClr val="E7EAF0"/>
                </a:solidFill>
              </a:rPr>
              <a:t>Bookings and provider tools</a:t>
            </a:r>
            <a:endParaRPr sz="1000"/>
          </a:p>
        </p:txBody>
      </p:sp>
      <p:sp>
        <p:nvSpPr>
          <p:cNvPr id="52" name="Text 50">
            <a:extLst xmlns:a="http://schemas.openxmlformats.org/drawingml/2006/main">
              <a:ext uri="{FF2B5EF4-FFF2-40B4-BE49-F238E27FC236}">
                <a16:creationId xmlns:a16="http://schemas.microsoft.com/office/drawing/2014/main" id="{DE03900A-3EAA-496D-86F2-C2CA7638AD22}"/>
              </a:ext>
            </a:extLst>
          </p:cNvPr>
          <p:cNvSpPr>
            <a:spLocks xmlns:a="http://schemas.openxmlformats.org/drawingml/2006/main" noGrp="1"/>
          </p:cNvSpPr>
          <p:nvPr/>
        </p:nvSpPr>
        <p:spPr>
          <a:xfrm xmlns:a="http://schemas.openxmlformats.org/drawingml/2006/main">
            <a:off x="8759952" y="5358384"/>
            <a:ext cx="1554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rPr>
              <a:t>Partners / B2B2C</a:t>
            </a:r>
            <a:endParaRPr sz="1600"/>
          </a:p>
        </p:txBody>
      </p:sp>
      <p:sp>
        <p:nvSpPr>
          <p:cNvPr id="53" name="Text 51">
            <a:extLst xmlns:a="http://schemas.openxmlformats.org/drawingml/2006/main">
              <a:ext uri="{FF2B5EF4-FFF2-40B4-BE49-F238E27FC236}">
                <a16:creationId xmlns:a16="http://schemas.microsoft.com/office/drawing/2014/main" id="{F262384F-EC19-4F61-BD2C-77D8A67F51BD}"/>
              </a:ext>
            </a:extLst>
          </p:cNvPr>
          <p:cNvSpPr>
            <a:spLocks xmlns:a="http://schemas.openxmlformats.org/drawingml/2006/main" noGrp="1"/>
          </p:cNvSpPr>
          <p:nvPr/>
        </p:nvSpPr>
        <p:spPr>
          <a:xfrm xmlns:a="http://schemas.openxmlformats.org/drawingml/2006/main">
            <a:off x="8631936" y="5813677"/>
            <a:ext cx="181051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125"/>
            </a:defPPr>
            <a:lvl1pPr>
              <a:defRPr sz="1125"/>
            </a:lvl1pPr>
            <a:lvl2pPr>
              <a:defRPr sz="1125"/>
            </a:lvl2pPr>
            <a:lvl3pPr>
              <a:defRPr sz="1125"/>
            </a:lvl3pPr>
            <a:lvl4pPr>
              <a:defRPr sz="1125"/>
            </a:lvl4pPr>
            <a:lvl5pPr>
              <a:defRPr sz="1125"/>
            </a:lvl5pPr>
            <a:lvl6pPr>
              <a:defRPr sz="1125"/>
            </a:lvl6pPr>
            <a:lvl7pPr>
              <a:defRPr sz="1125"/>
            </a:lvl7pPr>
            <a:lvl8pPr>
              <a:defRPr sz="1125"/>
            </a:lvl8pPr>
            <a:lvl9pPr>
              <a:defRPr sz="1125"/>
            </a:lvl9pPr>
          </a:lstStyle>
          <a:p xmlns:a="http://schemas.openxmlformats.org/drawingml/2006/main">
            <a:pPr marL="0" indent="0" algn="ctr">
              <a:buNone/>
            </a:pPr>
            <a:r>
              <a:rPr sz="1125">
                <a:solidFill>
                  <a:srgbClr val="E7EAF0"/>
                </a:solidFill>
              </a:rPr>
              <a:t>Schools and employers</a:t>
            </a:r>
            <a:endParaRPr sz="1000"/>
          </a:p>
        </p:txBody>
      </p:sp>
      <p:sp>
        <p:nvSpPr>
          <p:cNvPr id="54" name="Slide Number Placeholder 0">
            <a:extLst xmlns:a="http://schemas.openxmlformats.org/drawingml/2006/main">
              <a:ext uri="{FF2B5EF4-FFF2-40B4-BE49-F238E27FC236}">
                <a16:creationId xmlns:a16="http://schemas.microsoft.com/office/drawing/2014/main" id="{EC0DFF37-7D5B-4556-9276-05CF4D0FEC11}"/>
              </a:ext>
            </a:extLst>
          </p:cNvPr>
          <p:cNvSpPr>
            <a:spLocks xmlns:a="http://schemas.openxmlformats.org/drawingml/2006/main" noGrp="1"/>
          </p:cNvSpPr>
          <p:nvPr>
            <p:ph type="sldNum" idx="4294967295"/>
          </p:nvPr>
        </p:nvSpPr>
        <p:spPr>
          <a:xfrm xmlns:a="http://schemas.openxmlformats.org/drawingml/2006/main">
            <a:off x="11887200" y="201168"/>
            <a:ext cx="1905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A0A0A0"/>
                </a:solidFill>
              </a:defRPr>
            </a:lvl1pPr>
          </a:lstStyle>
          <a:p xmlns:a="http://schemas.openxmlformats.org/drawingml/2006/main">
            <a:pPr algn="l">
              <a:buNone/>
            </a:pPr>
            <a:fld id="{388657AE-30A1-5A7A-6A7F-315D84436430}" type="slidenum">
              <a:rPr b="0"/>
              <a:t>9</a:t>
            </a:fld>
            <a:endParaRPr/>
          </a:p>
        </p:txBody>
      </p:sp>
    </p:spTree>
    <p:extLst>
      <p:ext uri="{BB962C8B-B14F-4D97-AF65-F5344CB8AC3E}">
        <p14:creationId xmlns:p14="http://schemas.microsoft.com/office/powerpoint/2010/main" val="2030819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1253922D-3996-48CA-9C84-275E81C4E4FE}"/>
              </a:ext>
            </a:extLst>
          </p:cNvPr>
          <p:cNvSpPr>
            <a:spLocks xmlns:a="http://schemas.openxmlformats.org/drawingml/2006/main" noGrp="1"/>
          </p:cNvSpPr>
          <p:nvPr/>
        </p:nvSpPr>
        <p:spPr>
          <a:xfrm xmlns:a="http://schemas.openxmlformats.org/drawingml/2006/main">
            <a:off x="504825" y="5334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1">
                <a:solidFill>
                  <a:srgbClr val="2F73B9"/>
                </a:solidFill>
                <a:latin typeface="Aptos"/>
                <a:ea typeface="Aptos"/>
                <a:cs typeface="Aptos"/>
              </a:defRPr>
            </a:defPPr>
            <a:lvl1pPr>
              <a:defRPr sz="1050" b="1">
                <a:solidFill>
                  <a:srgbClr val="2F73B9"/>
                </a:solidFill>
                <a:latin typeface="Aptos"/>
                <a:ea typeface="Aptos"/>
                <a:cs typeface="Aptos"/>
              </a:defRPr>
            </a:lvl1pPr>
            <a:lvl2pPr>
              <a:defRPr sz="1050" b="1">
                <a:solidFill>
                  <a:srgbClr val="2F73B9"/>
                </a:solidFill>
                <a:latin typeface="Aptos"/>
                <a:ea typeface="Aptos"/>
                <a:cs typeface="Aptos"/>
              </a:defRPr>
            </a:lvl2pPr>
            <a:lvl3pPr>
              <a:defRPr sz="1050" b="1">
                <a:solidFill>
                  <a:srgbClr val="2F73B9"/>
                </a:solidFill>
                <a:latin typeface="Aptos"/>
                <a:ea typeface="Aptos"/>
                <a:cs typeface="Aptos"/>
              </a:defRPr>
            </a:lvl3pPr>
            <a:lvl4pPr>
              <a:defRPr sz="1050" b="1">
                <a:solidFill>
                  <a:srgbClr val="2F73B9"/>
                </a:solidFill>
                <a:latin typeface="Aptos"/>
                <a:ea typeface="Aptos"/>
                <a:cs typeface="Aptos"/>
              </a:defRPr>
            </a:lvl4pPr>
            <a:lvl5pPr>
              <a:defRPr sz="1050" b="1">
                <a:solidFill>
                  <a:srgbClr val="2F73B9"/>
                </a:solidFill>
                <a:latin typeface="Aptos"/>
                <a:ea typeface="Aptos"/>
                <a:cs typeface="Aptos"/>
              </a:defRPr>
            </a:lvl5pPr>
            <a:lvl6pPr>
              <a:defRPr sz="1050" b="1">
                <a:solidFill>
                  <a:srgbClr val="2F73B9"/>
                </a:solidFill>
                <a:latin typeface="Aptos"/>
                <a:ea typeface="Aptos"/>
                <a:cs typeface="Aptos"/>
              </a:defRPr>
            </a:lvl6pPr>
            <a:lvl7pPr>
              <a:defRPr sz="1050" b="1">
                <a:solidFill>
                  <a:srgbClr val="2F73B9"/>
                </a:solidFill>
                <a:latin typeface="Aptos"/>
                <a:ea typeface="Aptos"/>
                <a:cs typeface="Aptos"/>
              </a:defRPr>
            </a:lvl7pPr>
            <a:lvl8pPr>
              <a:defRPr sz="1050" b="1">
                <a:solidFill>
                  <a:srgbClr val="2F73B9"/>
                </a:solidFill>
                <a:latin typeface="Aptos"/>
                <a:ea typeface="Aptos"/>
                <a:cs typeface="Aptos"/>
              </a:defRPr>
            </a:lvl8pPr>
            <a:lvl9pPr>
              <a:defRPr sz="1050" b="1">
                <a:solidFill>
                  <a:srgbClr val="2F73B9"/>
                </a:solidFill>
                <a:latin typeface="Aptos"/>
                <a:ea typeface="Aptos"/>
                <a:cs typeface="Aptos"/>
              </a:defRPr>
            </a:lvl9pPr>
          </a:lstStyle>
          <a:p xmlns:a="http://schemas.openxmlformats.org/drawingml/2006/main">
            <a:pPr>
              <a:defRPr sz="1050" b="1">
                <a:solidFill>
                  <a:srgbClr val="2F73B9"/>
                </a:solidFill>
                <a:latin typeface="Aptos"/>
                <a:ea typeface="Aptos"/>
                <a:cs typeface="Aptos"/>
              </a:defRPr>
            </a:pPr>
            <a:r>
              <a:rPr sz="1050" b="1">
                <a:solidFill>
                  <a:srgbClr val="2F73B9"/>
                </a:solidFill>
                <a:latin typeface="Aptos"/>
                <a:ea typeface="Aptos"/>
                <a:cs typeface="Aptos"/>
              </a:rPr>
              <a:t>AI PRACTICE 5 OF 6</a:t>
            </a:r>
          </a:p>
        </p:txBody>
      </p:sp>
      <p:sp>
        <p:nvSpPr>
          <p:cNvPr id="2" name="title">
            <a:extLst xmlns:a="http://schemas.openxmlformats.org/drawingml/2006/main">
              <a:ext uri="{FF2B5EF4-FFF2-40B4-BE49-F238E27FC236}">
                <a16:creationId xmlns:a16="http://schemas.microsoft.com/office/drawing/2014/main" id="{134F36C5-BC9C-4CAA-812C-791D50398242}"/>
              </a:ext>
            </a:extLst>
          </p:cNvPr>
          <p:cNvSpPr>
            <a:spLocks xmlns:a="http://schemas.openxmlformats.org/drawingml/2006/main" noGrp="1"/>
          </p:cNvSpPr>
          <p:nvPr/>
        </p:nvSpPr>
        <p:spPr>
          <a:xfrm xmlns:a="http://schemas.openxmlformats.org/drawingml/2006/main">
            <a:off x="504825" y="885825"/>
            <a:ext cx="11182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2033"/>
                </a:solidFill>
                <a:latin typeface="Aptos"/>
                <a:ea typeface="Aptos"/>
                <a:cs typeface="Aptos"/>
              </a:defRPr>
            </a:defPPr>
            <a:lvl1pPr>
              <a:defRPr sz="2850" b="1">
                <a:solidFill>
                  <a:srgbClr val="172033"/>
                </a:solidFill>
                <a:latin typeface="Aptos"/>
                <a:ea typeface="Aptos"/>
                <a:cs typeface="Aptos"/>
              </a:defRPr>
            </a:lvl1pPr>
            <a:lvl2pPr>
              <a:defRPr sz="2850" b="1">
                <a:solidFill>
                  <a:srgbClr val="172033"/>
                </a:solidFill>
                <a:latin typeface="Aptos"/>
                <a:ea typeface="Aptos"/>
                <a:cs typeface="Aptos"/>
              </a:defRPr>
            </a:lvl2pPr>
            <a:lvl3pPr>
              <a:defRPr sz="2850" b="1">
                <a:solidFill>
                  <a:srgbClr val="172033"/>
                </a:solidFill>
                <a:latin typeface="Aptos"/>
                <a:ea typeface="Aptos"/>
                <a:cs typeface="Aptos"/>
              </a:defRPr>
            </a:lvl3pPr>
            <a:lvl4pPr>
              <a:defRPr sz="2850" b="1">
                <a:solidFill>
                  <a:srgbClr val="172033"/>
                </a:solidFill>
                <a:latin typeface="Aptos"/>
                <a:ea typeface="Aptos"/>
                <a:cs typeface="Aptos"/>
              </a:defRPr>
            </a:lvl4pPr>
            <a:lvl5pPr>
              <a:defRPr sz="2850" b="1">
                <a:solidFill>
                  <a:srgbClr val="172033"/>
                </a:solidFill>
                <a:latin typeface="Aptos"/>
                <a:ea typeface="Aptos"/>
                <a:cs typeface="Aptos"/>
              </a:defRPr>
            </a:lvl5pPr>
            <a:lvl6pPr>
              <a:defRPr sz="2850" b="1">
                <a:solidFill>
                  <a:srgbClr val="172033"/>
                </a:solidFill>
                <a:latin typeface="Aptos"/>
                <a:ea typeface="Aptos"/>
                <a:cs typeface="Aptos"/>
              </a:defRPr>
            </a:lvl6pPr>
            <a:lvl7pPr>
              <a:defRPr sz="2850" b="1">
                <a:solidFill>
                  <a:srgbClr val="172033"/>
                </a:solidFill>
                <a:latin typeface="Aptos"/>
                <a:ea typeface="Aptos"/>
                <a:cs typeface="Aptos"/>
              </a:defRPr>
            </a:lvl7pPr>
            <a:lvl8pPr>
              <a:defRPr sz="2850" b="1">
                <a:solidFill>
                  <a:srgbClr val="172033"/>
                </a:solidFill>
                <a:latin typeface="Aptos"/>
                <a:ea typeface="Aptos"/>
                <a:cs typeface="Aptos"/>
              </a:defRPr>
            </a:lvl8pPr>
            <a:lvl9pPr>
              <a:defRPr sz="2850" b="1">
                <a:solidFill>
                  <a:srgbClr val="172033"/>
                </a:solidFill>
                <a:latin typeface="Aptos"/>
                <a:ea typeface="Aptos"/>
                <a:cs typeface="Aptos"/>
              </a:defRPr>
            </a:lvl9pPr>
          </a:lstStyle>
          <a:p xmlns:a="http://schemas.openxmlformats.org/drawingml/2006/main">
            <a:pPr>
              <a:defRPr sz="2850" b="1">
                <a:solidFill>
                  <a:srgbClr val="172033"/>
                </a:solidFill>
                <a:latin typeface="Aptos"/>
                <a:ea typeface="Aptos"/>
                <a:cs typeface="Aptos"/>
              </a:defRPr>
            </a:pPr>
            <a:r>
              <a:rPr sz="2850" b="1">
                <a:solidFill>
                  <a:srgbClr val="172033"/>
                </a:solidFill>
                <a:latin typeface="Aptos"/>
                <a:ea typeface="Aptos"/>
                <a:cs typeface="Aptos"/>
              </a:rPr>
              <a:t>AI tools across the six-step journey</a:t>
            </a:r>
          </a:p>
        </p:txBody>
      </p:sp>
      <p:sp>
        <p:nvSpPr>
          <p:cNvPr id="3" name="subtitle">
            <a:extLst xmlns:a="http://schemas.openxmlformats.org/drawingml/2006/main">
              <a:ext uri="{FF2B5EF4-FFF2-40B4-BE49-F238E27FC236}">
                <a16:creationId xmlns:a16="http://schemas.microsoft.com/office/drawing/2014/main" id="{35F41770-F3AA-492B-AEB0-194A3D32AAD2}"/>
              </a:ext>
            </a:extLst>
          </p:cNvPr>
          <p:cNvSpPr>
            <a:spLocks xmlns:a="http://schemas.openxmlformats.org/drawingml/2006/main" noGrp="1"/>
          </p:cNvSpPr>
          <p:nvPr/>
        </p:nvSpPr>
        <p:spPr>
          <a:xfrm xmlns:a="http://schemas.openxmlformats.org/drawingml/2006/main">
            <a:off x="504825" y="1457325"/>
            <a:ext cx="11182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F7782"/>
                </a:solidFill>
                <a:latin typeface="Aptos"/>
                <a:ea typeface="Aptos"/>
                <a:cs typeface="Aptos"/>
              </a:defRPr>
            </a:defPPr>
            <a:lvl1pPr>
              <a:defRPr sz="1650" b="0">
                <a:solidFill>
                  <a:srgbClr val="6F7782"/>
                </a:solidFill>
                <a:latin typeface="Aptos"/>
                <a:ea typeface="Aptos"/>
                <a:cs typeface="Aptos"/>
              </a:defRPr>
            </a:lvl1pPr>
            <a:lvl2pPr>
              <a:defRPr sz="1650" b="0">
                <a:solidFill>
                  <a:srgbClr val="6F7782"/>
                </a:solidFill>
                <a:latin typeface="Aptos"/>
                <a:ea typeface="Aptos"/>
                <a:cs typeface="Aptos"/>
              </a:defRPr>
            </a:lvl2pPr>
            <a:lvl3pPr>
              <a:defRPr sz="1650" b="0">
                <a:solidFill>
                  <a:srgbClr val="6F7782"/>
                </a:solidFill>
                <a:latin typeface="Aptos"/>
                <a:ea typeface="Aptos"/>
                <a:cs typeface="Aptos"/>
              </a:defRPr>
            </a:lvl3pPr>
            <a:lvl4pPr>
              <a:defRPr sz="1650" b="0">
                <a:solidFill>
                  <a:srgbClr val="6F7782"/>
                </a:solidFill>
                <a:latin typeface="Aptos"/>
                <a:ea typeface="Aptos"/>
                <a:cs typeface="Aptos"/>
              </a:defRPr>
            </a:lvl4pPr>
            <a:lvl5pPr>
              <a:defRPr sz="1650" b="0">
                <a:solidFill>
                  <a:srgbClr val="6F7782"/>
                </a:solidFill>
                <a:latin typeface="Aptos"/>
                <a:ea typeface="Aptos"/>
                <a:cs typeface="Aptos"/>
              </a:defRPr>
            </a:lvl5pPr>
            <a:lvl6pPr>
              <a:defRPr sz="1650" b="0">
                <a:solidFill>
                  <a:srgbClr val="6F7782"/>
                </a:solidFill>
                <a:latin typeface="Aptos"/>
                <a:ea typeface="Aptos"/>
                <a:cs typeface="Aptos"/>
              </a:defRPr>
            </a:lvl6pPr>
            <a:lvl7pPr>
              <a:defRPr sz="1650" b="0">
                <a:solidFill>
                  <a:srgbClr val="6F7782"/>
                </a:solidFill>
                <a:latin typeface="Aptos"/>
                <a:ea typeface="Aptos"/>
                <a:cs typeface="Aptos"/>
              </a:defRPr>
            </a:lvl7pPr>
            <a:lvl8pPr>
              <a:defRPr sz="1650" b="0">
                <a:solidFill>
                  <a:srgbClr val="6F7782"/>
                </a:solidFill>
                <a:latin typeface="Aptos"/>
                <a:ea typeface="Aptos"/>
                <a:cs typeface="Aptos"/>
              </a:defRPr>
            </a:lvl8pPr>
            <a:lvl9pPr>
              <a:defRPr sz="1650" b="0">
                <a:solidFill>
                  <a:srgbClr val="6F7782"/>
                </a:solidFill>
                <a:latin typeface="Aptos"/>
                <a:ea typeface="Aptos"/>
                <a:cs typeface="Aptos"/>
              </a:defRPr>
            </a:lvl9pPr>
          </a:lstStyle>
          <a:p xmlns:a="http://schemas.openxmlformats.org/drawingml/2006/main">
            <a:pPr>
              <a:defRPr sz="1650" b="0">
                <a:solidFill>
                  <a:srgbClr val="6F7782"/>
                </a:solidFill>
                <a:latin typeface="Aptos"/>
                <a:ea typeface="Aptos"/>
                <a:cs typeface="Aptos"/>
              </a:defRPr>
            </a:pPr>
            <a:r>
              <a:rPr sz="1650" b="0">
                <a:solidFill>
                  <a:srgbClr val="6F7782"/>
                </a:solidFill>
                <a:latin typeface="Aptos"/>
                <a:ea typeface="Aptos"/>
                <a:cs typeface="Aptos"/>
              </a:rPr>
              <a:t>Candidate implementations. Each feature has a concrete output and a clear human decision.</a:t>
            </a:r>
          </a:p>
        </p:txBody>
      </p:sp>
      <p:graphicFrame>
        <p:nvGraphicFramePr>
          <p:cNvPr id="4" name="">
            <a:extLst xmlns:a="http://schemas.openxmlformats.org/drawingml/2006/main">
              <a:ext uri="{FF2B5EF4-FFF2-40B4-BE49-F238E27FC236}">
                <a16:creationId xmlns:a16="http://schemas.microsoft.com/office/drawing/2014/main" id="{FA6B99D6-A317-4A6D-95BE-EB8A93CE40B5}"/>
              </a:ext>
            </a:extLst>
          </p:cNvPr>
          <p:cNvGraphicFramePr/>
          <p:nvPr/>
        </p:nvGraphicFramePr>
        <p:xfrm>
          <a:off xmlns:a="http://schemas.openxmlformats.org/drawingml/2006/main" x="504825" y="1981200"/>
          <a:ext xmlns:a="http://schemas.openxmlformats.org/drawingml/2006/main" cx="11182350" cy="3600450"/>
        </p:xfrm>
        <a:graphic xmlns:a="http://schemas.openxmlformats.org/drawingml/2006/main">
          <a:graphicData uri="http://schemas.openxmlformats.org/drawingml/2006/table">
            <a:tbl>
              <a:tblPr/>
              <a:tblGrid>
                <a:gridCol w="1809750"/>
                <a:gridCol w="3714750"/>
                <a:gridCol w="3095625"/>
                <a:gridCol w="2562225"/>
              </a:tblGrid>
              <a:tr h="514350">
                <a:tc>
                  <a:txBody>
                    <a:bodyPr/>
                    <a:lstStyle/>
                    <a:p>
                      <a:r>
                        <a:rPr sz="1425" b="1">
                          <a:solidFill>
                            <a:srgbClr val="FFFFFF"/>
                          </a:solidFill>
                          <a:latin typeface="Aptos"/>
                          <a:ea typeface="Aptos"/>
                          <a:cs typeface="Aptos"/>
                        </a:rPr>
                        <a:t>Family job</a:t>
                      </a:r>
                    </a:p>
                  </a:txBody>
                  <a:tcPr marL="133350" marR="114300" marT="114300" marB="95250" anchor="ctr">
                    <a:lnL w="6668">
                      <a:solidFill>
                        <a:srgbClr val="E2D8C9"/>
                      </a:solidFill>
                    </a:lnL>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AI / supporting tool</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Output to review</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c>
                  <a:txBody>
                    <a:bodyPr/>
                    <a:lstStyle/>
                    <a:p>
                      <a:r>
                        <a:rPr sz="1425" b="1">
                          <a:solidFill>
                            <a:srgbClr val="FFFFFF"/>
                          </a:solidFill>
                          <a:latin typeface="Aptos"/>
                          <a:ea typeface="Aptos"/>
                          <a:cs typeface="Aptos"/>
                        </a:rPr>
                        <a:t>Human boundary</a:t>
                      </a:r>
                    </a:p>
                  </a:txBody>
                  <a:tcPr marL="133350" marR="114300" marT="114300" marB="95250" anchor="ctr">
                    <a:lnR w="6668">
                      <a:solidFill>
                        <a:srgbClr val="E2D8C9"/>
                      </a:solidFill>
                    </a:lnR>
                    <a:lnT w="6668">
                      <a:solidFill>
                        <a:srgbClr val="E2D8C9"/>
                      </a:solidFill>
                    </a:lnT>
                    <a:lnB w="6668">
                      <a:solidFill>
                        <a:srgbClr val="E2D8C9"/>
                      </a:solidFill>
                    </a:lnB>
                    <a:solidFill>
                      <a:srgbClr val="172033"/>
                    </a:solidFill>
                  </a:tcPr>
                </a:tc>
              </a:tr>
              <a:tr h="514350">
                <a:tc>
                  <a:txBody>
                    <a:bodyPr/>
                    <a:lstStyle/>
                    <a:p>
                      <a:r>
                        <a:rPr sz="1500" b="1">
                          <a:solidFill>
                            <a:srgbClr val="172033"/>
                          </a:solidFill>
                          <a:latin typeface="Aptos"/>
                          <a:ea typeface="Aptos"/>
                          <a:cs typeface="Aptos"/>
                        </a:rPr>
                        <a:t>Understand</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GPT-6 Luna + survey data</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A profile with unknowns</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Family corrects it</a:t>
                      </a:r>
                    </a:p>
                  </a:txBody>
                  <a:tcPr marL="133350" marR="114300" marT="114300" marB="95250" anchor="ctr">
                    <a:lnR w="6668">
                      <a:solidFill>
                        <a:srgbClr val="E2D8C9"/>
                      </a:solidFill>
                    </a:lnR>
                    <a:lnB w="6668">
                      <a:solidFill>
                        <a:srgbClr val="E2D8C9"/>
                      </a:solidFill>
                    </a:lnB>
                    <a:solidFill>
                      <a:srgbClr val="FFFCF8"/>
                    </a:solidFill>
                  </a:tcPr>
                </a:tc>
              </a:tr>
              <a:tr h="514350">
                <a:tc>
                  <a:txBody>
                    <a:bodyPr/>
                    <a:lstStyle/>
                    <a:p>
                      <a:r>
                        <a:rPr sz="1500" b="1">
                          <a:solidFill>
                            <a:srgbClr val="172033"/>
                          </a:solidFill>
                          <a:latin typeface="Aptos"/>
                          <a:ea typeface="Aptos"/>
                          <a:cs typeface="Aptos"/>
                        </a:rPr>
                        <a:t>Agree</a:t>
                      </a:r>
                    </a:p>
                  </a:txBody>
                  <a:tcPr marL="133350" marR="114300" marT="114300" marB="95250" anchor="ctr">
                    <a:lnL w="6668">
                      <a:solidFill>
                        <a:srgbClr val="E2D8C9"/>
                      </a:solidFill>
                    </a:lnL>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GPT-6.1 Sol or Sonnet 5.5</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A draft family pact</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Both sides approve</a:t>
                      </a:r>
                    </a:p>
                  </a:txBody>
                  <a:tcPr marL="133350" marR="114300" marT="114300" marB="95250" anchor="ctr">
                    <a:lnR w="6668">
                      <a:solidFill>
                        <a:srgbClr val="E2D8C9"/>
                      </a:solidFill>
                    </a:lnR>
                    <a:lnB w="6668">
                      <a:solidFill>
                        <a:srgbClr val="E2D8C9"/>
                      </a:solidFill>
                    </a:lnB>
                    <a:solidFill>
                      <a:srgbClr val="F1EBE1"/>
                    </a:solidFill>
                  </a:tcPr>
                </a:tc>
              </a:tr>
              <a:tr h="514350">
                <a:tc>
                  <a:txBody>
                    <a:bodyPr/>
                    <a:lstStyle/>
                    <a:p>
                      <a:r>
                        <a:rPr sz="1500" b="1">
                          <a:solidFill>
                            <a:srgbClr val="172033"/>
                          </a:solidFill>
                          <a:latin typeface="Aptos"/>
                          <a:ea typeface="Aptos"/>
                          <a:cs typeface="Aptos"/>
                        </a:rPr>
                        <a:t>Choose</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Model + reviewed ratings</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A cited comparison</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Parent decides</a:t>
                      </a:r>
                    </a:p>
                  </a:txBody>
                  <a:tcPr marL="133350" marR="114300" marT="114300" marB="95250" anchor="ctr">
                    <a:lnR w="6668">
                      <a:solidFill>
                        <a:srgbClr val="E2D8C9"/>
                      </a:solidFill>
                    </a:lnR>
                    <a:lnB w="6668">
                      <a:solidFill>
                        <a:srgbClr val="E2D8C9"/>
                      </a:solidFill>
                    </a:lnB>
                    <a:solidFill>
                      <a:srgbClr val="FFFCF8"/>
                    </a:solidFill>
                  </a:tcPr>
                </a:tc>
              </a:tr>
              <a:tr h="514350">
                <a:tc>
                  <a:txBody>
                    <a:bodyPr/>
                    <a:lstStyle/>
                    <a:p>
                      <a:r>
                        <a:rPr sz="1500" b="1">
                          <a:solidFill>
                            <a:srgbClr val="172033"/>
                          </a:solidFill>
                          <a:latin typeface="Aptos"/>
                          <a:ea typeface="Aptos"/>
                          <a:cs typeface="Aptos"/>
                        </a:rPr>
                        <a:t>Change</a:t>
                      </a:r>
                    </a:p>
                  </a:txBody>
                  <a:tcPr marL="133350" marR="114300" marT="114300" marB="95250" anchor="ctr">
                    <a:lnL w="6668">
                      <a:solidFill>
                        <a:srgbClr val="E2D8C9"/>
                      </a:solidFill>
                    </a:lnL>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Model + approved playbook</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One small habit experiment</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Family chooses</a:t>
                      </a:r>
                    </a:p>
                  </a:txBody>
                  <a:tcPr marL="133350" marR="114300" marT="114300" marB="95250" anchor="ctr">
                    <a:lnR w="6668">
                      <a:solidFill>
                        <a:srgbClr val="E2D8C9"/>
                      </a:solidFill>
                    </a:lnR>
                    <a:lnB w="6668">
                      <a:solidFill>
                        <a:srgbClr val="E2D8C9"/>
                      </a:solidFill>
                    </a:lnB>
                    <a:solidFill>
                      <a:srgbClr val="F1EBE1"/>
                    </a:solidFill>
                  </a:tcPr>
                </a:tc>
              </a:tr>
              <a:tr h="514350">
                <a:tc>
                  <a:txBody>
                    <a:bodyPr/>
                    <a:lstStyle/>
                    <a:p>
                      <a:r>
                        <a:rPr sz="1500" b="1">
                          <a:solidFill>
                            <a:srgbClr val="172033"/>
                          </a:solidFill>
                          <a:latin typeface="Aptos"/>
                          <a:ea typeface="Aptos"/>
                          <a:cs typeface="Aptos"/>
                        </a:rPr>
                        <a:t>Live</a:t>
                      </a:r>
                    </a:p>
                  </a:txBody>
                  <a:tcPr marL="133350" marR="114300" marT="114300" marB="95250" anchor="ctr">
                    <a:lnL w="6668">
                      <a:solidFill>
                        <a:srgbClr val="E2D8C9"/>
                      </a:solidFill>
                    </a:lnL>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Model + Places + providers</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Verified activity options</a:t>
                      </a:r>
                    </a:p>
                  </a:txBody>
                  <a:tcPr marL="133350" marR="114300" marT="114300" marB="95250" anchor="ctr">
                    <a:lnR w="6668">
                      <a:solidFill>
                        <a:srgbClr val="E2D8C9"/>
                      </a:solidFill>
                    </a:lnR>
                    <a:lnB w="6668">
                      <a:solidFill>
                        <a:srgbClr val="E2D8C9"/>
                      </a:solidFill>
                    </a:lnB>
                    <a:solidFill>
                      <a:srgbClr val="FFFCF8"/>
                    </a:solidFill>
                  </a:tcPr>
                </a:tc>
                <a:tc>
                  <a:txBody>
                    <a:bodyPr/>
                    <a:lstStyle/>
                    <a:p>
                      <a:r>
                        <a:rPr sz="1500" b="0">
                          <a:solidFill>
                            <a:srgbClr val="172033"/>
                          </a:solidFill>
                          <a:latin typeface="Aptos"/>
                          <a:ea typeface="Aptos"/>
                          <a:cs typeface="Aptos"/>
                        </a:rPr>
                        <a:t>Adult books</a:t>
                      </a:r>
                    </a:p>
                  </a:txBody>
                  <a:tcPr marL="133350" marR="114300" marT="114300" marB="95250" anchor="ctr">
                    <a:lnR w="6668">
                      <a:solidFill>
                        <a:srgbClr val="E2D8C9"/>
                      </a:solidFill>
                    </a:lnR>
                    <a:lnB w="6668">
                      <a:solidFill>
                        <a:srgbClr val="E2D8C9"/>
                      </a:solidFill>
                    </a:lnB>
                    <a:solidFill>
                      <a:srgbClr val="FFFCF8"/>
                    </a:solidFill>
                  </a:tcPr>
                </a:tc>
              </a:tr>
              <a:tr h="514350">
                <a:tc>
                  <a:txBody>
                    <a:bodyPr/>
                    <a:lstStyle/>
                    <a:p>
                      <a:r>
                        <a:rPr sz="1500" b="1">
                          <a:solidFill>
                            <a:srgbClr val="172033"/>
                          </a:solidFill>
                          <a:latin typeface="Aptos"/>
                          <a:ea typeface="Aptos"/>
                          <a:cs typeface="Aptos"/>
                        </a:rPr>
                        <a:t>Grow</a:t>
                      </a:r>
                    </a:p>
                  </a:txBody>
                  <a:tcPr marL="133350" marR="114300" marT="114300" marB="95250" anchor="ctr">
                    <a:lnL w="6668">
                      <a:solidFill>
                        <a:srgbClr val="E2D8C9"/>
                      </a:solidFill>
                    </a:lnL>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Model + scenario rubric</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Practice and feedback</a:t>
                      </a:r>
                    </a:p>
                  </a:txBody>
                  <a:tcPr marL="133350" marR="114300" marT="114300" marB="95250" anchor="ctr">
                    <a:lnR w="6668">
                      <a:solidFill>
                        <a:srgbClr val="E2D8C9"/>
                      </a:solidFill>
                    </a:lnR>
                    <a:lnB w="6668">
                      <a:solidFill>
                        <a:srgbClr val="E2D8C9"/>
                      </a:solidFill>
                    </a:lnB>
                    <a:solidFill>
                      <a:srgbClr val="F1EBE1"/>
                    </a:solidFill>
                  </a:tcPr>
                </a:tc>
                <a:tc>
                  <a:txBody>
                    <a:bodyPr/>
                    <a:lstStyle/>
                    <a:p>
                      <a:r>
                        <a:rPr sz="1500" b="0">
                          <a:solidFill>
                            <a:srgbClr val="172033"/>
                          </a:solidFill>
                          <a:latin typeface="Aptos"/>
                          <a:ea typeface="Aptos"/>
                          <a:cs typeface="Aptos"/>
                        </a:rPr>
                        <a:t>Parent grants privileges</a:t>
                      </a:r>
                    </a:p>
                  </a:txBody>
                  <a:tcPr marL="133350" marR="114300" marT="114300" marB="95250" anchor="ctr">
                    <a:lnR w="6668">
                      <a:solidFill>
                        <a:srgbClr val="E2D8C9"/>
                      </a:solidFill>
                    </a:lnR>
                    <a:lnB w="6668">
                      <a:solidFill>
                        <a:srgbClr val="E2D8C9"/>
                      </a:solidFill>
                    </a:lnB>
                    <a:solidFill>
                      <a:srgbClr val="F1EBE1"/>
                    </a:solidFill>
                  </a:tcPr>
                </a:tc>
              </a:tr>
            </a:tbl>
          </a:graphicData>
        </a:graphic>
      </p:graphicFrame>
      <p:sp>
        <p:nvSpPr>
          <p:cNvPr id="5" name="takeaway">
            <a:extLst xmlns:a="http://schemas.openxmlformats.org/drawingml/2006/main">
              <a:ext uri="{FF2B5EF4-FFF2-40B4-BE49-F238E27FC236}">
                <a16:creationId xmlns:a16="http://schemas.microsoft.com/office/drawing/2014/main" id="{C3AA184F-DC83-4924-A11D-2BD14D4BC9FA}"/>
              </a:ext>
            </a:extLst>
          </p:cNvPr>
          <p:cNvSpPr>
            <a:spLocks xmlns:a="http://schemas.openxmlformats.org/drawingml/2006/main" noGrp="1"/>
          </p:cNvSpPr>
          <p:nvPr/>
        </p:nvSpPr>
        <p:spPr>
          <a:xfrm xmlns:a="http://schemas.openxmlformats.org/drawingml/2006/main">
            <a:off x="504825" y="5838825"/>
            <a:ext cx="11182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72033"/>
                </a:solidFill>
                <a:latin typeface="Aptos"/>
                <a:ea typeface="Aptos"/>
                <a:cs typeface="Aptos"/>
              </a:defRPr>
            </a:defPPr>
            <a:lvl1pPr>
              <a:defRPr sz="1725" b="1">
                <a:solidFill>
                  <a:srgbClr val="172033"/>
                </a:solidFill>
                <a:latin typeface="Aptos"/>
                <a:ea typeface="Aptos"/>
                <a:cs typeface="Aptos"/>
              </a:defRPr>
            </a:lvl1pPr>
            <a:lvl2pPr>
              <a:defRPr sz="1725" b="1">
                <a:solidFill>
                  <a:srgbClr val="172033"/>
                </a:solidFill>
                <a:latin typeface="Aptos"/>
                <a:ea typeface="Aptos"/>
                <a:cs typeface="Aptos"/>
              </a:defRPr>
            </a:lvl2pPr>
            <a:lvl3pPr>
              <a:defRPr sz="1725" b="1">
                <a:solidFill>
                  <a:srgbClr val="172033"/>
                </a:solidFill>
                <a:latin typeface="Aptos"/>
                <a:ea typeface="Aptos"/>
                <a:cs typeface="Aptos"/>
              </a:defRPr>
            </a:lvl3pPr>
            <a:lvl4pPr>
              <a:defRPr sz="1725" b="1">
                <a:solidFill>
                  <a:srgbClr val="172033"/>
                </a:solidFill>
                <a:latin typeface="Aptos"/>
                <a:ea typeface="Aptos"/>
                <a:cs typeface="Aptos"/>
              </a:defRPr>
            </a:lvl4pPr>
            <a:lvl5pPr>
              <a:defRPr sz="1725" b="1">
                <a:solidFill>
                  <a:srgbClr val="172033"/>
                </a:solidFill>
                <a:latin typeface="Aptos"/>
                <a:ea typeface="Aptos"/>
                <a:cs typeface="Aptos"/>
              </a:defRPr>
            </a:lvl5pPr>
            <a:lvl6pPr>
              <a:defRPr sz="1725" b="1">
                <a:solidFill>
                  <a:srgbClr val="172033"/>
                </a:solidFill>
                <a:latin typeface="Aptos"/>
                <a:ea typeface="Aptos"/>
                <a:cs typeface="Aptos"/>
              </a:defRPr>
            </a:lvl6pPr>
            <a:lvl7pPr>
              <a:defRPr sz="1725" b="1">
                <a:solidFill>
                  <a:srgbClr val="172033"/>
                </a:solidFill>
                <a:latin typeface="Aptos"/>
                <a:ea typeface="Aptos"/>
                <a:cs typeface="Aptos"/>
              </a:defRPr>
            </a:lvl7pPr>
            <a:lvl8pPr>
              <a:defRPr sz="1725" b="1">
                <a:solidFill>
                  <a:srgbClr val="172033"/>
                </a:solidFill>
                <a:latin typeface="Aptos"/>
                <a:ea typeface="Aptos"/>
                <a:cs typeface="Aptos"/>
              </a:defRPr>
            </a:lvl8pPr>
            <a:lvl9pPr>
              <a:defRPr sz="1725" b="1">
                <a:solidFill>
                  <a:srgbClr val="172033"/>
                </a:solidFill>
                <a:latin typeface="Aptos"/>
                <a:ea typeface="Aptos"/>
                <a:cs typeface="Aptos"/>
              </a:defRPr>
            </a:lvl9pPr>
          </a:lstStyle>
          <a:p xmlns:a="http://schemas.openxmlformats.org/drawingml/2006/main">
            <a:pPr>
              <a:defRPr sz="1725" b="1">
                <a:solidFill>
                  <a:srgbClr val="172033"/>
                </a:solidFill>
                <a:latin typeface="Aptos"/>
                <a:ea typeface="Aptos"/>
                <a:cs typeface="Aptos"/>
              </a:defRPr>
            </a:pPr>
            <a:r>
              <a:rPr sz="1725" b="1">
                <a:solidFill>
                  <a:srgbClr val="172033"/>
                </a:solidFill>
                <a:latin typeface="Aptos"/>
                <a:ea typeface="Aptos"/>
                <a:cs typeface="Aptos"/>
              </a:rPr>
              <a:t>Across all six: moderation, defined escalation rules, and outcome checks.</a:t>
            </a:r>
          </a:p>
        </p:txBody>
      </p:sp>
      <p:sp>
        <p:nvSpPr>
          <p:cNvPr id="6" name="caption">
            <a:extLst xmlns:a="http://schemas.openxmlformats.org/drawingml/2006/main">
              <a:ext uri="{FF2B5EF4-FFF2-40B4-BE49-F238E27FC236}">
                <a16:creationId xmlns:a16="http://schemas.microsoft.com/office/drawing/2014/main" id="{0C07C5F2-FC76-4E66-81A0-B2C289E0C5F3}"/>
              </a:ext>
            </a:extLst>
          </p:cNvPr>
          <p:cNvSpPr>
            <a:spLocks xmlns:a="http://schemas.openxmlformats.org/drawingml/2006/main" noGrp="1"/>
          </p:cNvSpPr>
          <p:nvPr/>
        </p:nvSpPr>
        <p:spPr>
          <a:xfrm xmlns:a="http://schemas.openxmlformats.org/drawingml/2006/main">
            <a:off x="504825" y="6372225"/>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75" b="0">
                <a:solidFill>
                  <a:srgbClr val="6F7782"/>
                </a:solidFill>
                <a:latin typeface="Aptos"/>
                <a:ea typeface="Aptos"/>
                <a:cs typeface="Aptos"/>
              </a:defRPr>
            </a:defPPr>
            <a:lvl1pPr>
              <a:defRPr sz="975" b="0">
                <a:solidFill>
                  <a:srgbClr val="6F7782"/>
                </a:solidFill>
                <a:latin typeface="Aptos"/>
                <a:ea typeface="Aptos"/>
                <a:cs typeface="Aptos"/>
              </a:defRPr>
            </a:lvl1pPr>
            <a:lvl2pPr>
              <a:defRPr sz="975" b="0">
                <a:solidFill>
                  <a:srgbClr val="6F7782"/>
                </a:solidFill>
                <a:latin typeface="Aptos"/>
                <a:ea typeface="Aptos"/>
                <a:cs typeface="Aptos"/>
              </a:defRPr>
            </a:lvl2pPr>
            <a:lvl3pPr>
              <a:defRPr sz="975" b="0">
                <a:solidFill>
                  <a:srgbClr val="6F7782"/>
                </a:solidFill>
                <a:latin typeface="Aptos"/>
                <a:ea typeface="Aptos"/>
                <a:cs typeface="Aptos"/>
              </a:defRPr>
            </a:lvl3pPr>
            <a:lvl4pPr>
              <a:defRPr sz="975" b="0">
                <a:solidFill>
                  <a:srgbClr val="6F7782"/>
                </a:solidFill>
                <a:latin typeface="Aptos"/>
                <a:ea typeface="Aptos"/>
                <a:cs typeface="Aptos"/>
              </a:defRPr>
            </a:lvl4pPr>
            <a:lvl5pPr>
              <a:defRPr sz="975" b="0">
                <a:solidFill>
                  <a:srgbClr val="6F7782"/>
                </a:solidFill>
                <a:latin typeface="Aptos"/>
                <a:ea typeface="Aptos"/>
                <a:cs typeface="Aptos"/>
              </a:defRPr>
            </a:lvl5pPr>
            <a:lvl6pPr>
              <a:defRPr sz="975" b="0">
                <a:solidFill>
                  <a:srgbClr val="6F7782"/>
                </a:solidFill>
                <a:latin typeface="Aptos"/>
                <a:ea typeface="Aptos"/>
                <a:cs typeface="Aptos"/>
              </a:defRPr>
            </a:lvl6pPr>
            <a:lvl7pPr>
              <a:defRPr sz="975" b="0">
                <a:solidFill>
                  <a:srgbClr val="6F7782"/>
                </a:solidFill>
                <a:latin typeface="Aptos"/>
                <a:ea typeface="Aptos"/>
                <a:cs typeface="Aptos"/>
              </a:defRPr>
            </a:lvl7pPr>
            <a:lvl8pPr>
              <a:defRPr sz="975" b="0">
                <a:solidFill>
                  <a:srgbClr val="6F7782"/>
                </a:solidFill>
                <a:latin typeface="Aptos"/>
                <a:ea typeface="Aptos"/>
                <a:cs typeface="Aptos"/>
              </a:defRPr>
            </a:lvl8pPr>
            <a:lvl9pPr>
              <a:defRPr sz="975" b="0">
                <a:solidFill>
                  <a:srgbClr val="6F7782"/>
                </a:solidFill>
                <a:latin typeface="Aptos"/>
                <a:ea typeface="Aptos"/>
                <a:cs typeface="Aptos"/>
              </a:defRPr>
            </a:lvl9pPr>
          </a:lstStyle>
          <a:p xmlns:a="http://schemas.openxmlformats.org/drawingml/2006/main">
            <a:pPr>
              <a:defRPr sz="975" b="0">
                <a:solidFill>
                  <a:srgbClr val="6F7782"/>
                </a:solidFill>
                <a:latin typeface="Aptos"/>
                <a:ea typeface="Aptos"/>
                <a:cs typeface="Aptos"/>
              </a:defRPr>
            </a:pPr>
            <a:r>
              <a:rPr sz="975" b="0">
                <a:solidFill>
                  <a:srgbClr val="6F7782"/>
                </a:solidFill>
                <a:latin typeface="Aptos"/>
                <a:ea typeface="Aptos"/>
                <a:cs typeface="Aptos"/>
              </a:rPr>
              <a:t>Content classifiers can flag some risks. They cannot guarantee safety or diagnose a child.</a:t>
            </a:r>
          </a:p>
        </p:txBody>
      </p:sp>
      <p:sp>
        <p:nvSpPr>
          <p:cNvPr id="7" name="page-number">
            <a:extLst xmlns:a="http://schemas.openxmlformats.org/drawingml/2006/main">
              <a:ext uri="{FF2B5EF4-FFF2-40B4-BE49-F238E27FC236}">
                <a16:creationId xmlns:a16="http://schemas.microsoft.com/office/drawing/2014/main" id="{7681E078-9EDC-4B4A-A0D0-B7D2DAE3D690}"/>
              </a:ext>
            </a:extLst>
          </p:cNvPr>
          <p:cNvSpPr>
            <a:spLocks xmlns:a="http://schemas.openxmlformats.org/drawingml/2006/main" noGrp="1"/>
          </p:cNvSpPr>
          <p:nvPr/>
        </p:nvSpPr>
        <p:spPr>
          <a:xfrm xmlns:a="http://schemas.openxmlformats.org/drawingml/2006/main">
            <a:off x="11896725" y="266700"/>
            <a:ext cx="190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825" b="0">
                <a:solidFill>
                  <a:srgbClr val="9F9F9F"/>
                </a:solidFill>
                <a:latin typeface="Aptos"/>
                <a:ea typeface="Aptos"/>
                <a:cs typeface="Aptos"/>
              </a:defRPr>
            </a:defPPr>
            <a:lvl1pPr>
              <a:defRPr sz="825" b="0">
                <a:solidFill>
                  <a:srgbClr val="9F9F9F"/>
                </a:solidFill>
                <a:latin typeface="Aptos"/>
                <a:ea typeface="Aptos"/>
                <a:cs typeface="Aptos"/>
              </a:defRPr>
            </a:lvl1pPr>
            <a:lvl2pPr>
              <a:defRPr sz="825" b="0">
                <a:solidFill>
                  <a:srgbClr val="9F9F9F"/>
                </a:solidFill>
                <a:latin typeface="Aptos"/>
                <a:ea typeface="Aptos"/>
                <a:cs typeface="Aptos"/>
              </a:defRPr>
            </a:lvl2pPr>
            <a:lvl3pPr>
              <a:defRPr sz="825" b="0">
                <a:solidFill>
                  <a:srgbClr val="9F9F9F"/>
                </a:solidFill>
                <a:latin typeface="Aptos"/>
                <a:ea typeface="Aptos"/>
                <a:cs typeface="Aptos"/>
              </a:defRPr>
            </a:lvl3pPr>
            <a:lvl4pPr>
              <a:defRPr sz="825" b="0">
                <a:solidFill>
                  <a:srgbClr val="9F9F9F"/>
                </a:solidFill>
                <a:latin typeface="Aptos"/>
                <a:ea typeface="Aptos"/>
                <a:cs typeface="Aptos"/>
              </a:defRPr>
            </a:lvl4pPr>
            <a:lvl5pPr>
              <a:defRPr sz="825" b="0">
                <a:solidFill>
                  <a:srgbClr val="9F9F9F"/>
                </a:solidFill>
                <a:latin typeface="Aptos"/>
                <a:ea typeface="Aptos"/>
                <a:cs typeface="Aptos"/>
              </a:defRPr>
            </a:lvl5pPr>
            <a:lvl6pPr>
              <a:defRPr sz="825" b="0">
                <a:solidFill>
                  <a:srgbClr val="9F9F9F"/>
                </a:solidFill>
                <a:latin typeface="Aptos"/>
                <a:ea typeface="Aptos"/>
                <a:cs typeface="Aptos"/>
              </a:defRPr>
            </a:lvl6pPr>
            <a:lvl7pPr>
              <a:defRPr sz="825" b="0">
                <a:solidFill>
                  <a:srgbClr val="9F9F9F"/>
                </a:solidFill>
                <a:latin typeface="Aptos"/>
                <a:ea typeface="Aptos"/>
                <a:cs typeface="Aptos"/>
              </a:defRPr>
            </a:lvl7pPr>
            <a:lvl8pPr>
              <a:defRPr sz="825" b="0">
                <a:solidFill>
                  <a:srgbClr val="9F9F9F"/>
                </a:solidFill>
                <a:latin typeface="Aptos"/>
                <a:ea typeface="Aptos"/>
                <a:cs typeface="Aptos"/>
              </a:defRPr>
            </a:lvl8pPr>
            <a:lvl9pPr>
              <a:defRPr sz="825" b="0">
                <a:solidFill>
                  <a:srgbClr val="9F9F9F"/>
                </a:solidFill>
                <a:latin typeface="Aptos"/>
                <a:ea typeface="Aptos"/>
                <a:cs typeface="Aptos"/>
              </a:defRPr>
            </a:lvl9pPr>
          </a:lstStyle>
          <a:p xmlns:a="http://schemas.openxmlformats.org/drawingml/2006/main">
            <a:pPr>
              <a:defRPr sz="825" b="0">
                <a:solidFill>
                  <a:srgbClr val="9F9F9F"/>
                </a:solidFill>
                <a:latin typeface="Aptos"/>
                <a:ea typeface="Aptos"/>
                <a:cs typeface="Aptos"/>
              </a:defRPr>
            </a:pPr>
            <a:r>
              <a:rPr sz="825" b="0">
                <a:solidFill>
                  <a:srgbClr val="9F9F9F"/>
                </a:solidFill>
                <a:latin typeface="Aptos"/>
                <a:ea typeface="Aptos"/>
                <a:cs typeface="Aptos"/>
              </a:rPr>
              <a:t>10</a:t>
            </a:r>
          </a:p>
        </p:txBody>
      </p:sp>
    </p:spTree>
    <p:extLst>
      <p:ext uri="{BB962C8B-B14F-4D97-AF65-F5344CB8AC3E}">
        <p14:creationId xmlns:p14="http://schemas.microsoft.com/office/powerpoint/2010/main" val="25956292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8C3537-B164-49BD-9C49-CDC44D2F506F}"/>
              </a:ext>
            </a:extLst>
          </p:cNvPr>
          <p:cNvSpPr>
            <a:spLocks xmlns:a="http://schemas.openxmlformats.org/drawingml/2006/main" noGrp="1"/>
          </p:cNvSpPr>
          <p:nvPr/>
        </p:nvSpPr>
        <p:spPr>
          <a:xfrm xmlns:a="http://schemas.openxmlformats.org/drawingml/2006/main">
            <a:off x="502920" y="5029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80">
                <a:solidFill>
                  <a:srgbClr val="F57C00"/>
                </a:solidFill>
              </a:rPr>
              <a:t>JOOLIAN CASE 6 OF 6</a:t>
            </a:r>
            <a:endParaRPr sz="1000"/>
          </a:p>
        </p:txBody>
      </p:sp>
      <p:sp>
        <p:nvSpPr>
          <p:cNvPr id="3" name="Text 1">
            <a:extLst xmlns:a="http://schemas.openxmlformats.org/drawingml/2006/main">
              <a:ext uri="{FF2B5EF4-FFF2-40B4-BE49-F238E27FC236}">
                <a16:creationId xmlns:a16="http://schemas.microsoft.com/office/drawing/2014/main" id="{57456A45-8D82-4CF1-BE4A-59EBC02B40C0}"/>
              </a:ext>
            </a:extLst>
          </p:cNvPr>
          <p:cNvSpPr>
            <a:spLocks xmlns:a="http://schemas.openxmlformats.org/drawingml/2006/main" noGrp="1"/>
          </p:cNvSpPr>
          <p:nvPr/>
        </p:nvSpPr>
        <p:spPr>
          <a:xfrm xmlns:a="http://schemas.openxmlformats.org/drawingml/2006/main">
            <a:off x="502920" y="790575"/>
            <a:ext cx="1118616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700"/>
            </a:defPPr>
            <a:lvl1pPr>
              <a:defRPr sz="2700"/>
            </a:lvl1pPr>
            <a:lvl2pPr>
              <a:defRPr sz="2700"/>
            </a:lvl2pPr>
            <a:lvl3pPr>
              <a:defRPr sz="2700"/>
            </a:lvl3pPr>
            <a:lvl4pPr>
              <a:defRPr sz="2700"/>
            </a:lvl4pPr>
            <a:lvl5pPr>
              <a:defRPr sz="2700"/>
            </a:lvl5pPr>
            <a:lvl6pPr>
              <a:defRPr sz="2700"/>
            </a:lvl6pPr>
            <a:lvl7pPr>
              <a:defRPr sz="2700"/>
            </a:lvl7pPr>
            <a:lvl8pPr>
              <a:defRPr sz="2700"/>
            </a:lvl8pPr>
            <a:lvl9pPr>
              <a:defRPr sz="2700"/>
            </a:lvl9pPr>
          </a:lstStyle>
          <a:p xmlns:a="http://schemas.openxmlformats.org/drawingml/2006/main">
            <a:pPr marL="0" indent="0">
              <a:buNone/>
            </a:pPr>
            <a:r>
              <a:rPr sz="2700" b="1">
                <a:solidFill>
                  <a:srgbClr val="172033"/>
                </a:solidFill>
              </a:rPr>
              <a:t>What useful AI should deliver for a family</a:t>
            </a:r>
            <a:endParaRPr sz="2700"/>
          </a:p>
        </p:txBody>
      </p:sp>
      <p:sp>
        <p:nvSpPr>
          <p:cNvPr id="4" name="Text 2">
            <a:extLst xmlns:a="http://schemas.openxmlformats.org/drawingml/2006/main">
              <a:ext uri="{FF2B5EF4-FFF2-40B4-BE49-F238E27FC236}">
                <a16:creationId xmlns:a16="http://schemas.microsoft.com/office/drawing/2014/main" id="{5798ECF0-A48F-41C6-AF95-482C5487229C}"/>
              </a:ext>
            </a:extLst>
          </p:cNvPr>
          <p:cNvSpPr>
            <a:spLocks xmlns:a="http://schemas.openxmlformats.org/drawingml/2006/main" noGrp="1"/>
          </p:cNvSpPr>
          <p:nvPr/>
        </p:nvSpPr>
        <p:spPr>
          <a:xfrm xmlns:a="http://schemas.openxmlformats.org/drawingml/2006/main">
            <a:off x="502920" y="1381125"/>
            <a:ext cx="10972800" cy="4286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buNone/>
            </a:pPr>
            <a:r>
              <a:rPr sz="1650">
                <a:solidFill>
                  <a:srgbClr val="6F7782"/>
                </a:solidFill>
              </a:rPr>
              <a:t>Proposed product outcomes to test with families, alongside privacy and safety.</a:t>
            </a:r>
            <a:endParaRPr sz="1250"/>
          </a:p>
        </p:txBody>
      </p:sp>
      <p:sp>
        <p:nvSpPr>
          <p:cNvPr id="5" name="Shape 3">
            <a:extLst xmlns:a="http://schemas.openxmlformats.org/drawingml/2006/main">
              <a:ext uri="{FF2B5EF4-FFF2-40B4-BE49-F238E27FC236}">
                <a16:creationId xmlns:a16="http://schemas.microsoft.com/office/drawing/2014/main" id="{5CC452BC-EA3A-4A9D-8E14-3D3B98E5729A}"/>
              </a:ext>
            </a:extLst>
          </p:cNvPr>
          <p:cNvSpPr>
            <a:spLocks xmlns:a="http://schemas.openxmlformats.org/drawingml/2006/main" noGrp="1"/>
          </p:cNvSpPr>
          <p:nvPr/>
        </p:nvSpPr>
        <p:spPr>
          <a:xfrm xmlns:a="http://schemas.openxmlformats.org/drawingml/2006/main">
            <a:off x="658368" y="1901952"/>
            <a:ext cx="10881360" cy="658368"/>
          </a:xfrm>
          <a:prstGeom xmlns:a="http://schemas.openxmlformats.org/drawingml/2006/main" prst="roundRect">
            <a:avLst/>
          </a:prstGeom>
          <a:solidFill xmlns:a="http://schemas.openxmlformats.org/drawingml/2006/main">
            <a:srgbClr val="172033"/>
          </a:solidFill>
          <a:ln xmlns:a="http://schemas.openxmlformats.org/drawingml/2006/main" w="12700">
            <a:solidFill>
              <a:srgbClr val="172033"/>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E63CE2CA-C75A-4743-BC0B-0438E60675B9}"/>
              </a:ext>
            </a:extLst>
          </p:cNvPr>
          <p:cNvSpPr>
            <a:spLocks xmlns:a="http://schemas.openxmlformats.org/drawingml/2006/main" noGrp="1"/>
          </p:cNvSpPr>
          <p:nvPr/>
        </p:nvSpPr>
        <p:spPr>
          <a:xfrm xmlns:a="http://schemas.openxmlformats.org/drawingml/2006/main">
            <a:off x="896112" y="2093976"/>
            <a:ext cx="1508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57C00"/>
                </a:solidFill>
              </a:rPr>
              <a:t>JOOLIAN AGENT</a:t>
            </a:r>
            <a:endParaRPr sz="1100"/>
          </a:p>
        </p:txBody>
      </p:sp>
      <p:sp>
        <p:nvSpPr>
          <p:cNvPr id="7" name="Text 5">
            <a:extLst xmlns:a="http://schemas.openxmlformats.org/drawingml/2006/main">
              <a:ext uri="{FF2B5EF4-FFF2-40B4-BE49-F238E27FC236}">
                <a16:creationId xmlns:a16="http://schemas.microsoft.com/office/drawing/2014/main" id="{28C00198-306A-4F5A-8E41-D8C51532EC9E}"/>
              </a:ext>
            </a:extLst>
          </p:cNvPr>
          <p:cNvSpPr>
            <a:spLocks xmlns:a="http://schemas.openxmlformats.org/drawingml/2006/main" noGrp="1"/>
          </p:cNvSpPr>
          <p:nvPr/>
        </p:nvSpPr>
        <p:spPr>
          <a:xfrm xmlns:a="http://schemas.openxmlformats.org/drawingml/2006/main">
            <a:off x="2487168" y="2057400"/>
            <a:ext cx="8732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a:solidFill>
                  <a:srgbClr val="FFFFFF"/>
                </a:solidFill>
              </a:rPr>
              <a:t>Family-approved context, explanations, and control over the next step</a:t>
            </a:r>
            <a:endParaRPr sz="1150"/>
          </a:p>
        </p:txBody>
      </p:sp>
      <p:sp>
        <p:nvSpPr>
          <p:cNvPr id="8" name="Shape 6">
            <a:extLst xmlns:a="http://schemas.openxmlformats.org/drawingml/2006/main">
              <a:ext uri="{FF2B5EF4-FFF2-40B4-BE49-F238E27FC236}">
                <a16:creationId xmlns:a16="http://schemas.microsoft.com/office/drawing/2014/main" id="{F3CABFB7-BC8B-41A6-AFA9-9EC28C0118F0}"/>
              </a:ext>
            </a:extLst>
          </p:cNvPr>
          <p:cNvSpPr>
            <a:spLocks xmlns:a="http://schemas.openxmlformats.org/drawingml/2006/main" noGrp="1"/>
          </p:cNvSpPr>
          <p:nvPr/>
        </p:nvSpPr>
        <p:spPr>
          <a:xfrm xmlns:a="http://schemas.openxmlformats.org/drawingml/2006/main">
            <a:off x="566928" y="2880360"/>
            <a:ext cx="1819656" cy="2048256"/>
          </a:xfrm>
          <a:prstGeom xmlns:a="http://schemas.openxmlformats.org/drawingml/2006/main" prst="roundRect">
            <a:avLst/>
          </a:prstGeom>
          <a:solidFill xmlns:a="http://schemas.openxmlformats.org/drawingml/2006/main">
            <a:srgbClr val="E8F0FA"/>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803A4923-7D54-4FFF-9645-06F043A964CB}"/>
              </a:ext>
            </a:extLst>
          </p:cNvPr>
          <p:cNvSpPr>
            <a:spLocks xmlns:a="http://schemas.openxmlformats.org/drawingml/2006/main" noGrp="1"/>
          </p:cNvSpPr>
          <p:nvPr/>
        </p:nvSpPr>
        <p:spPr>
          <a:xfrm xmlns:a="http://schemas.openxmlformats.org/drawingml/2006/main">
            <a:off x="658368" y="3044952"/>
            <a:ext cx="1636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57C00"/>
                </a:solidFill>
              </a:rPr>
              <a:t>UNDERSTAND</a:t>
            </a:r>
            <a:endParaRPr sz="1100"/>
          </a:p>
        </p:txBody>
      </p:sp>
      <p:sp>
        <p:nvSpPr>
          <p:cNvPr id="10" name="Text 8">
            <a:extLst xmlns:a="http://schemas.openxmlformats.org/drawingml/2006/main">
              <a:ext uri="{FF2B5EF4-FFF2-40B4-BE49-F238E27FC236}">
                <a16:creationId xmlns:a16="http://schemas.microsoft.com/office/drawing/2014/main" id="{D1681C8F-8E1E-465C-B3D8-0D27FFDD2E82}"/>
              </a:ext>
            </a:extLst>
          </p:cNvPr>
          <p:cNvSpPr>
            <a:spLocks xmlns:a="http://schemas.openxmlformats.org/drawingml/2006/main" noGrp="1"/>
          </p:cNvSpPr>
          <p:nvPr/>
        </p:nvSpPr>
        <p:spPr>
          <a:xfrm xmlns:a="http://schemas.openxmlformats.org/drawingml/2006/main">
            <a:off x="685800" y="3355848"/>
            <a:ext cx="15819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725"/>
            </a:defPPr>
            <a:lvl1pPr>
              <a:defRPr sz="1725"/>
            </a:lvl1pPr>
            <a:lvl2pPr>
              <a:defRPr sz="1725"/>
            </a:lvl2pPr>
            <a:lvl3pPr>
              <a:defRPr sz="1725"/>
            </a:lvl3pPr>
            <a:lvl4pPr>
              <a:defRPr sz="1725"/>
            </a:lvl4pPr>
            <a:lvl5pPr>
              <a:defRPr sz="1725"/>
            </a:lvl5pPr>
            <a:lvl6pPr>
              <a:defRPr sz="1725"/>
            </a:lvl6pPr>
            <a:lvl7pPr>
              <a:defRPr sz="1725"/>
            </a:lvl7pPr>
            <a:lvl8pPr>
              <a:defRPr sz="1725"/>
            </a:lvl8pPr>
            <a:lvl9pPr>
              <a:defRPr sz="1725"/>
            </a:lvl9pPr>
          </a:lstStyle>
          <a:p xmlns:a="http://schemas.openxmlformats.org/drawingml/2006/main">
            <a:pPr marL="0" indent="0" algn="ctr">
              <a:buNone/>
            </a:pPr>
            <a:r>
              <a:rPr sz="1725" b="1">
                <a:solidFill>
                  <a:srgbClr val="172033"/>
                </a:solidFill>
              </a:rPr>
              <a:t>A clear</a:t>
            </a:r>
            <a:endParaRPr sz="1600"/>
          </a:p>
          <a:p xmlns:a="http://schemas.openxmlformats.org/drawingml/2006/main">
            <a:pPr marL="0" indent="0" algn="ctr">
              <a:buNone/>
            </a:pPr>
            <a:r>
              <a:rPr sz="1725" b="1">
                <a:solidFill>
                  <a:srgbClr val="172033"/>
                </a:solidFill>
              </a:rPr>
              <a:t>profile</a:t>
            </a:r>
            <a:endParaRPr sz="1600"/>
          </a:p>
        </p:txBody>
      </p:sp>
      <p:sp>
        <p:nvSpPr>
          <p:cNvPr id="11" name="Text 9">
            <a:extLst xmlns:a="http://schemas.openxmlformats.org/drawingml/2006/main">
              <a:ext uri="{FF2B5EF4-FFF2-40B4-BE49-F238E27FC236}">
                <a16:creationId xmlns:a16="http://schemas.microsoft.com/office/drawing/2014/main" id="{57917B47-5742-4F61-B09A-0E4F6CD258C7}"/>
              </a:ext>
            </a:extLst>
          </p:cNvPr>
          <p:cNvSpPr>
            <a:spLocks xmlns:a="http://schemas.openxmlformats.org/drawingml/2006/main" noGrp="1"/>
          </p:cNvSpPr>
          <p:nvPr/>
        </p:nvSpPr>
        <p:spPr>
          <a:xfrm xmlns:a="http://schemas.openxmlformats.org/drawingml/2006/main">
            <a:off x="694944" y="3831336"/>
            <a:ext cx="1563624" cy="859536"/>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Did the family recognize and correct the summary?</a:t>
            </a:r>
            <a:endParaRPr sz="1000"/>
          </a:p>
        </p:txBody>
      </p:sp>
      <p:sp>
        <p:nvSpPr>
          <p:cNvPr id="12" name="Shape 10">
            <a:extLst xmlns:a="http://schemas.openxmlformats.org/drawingml/2006/main">
              <a:ext uri="{FF2B5EF4-FFF2-40B4-BE49-F238E27FC236}">
                <a16:creationId xmlns:a16="http://schemas.microsoft.com/office/drawing/2014/main" id="{8F47B5B8-888E-4486-9EF3-46737E108CF2}"/>
              </a:ext>
            </a:extLst>
          </p:cNvPr>
          <p:cNvSpPr>
            <a:spLocks xmlns:a="http://schemas.openxmlformats.org/drawingml/2006/main" noGrp="1"/>
          </p:cNvSpPr>
          <p:nvPr/>
        </p:nvSpPr>
        <p:spPr>
          <a:xfrm xmlns:a="http://schemas.openxmlformats.org/drawingml/2006/main">
            <a:off x="2496312" y="2880360"/>
            <a:ext cx="1819656" cy="2048256"/>
          </a:xfrm>
          <a:prstGeom xmlns:a="http://schemas.openxmlformats.org/drawingml/2006/main" prst="roundRect">
            <a:avLst/>
          </a:prstGeom>
          <a:solidFill xmlns:a="http://schemas.openxmlformats.org/drawingml/2006/main">
            <a:srgbClr val="F7E7E2"/>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23EC8802-A702-4545-859D-1538768F018D}"/>
              </a:ext>
            </a:extLst>
          </p:cNvPr>
          <p:cNvSpPr>
            <a:spLocks xmlns:a="http://schemas.openxmlformats.org/drawingml/2006/main" noGrp="1"/>
          </p:cNvSpPr>
          <p:nvPr/>
        </p:nvSpPr>
        <p:spPr>
          <a:xfrm xmlns:a="http://schemas.openxmlformats.org/drawingml/2006/main">
            <a:off x="2587752" y="3044952"/>
            <a:ext cx="1636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57C00"/>
                </a:solidFill>
              </a:rPr>
              <a:t>AGREE</a:t>
            </a:r>
            <a:endParaRPr sz="1100"/>
          </a:p>
        </p:txBody>
      </p:sp>
      <p:sp>
        <p:nvSpPr>
          <p:cNvPr id="14" name="Text 12">
            <a:extLst xmlns:a="http://schemas.openxmlformats.org/drawingml/2006/main">
              <a:ext uri="{FF2B5EF4-FFF2-40B4-BE49-F238E27FC236}">
                <a16:creationId xmlns:a16="http://schemas.microsoft.com/office/drawing/2014/main" id="{4118F297-661E-4CA6-A3FC-29A354BF5767}"/>
              </a:ext>
            </a:extLst>
          </p:cNvPr>
          <p:cNvSpPr>
            <a:spLocks xmlns:a="http://schemas.openxmlformats.org/drawingml/2006/main" noGrp="1"/>
          </p:cNvSpPr>
          <p:nvPr/>
        </p:nvSpPr>
        <p:spPr>
          <a:xfrm xmlns:a="http://schemas.openxmlformats.org/drawingml/2006/main">
            <a:off x="2615184" y="3355848"/>
            <a:ext cx="15819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725"/>
            </a:defPPr>
            <a:lvl1pPr>
              <a:defRPr sz="1725"/>
            </a:lvl1pPr>
            <a:lvl2pPr>
              <a:defRPr sz="1725"/>
            </a:lvl2pPr>
            <a:lvl3pPr>
              <a:defRPr sz="1725"/>
            </a:lvl3pPr>
            <a:lvl4pPr>
              <a:defRPr sz="1725"/>
            </a:lvl4pPr>
            <a:lvl5pPr>
              <a:defRPr sz="1725"/>
            </a:lvl5pPr>
            <a:lvl6pPr>
              <a:defRPr sz="1725"/>
            </a:lvl6pPr>
            <a:lvl7pPr>
              <a:defRPr sz="1725"/>
            </a:lvl7pPr>
            <a:lvl8pPr>
              <a:defRPr sz="1725"/>
            </a:lvl8pPr>
            <a:lvl9pPr>
              <a:defRPr sz="1725"/>
            </a:lvl9pPr>
          </a:lstStyle>
          <a:p xmlns:a="http://schemas.openxmlformats.org/drawingml/2006/main">
            <a:pPr marL="0" indent="0" algn="ctr">
              <a:buNone/>
            </a:pPr>
            <a:r>
              <a:rPr sz="1725" b="1">
                <a:solidFill>
                  <a:srgbClr val="172033"/>
                </a:solidFill>
              </a:rPr>
              <a:t>A shared</a:t>
            </a:r>
            <a:endParaRPr sz="1600"/>
          </a:p>
          <a:p xmlns:a="http://schemas.openxmlformats.org/drawingml/2006/main">
            <a:pPr marL="0" indent="0" algn="ctr">
              <a:buNone/>
            </a:pPr>
            <a:r>
              <a:rPr sz="1725" b="1">
                <a:solidFill>
                  <a:srgbClr val="172033"/>
                </a:solidFill>
              </a:rPr>
              <a:t>agreement</a:t>
            </a:r>
            <a:endParaRPr sz="1600"/>
          </a:p>
        </p:txBody>
      </p:sp>
      <p:sp>
        <p:nvSpPr>
          <p:cNvPr id="15" name="Text 13">
            <a:extLst xmlns:a="http://schemas.openxmlformats.org/drawingml/2006/main">
              <a:ext uri="{FF2B5EF4-FFF2-40B4-BE49-F238E27FC236}">
                <a16:creationId xmlns:a16="http://schemas.microsoft.com/office/drawing/2014/main" id="{E75AFECA-B607-4120-A326-101DB1A03E87}"/>
              </a:ext>
            </a:extLst>
          </p:cNvPr>
          <p:cNvSpPr>
            <a:spLocks xmlns:a="http://schemas.openxmlformats.org/drawingml/2006/main" noGrp="1"/>
          </p:cNvSpPr>
          <p:nvPr/>
        </p:nvSpPr>
        <p:spPr>
          <a:xfrm xmlns:a="http://schemas.openxmlformats.org/drawingml/2006/main">
            <a:off x="2624328" y="3831336"/>
            <a:ext cx="1563624" cy="859536"/>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Did both parent and child accept a commitment?</a:t>
            </a:r>
            <a:endParaRPr sz="1000"/>
          </a:p>
        </p:txBody>
      </p:sp>
      <p:sp>
        <p:nvSpPr>
          <p:cNvPr id="16" name="Shape 14">
            <a:extLst xmlns:a="http://schemas.openxmlformats.org/drawingml/2006/main">
              <a:ext uri="{FF2B5EF4-FFF2-40B4-BE49-F238E27FC236}">
                <a16:creationId xmlns:a16="http://schemas.microsoft.com/office/drawing/2014/main" id="{8927BF6B-FD63-44F1-95A8-CE9473CC92AA}"/>
              </a:ext>
            </a:extLst>
          </p:cNvPr>
          <p:cNvSpPr>
            <a:spLocks xmlns:a="http://schemas.openxmlformats.org/drawingml/2006/main" noGrp="1"/>
          </p:cNvSpPr>
          <p:nvPr/>
        </p:nvSpPr>
        <p:spPr>
          <a:xfrm xmlns:a="http://schemas.openxmlformats.org/drawingml/2006/main">
            <a:off x="4425696" y="2880360"/>
            <a:ext cx="1819656" cy="2048256"/>
          </a:xfrm>
          <a:prstGeom xmlns:a="http://schemas.openxmlformats.org/drawingml/2006/main" prst="roundRect">
            <a:avLst/>
          </a:prstGeom>
          <a:solidFill xmlns:a="http://schemas.openxmlformats.org/drawingml/2006/main">
            <a:srgbClr val="FFF0DC"/>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4F6E6BB-A106-47A3-AE56-952CC9322821}"/>
              </a:ext>
            </a:extLst>
          </p:cNvPr>
          <p:cNvSpPr>
            <a:spLocks xmlns:a="http://schemas.openxmlformats.org/drawingml/2006/main" noGrp="1"/>
          </p:cNvSpPr>
          <p:nvPr/>
        </p:nvSpPr>
        <p:spPr>
          <a:xfrm xmlns:a="http://schemas.openxmlformats.org/drawingml/2006/main">
            <a:off x="4517136" y="3044952"/>
            <a:ext cx="1636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57C00"/>
                </a:solidFill>
              </a:rPr>
              <a:t>CHOOSE</a:t>
            </a:r>
            <a:endParaRPr sz="1100"/>
          </a:p>
        </p:txBody>
      </p:sp>
      <p:sp>
        <p:nvSpPr>
          <p:cNvPr id="18" name="Text 16">
            <a:extLst xmlns:a="http://schemas.openxmlformats.org/drawingml/2006/main">
              <a:ext uri="{FF2B5EF4-FFF2-40B4-BE49-F238E27FC236}">
                <a16:creationId xmlns:a16="http://schemas.microsoft.com/office/drawing/2014/main" id="{A8103ADC-9DBB-488E-8928-62F01F10E415}"/>
              </a:ext>
            </a:extLst>
          </p:cNvPr>
          <p:cNvSpPr>
            <a:spLocks xmlns:a="http://schemas.openxmlformats.org/drawingml/2006/main" noGrp="1"/>
          </p:cNvSpPr>
          <p:nvPr/>
        </p:nvSpPr>
        <p:spPr>
          <a:xfrm xmlns:a="http://schemas.openxmlformats.org/drawingml/2006/main">
            <a:off x="4544568" y="3355848"/>
            <a:ext cx="15819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725"/>
            </a:defPPr>
            <a:lvl1pPr>
              <a:defRPr sz="1725"/>
            </a:lvl1pPr>
            <a:lvl2pPr>
              <a:defRPr sz="1725"/>
            </a:lvl2pPr>
            <a:lvl3pPr>
              <a:defRPr sz="1725"/>
            </a:lvl3pPr>
            <a:lvl4pPr>
              <a:defRPr sz="1725"/>
            </a:lvl4pPr>
            <a:lvl5pPr>
              <a:defRPr sz="1725"/>
            </a:lvl5pPr>
            <a:lvl6pPr>
              <a:defRPr sz="1725"/>
            </a:lvl6pPr>
            <a:lvl7pPr>
              <a:defRPr sz="1725"/>
            </a:lvl7pPr>
            <a:lvl8pPr>
              <a:defRPr sz="1725"/>
            </a:lvl8pPr>
            <a:lvl9pPr>
              <a:defRPr sz="1725"/>
            </a:lvl9pPr>
          </a:lstStyle>
          <a:p xmlns:a="http://schemas.openxmlformats.org/drawingml/2006/main">
            <a:pPr marL="0" indent="0" algn="ctr">
              <a:buNone/>
            </a:pPr>
            <a:r>
              <a:rPr sz="1725" b="1">
                <a:solidFill>
                  <a:srgbClr val="172033"/>
                </a:solidFill>
              </a:rPr>
              <a:t>An explained</a:t>
            </a:r>
            <a:endParaRPr sz="1600"/>
          </a:p>
          <a:p xmlns:a="http://schemas.openxmlformats.org/drawingml/2006/main">
            <a:pPr marL="0" indent="0" algn="ctr">
              <a:buNone/>
            </a:pPr>
            <a:r>
              <a:rPr sz="1725" b="1">
                <a:solidFill>
                  <a:srgbClr val="172033"/>
                </a:solidFill>
              </a:rPr>
              <a:t>choice</a:t>
            </a:r>
            <a:endParaRPr sz="1600"/>
          </a:p>
        </p:txBody>
      </p:sp>
      <p:sp>
        <p:nvSpPr>
          <p:cNvPr id="19" name="Text 17">
            <a:extLst xmlns:a="http://schemas.openxmlformats.org/drawingml/2006/main">
              <a:ext uri="{FF2B5EF4-FFF2-40B4-BE49-F238E27FC236}">
                <a16:creationId xmlns:a16="http://schemas.microsoft.com/office/drawing/2014/main" id="{76389396-B637-48DC-B48D-0A0C1C06222A}"/>
              </a:ext>
            </a:extLst>
          </p:cNvPr>
          <p:cNvSpPr>
            <a:spLocks xmlns:a="http://schemas.openxmlformats.org/drawingml/2006/main" noGrp="1"/>
          </p:cNvSpPr>
          <p:nvPr/>
        </p:nvSpPr>
        <p:spPr>
          <a:xfrm xmlns:a="http://schemas.openxmlformats.org/drawingml/2006/main">
            <a:off x="4553712" y="3831336"/>
            <a:ext cx="1563624" cy="859536"/>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Did they understand the evidence and uncertainty?</a:t>
            </a:r>
            <a:endParaRPr sz="1000"/>
          </a:p>
        </p:txBody>
      </p:sp>
      <p:sp>
        <p:nvSpPr>
          <p:cNvPr id="20" name="Shape 18">
            <a:extLst xmlns:a="http://schemas.openxmlformats.org/drawingml/2006/main">
              <a:ext uri="{FF2B5EF4-FFF2-40B4-BE49-F238E27FC236}">
                <a16:creationId xmlns:a16="http://schemas.microsoft.com/office/drawing/2014/main" id="{9AC134BF-1666-41B3-8398-4E1DE8910326}"/>
              </a:ext>
            </a:extLst>
          </p:cNvPr>
          <p:cNvSpPr>
            <a:spLocks xmlns:a="http://schemas.openxmlformats.org/drawingml/2006/main" noGrp="1"/>
          </p:cNvSpPr>
          <p:nvPr/>
        </p:nvSpPr>
        <p:spPr>
          <a:xfrm xmlns:a="http://schemas.openxmlformats.org/drawingml/2006/main">
            <a:off x="6355080" y="2880360"/>
            <a:ext cx="1819656" cy="2048256"/>
          </a:xfrm>
          <a:prstGeom xmlns:a="http://schemas.openxmlformats.org/drawingml/2006/main" prst="roundRect">
            <a:avLst/>
          </a:prstGeom>
          <a:solidFill xmlns:a="http://schemas.openxmlformats.org/drawingml/2006/main">
            <a:srgbClr val="F8E9E5"/>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07F7CCA0-C660-48B0-A7EC-DFAEF81F9051}"/>
              </a:ext>
            </a:extLst>
          </p:cNvPr>
          <p:cNvSpPr>
            <a:spLocks xmlns:a="http://schemas.openxmlformats.org/drawingml/2006/main" noGrp="1"/>
          </p:cNvSpPr>
          <p:nvPr/>
        </p:nvSpPr>
        <p:spPr>
          <a:xfrm xmlns:a="http://schemas.openxmlformats.org/drawingml/2006/main">
            <a:off x="6446520" y="3044952"/>
            <a:ext cx="1636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57C00"/>
                </a:solidFill>
              </a:rPr>
              <a:t>CHANGE</a:t>
            </a:r>
            <a:endParaRPr sz="1100"/>
          </a:p>
        </p:txBody>
      </p:sp>
      <p:sp>
        <p:nvSpPr>
          <p:cNvPr id="22" name="Text 20">
            <a:extLst xmlns:a="http://schemas.openxmlformats.org/drawingml/2006/main">
              <a:ext uri="{FF2B5EF4-FFF2-40B4-BE49-F238E27FC236}">
                <a16:creationId xmlns:a16="http://schemas.microsoft.com/office/drawing/2014/main" id="{83FCD1D6-2A39-4543-8EB3-EE958B5DA6DC}"/>
              </a:ext>
            </a:extLst>
          </p:cNvPr>
          <p:cNvSpPr>
            <a:spLocks xmlns:a="http://schemas.openxmlformats.org/drawingml/2006/main" noGrp="1"/>
          </p:cNvSpPr>
          <p:nvPr/>
        </p:nvSpPr>
        <p:spPr>
          <a:xfrm xmlns:a="http://schemas.openxmlformats.org/drawingml/2006/main">
            <a:off x="6473952" y="3355848"/>
            <a:ext cx="15819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725"/>
            </a:defPPr>
            <a:lvl1pPr>
              <a:defRPr sz="1725"/>
            </a:lvl1pPr>
            <a:lvl2pPr>
              <a:defRPr sz="1725"/>
            </a:lvl2pPr>
            <a:lvl3pPr>
              <a:defRPr sz="1725"/>
            </a:lvl3pPr>
            <a:lvl4pPr>
              <a:defRPr sz="1725"/>
            </a:lvl4pPr>
            <a:lvl5pPr>
              <a:defRPr sz="1725"/>
            </a:lvl5pPr>
            <a:lvl6pPr>
              <a:defRPr sz="1725"/>
            </a:lvl6pPr>
            <a:lvl7pPr>
              <a:defRPr sz="1725"/>
            </a:lvl7pPr>
            <a:lvl8pPr>
              <a:defRPr sz="1725"/>
            </a:lvl8pPr>
            <a:lvl9pPr>
              <a:defRPr sz="1725"/>
            </a:lvl9pPr>
          </a:lstStyle>
          <a:p xmlns:a="http://schemas.openxmlformats.org/drawingml/2006/main">
            <a:pPr marL="0" indent="0" algn="ctr">
              <a:buNone/>
            </a:pPr>
            <a:r>
              <a:rPr sz="1725" b="1">
                <a:solidFill>
                  <a:srgbClr val="172033"/>
                </a:solidFill>
              </a:rPr>
              <a:t>A realistic</a:t>
            </a:r>
            <a:endParaRPr sz="1600"/>
          </a:p>
          <a:p xmlns:a="http://schemas.openxmlformats.org/drawingml/2006/main">
            <a:pPr marL="0" indent="0" algn="ctr">
              <a:buNone/>
            </a:pPr>
            <a:r>
              <a:rPr sz="1725" b="1">
                <a:solidFill>
                  <a:srgbClr val="172033"/>
                </a:solidFill>
              </a:rPr>
              <a:t>experiment</a:t>
            </a:r>
            <a:endParaRPr sz="1600"/>
          </a:p>
        </p:txBody>
      </p:sp>
      <p:sp>
        <p:nvSpPr>
          <p:cNvPr id="23" name="Text 21">
            <a:extLst xmlns:a="http://schemas.openxmlformats.org/drawingml/2006/main">
              <a:ext uri="{FF2B5EF4-FFF2-40B4-BE49-F238E27FC236}">
                <a16:creationId xmlns:a16="http://schemas.microsoft.com/office/drawing/2014/main" id="{3126F331-3811-4281-A402-6BB401511460}"/>
              </a:ext>
            </a:extLst>
          </p:cNvPr>
          <p:cNvSpPr>
            <a:spLocks xmlns:a="http://schemas.openxmlformats.org/drawingml/2006/main" noGrp="1"/>
          </p:cNvSpPr>
          <p:nvPr/>
        </p:nvSpPr>
        <p:spPr>
          <a:xfrm xmlns:a="http://schemas.openxmlformats.org/drawingml/2006/main">
            <a:off x="6483096" y="3831336"/>
            <a:ext cx="1563624" cy="859536"/>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Was the change manageable and worth repeating?</a:t>
            </a:r>
            <a:endParaRPr sz="1000"/>
          </a:p>
        </p:txBody>
      </p:sp>
      <p:sp>
        <p:nvSpPr>
          <p:cNvPr id="24" name="Shape 22">
            <a:extLst xmlns:a="http://schemas.openxmlformats.org/drawingml/2006/main">
              <a:ext uri="{FF2B5EF4-FFF2-40B4-BE49-F238E27FC236}">
                <a16:creationId xmlns:a16="http://schemas.microsoft.com/office/drawing/2014/main" id="{02D5D6EC-76E3-41CB-90AD-778DDD24D923}"/>
              </a:ext>
            </a:extLst>
          </p:cNvPr>
          <p:cNvSpPr>
            <a:spLocks xmlns:a="http://schemas.openxmlformats.org/drawingml/2006/main" noGrp="1"/>
          </p:cNvSpPr>
          <p:nvPr/>
        </p:nvSpPr>
        <p:spPr>
          <a:xfrm xmlns:a="http://schemas.openxmlformats.org/drawingml/2006/main">
            <a:off x="8284464" y="2880360"/>
            <a:ext cx="1819656" cy="2048256"/>
          </a:xfrm>
          <a:prstGeom xmlns:a="http://schemas.openxmlformats.org/drawingml/2006/main" prst="roundRect">
            <a:avLst/>
          </a:prstGeom>
          <a:solidFill xmlns:a="http://schemas.openxmlformats.org/drawingml/2006/main">
            <a:srgbClr val="E5F2E9"/>
          </a:solidFill>
          <a:ln xmlns:a="http://schemas.openxmlformats.org/drawingml/2006/main" w="76200">
            <a:solidFill>
              <a:schemeClr val="accent2"/>
            </a:solidFill>
            <a:prstDash val="solid"/>
          </a:ln>
        </p:spPr>
        <p:txBody>
          <a:bodyPr xmlns:a="http://schemas.openxmlformats.org/drawingml/2006/main"/>
          <a:lstStyle xmlns:a="http://schemas.openxmlformats.org/drawingml/2006/main"/>
          <a:p xmlns:a="http://schemas.openxmlformats.org/drawingml/2006/main">
            <a:endParaRPr>
              <a:solidFill>
                <a:schemeClr val="accent2"/>
              </a:solidFill>
            </a:endParaRPr>
          </a:p>
        </p:txBody>
      </p:sp>
      <p:sp>
        <p:nvSpPr>
          <p:cNvPr id="25" name="Text 23">
            <a:extLst xmlns:a="http://schemas.openxmlformats.org/drawingml/2006/main">
              <a:ext uri="{FF2B5EF4-FFF2-40B4-BE49-F238E27FC236}">
                <a16:creationId xmlns:a16="http://schemas.microsoft.com/office/drawing/2014/main" id="{761CFC8C-EA10-4F08-9F1B-3F6A025B9C60}"/>
              </a:ext>
            </a:extLst>
          </p:cNvPr>
          <p:cNvSpPr>
            <a:spLocks xmlns:a="http://schemas.openxmlformats.org/drawingml/2006/main" noGrp="1"/>
          </p:cNvSpPr>
          <p:nvPr/>
        </p:nvSpPr>
        <p:spPr>
          <a:xfrm xmlns:a="http://schemas.openxmlformats.org/drawingml/2006/main">
            <a:off x="8375904" y="3044952"/>
            <a:ext cx="1636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57C00"/>
                </a:solidFill>
              </a:rPr>
              <a:t>LIVE</a:t>
            </a:r>
            <a:endParaRPr sz="1100"/>
          </a:p>
        </p:txBody>
      </p:sp>
      <p:sp>
        <p:nvSpPr>
          <p:cNvPr id="26" name="Text 24">
            <a:extLst xmlns:a="http://schemas.openxmlformats.org/drawingml/2006/main">
              <a:ext uri="{FF2B5EF4-FFF2-40B4-BE49-F238E27FC236}">
                <a16:creationId xmlns:a16="http://schemas.microsoft.com/office/drawing/2014/main" id="{407498D0-EC75-413B-A70E-0B496CE889E2}"/>
              </a:ext>
            </a:extLst>
          </p:cNvPr>
          <p:cNvSpPr>
            <a:spLocks xmlns:a="http://schemas.openxmlformats.org/drawingml/2006/main" noGrp="1"/>
          </p:cNvSpPr>
          <p:nvPr/>
        </p:nvSpPr>
        <p:spPr>
          <a:xfrm xmlns:a="http://schemas.openxmlformats.org/drawingml/2006/main">
            <a:off x="8403336" y="3355848"/>
            <a:ext cx="15819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725"/>
            </a:defPPr>
            <a:lvl1pPr>
              <a:defRPr sz="1725"/>
            </a:lvl1pPr>
            <a:lvl2pPr>
              <a:defRPr sz="1725"/>
            </a:lvl2pPr>
            <a:lvl3pPr>
              <a:defRPr sz="1725"/>
            </a:lvl3pPr>
            <a:lvl4pPr>
              <a:defRPr sz="1725"/>
            </a:lvl4pPr>
            <a:lvl5pPr>
              <a:defRPr sz="1725"/>
            </a:lvl5pPr>
            <a:lvl6pPr>
              <a:defRPr sz="1725"/>
            </a:lvl6pPr>
            <a:lvl7pPr>
              <a:defRPr sz="1725"/>
            </a:lvl7pPr>
            <a:lvl8pPr>
              <a:defRPr sz="1725"/>
            </a:lvl8pPr>
            <a:lvl9pPr>
              <a:defRPr sz="1725"/>
            </a:lvl9pPr>
          </a:lstStyle>
          <a:p xmlns:a="http://schemas.openxmlformats.org/drawingml/2006/main">
            <a:pPr marL="0" indent="0" algn="ctr">
              <a:buNone/>
            </a:pPr>
            <a:r>
              <a:rPr sz="1725" b="1">
                <a:solidFill>
                  <a:srgbClr val="172033"/>
                </a:solidFill>
              </a:rPr>
              <a:t>An appealing</a:t>
            </a:r>
            <a:endParaRPr sz="1600"/>
          </a:p>
          <a:p xmlns:a="http://schemas.openxmlformats.org/drawingml/2006/main">
            <a:pPr marL="0" indent="0" algn="ctr">
              <a:buNone/>
            </a:pPr>
            <a:r>
              <a:rPr sz="1725" b="1">
                <a:solidFill>
                  <a:srgbClr val="172033"/>
                </a:solidFill>
              </a:rPr>
              <a:t>activity</a:t>
            </a:r>
            <a:endParaRPr sz="1600"/>
          </a:p>
        </p:txBody>
      </p:sp>
      <p:sp>
        <p:nvSpPr>
          <p:cNvPr id="27" name="Text 25">
            <a:extLst xmlns:a="http://schemas.openxmlformats.org/drawingml/2006/main">
              <a:ext uri="{FF2B5EF4-FFF2-40B4-BE49-F238E27FC236}">
                <a16:creationId xmlns:a16="http://schemas.microsoft.com/office/drawing/2014/main" id="{A2FDCE84-7523-481B-B362-568EE3D0AACA}"/>
              </a:ext>
            </a:extLst>
          </p:cNvPr>
          <p:cNvSpPr>
            <a:spLocks xmlns:a="http://schemas.openxmlformats.org/drawingml/2006/main" noGrp="1"/>
          </p:cNvSpPr>
          <p:nvPr/>
        </p:nvSpPr>
        <p:spPr>
          <a:xfrm xmlns:a="http://schemas.openxmlformats.org/drawingml/2006/main">
            <a:off x="8412480" y="3831336"/>
            <a:ext cx="1563624" cy="859536"/>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Did the family choose and try an activity?</a:t>
            </a:r>
            <a:endParaRPr sz="1000"/>
          </a:p>
        </p:txBody>
      </p:sp>
      <p:sp>
        <p:nvSpPr>
          <p:cNvPr id="28" name="Shape 26">
            <a:extLst xmlns:a="http://schemas.openxmlformats.org/drawingml/2006/main">
              <a:ext uri="{FF2B5EF4-FFF2-40B4-BE49-F238E27FC236}">
                <a16:creationId xmlns:a16="http://schemas.microsoft.com/office/drawing/2014/main" id="{09B94EB0-7007-4913-899A-964F1591FC77}"/>
              </a:ext>
            </a:extLst>
          </p:cNvPr>
          <p:cNvSpPr>
            <a:spLocks xmlns:a="http://schemas.openxmlformats.org/drawingml/2006/main" noGrp="1"/>
          </p:cNvSpPr>
          <p:nvPr/>
        </p:nvSpPr>
        <p:spPr>
          <a:xfrm xmlns:a="http://schemas.openxmlformats.org/drawingml/2006/main">
            <a:off x="10213848" y="2880360"/>
            <a:ext cx="1819656" cy="2048256"/>
          </a:xfrm>
          <a:prstGeom xmlns:a="http://schemas.openxmlformats.org/drawingml/2006/main" prst="roundRect">
            <a:avLst/>
          </a:prstGeom>
          <a:solidFill xmlns:a="http://schemas.openxmlformats.org/drawingml/2006/main">
            <a:srgbClr val="EDE8F7"/>
          </a:solidFill>
          <a:ln xmlns:a="http://schemas.openxmlformats.org/drawingml/2006/main" w="12700">
            <a:solidFill>
              <a:srgbClr val="D7CEC4"/>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C819190F-5DDE-4EF7-ACEE-6B7195E9EE2A}"/>
              </a:ext>
            </a:extLst>
          </p:cNvPr>
          <p:cNvSpPr>
            <a:spLocks xmlns:a="http://schemas.openxmlformats.org/drawingml/2006/main" noGrp="1"/>
          </p:cNvSpPr>
          <p:nvPr/>
        </p:nvSpPr>
        <p:spPr>
          <a:xfrm xmlns:a="http://schemas.openxmlformats.org/drawingml/2006/main">
            <a:off x="10305288" y="3044952"/>
            <a:ext cx="1636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57C00"/>
                </a:solidFill>
              </a:rPr>
              <a:t>GROW</a:t>
            </a:r>
            <a:endParaRPr sz="1100"/>
          </a:p>
        </p:txBody>
      </p:sp>
      <p:sp>
        <p:nvSpPr>
          <p:cNvPr id="30" name="Text 28">
            <a:extLst xmlns:a="http://schemas.openxmlformats.org/drawingml/2006/main">
              <a:ext uri="{FF2B5EF4-FFF2-40B4-BE49-F238E27FC236}">
                <a16:creationId xmlns:a16="http://schemas.microsoft.com/office/drawing/2014/main" id="{3F03032B-2108-4CD0-837A-09656F02C8B6}"/>
              </a:ext>
            </a:extLst>
          </p:cNvPr>
          <p:cNvSpPr>
            <a:spLocks xmlns:a="http://schemas.openxmlformats.org/drawingml/2006/main" noGrp="1"/>
          </p:cNvSpPr>
          <p:nvPr/>
        </p:nvSpPr>
        <p:spPr>
          <a:xfrm xmlns:a="http://schemas.openxmlformats.org/drawingml/2006/main">
            <a:off x="10332720" y="3355848"/>
            <a:ext cx="15819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725"/>
            </a:defPPr>
            <a:lvl1pPr>
              <a:defRPr sz="1725"/>
            </a:lvl1pPr>
            <a:lvl2pPr>
              <a:defRPr sz="1725"/>
            </a:lvl2pPr>
            <a:lvl3pPr>
              <a:defRPr sz="1725"/>
            </a:lvl3pPr>
            <a:lvl4pPr>
              <a:defRPr sz="1725"/>
            </a:lvl4pPr>
            <a:lvl5pPr>
              <a:defRPr sz="1725"/>
            </a:lvl5pPr>
            <a:lvl6pPr>
              <a:defRPr sz="1725"/>
            </a:lvl6pPr>
            <a:lvl7pPr>
              <a:defRPr sz="1725"/>
            </a:lvl7pPr>
            <a:lvl8pPr>
              <a:defRPr sz="1725"/>
            </a:lvl8pPr>
            <a:lvl9pPr>
              <a:defRPr sz="1725"/>
            </a:lvl9pPr>
          </a:lstStyle>
          <a:p xmlns:a="http://schemas.openxmlformats.org/drawingml/2006/main">
            <a:pPr marL="0" indent="0" algn="ctr">
              <a:buNone/>
            </a:pPr>
            <a:r>
              <a:rPr sz="1725" b="1">
                <a:solidFill>
                  <a:srgbClr val="172033"/>
                </a:solidFill>
              </a:rPr>
              <a:t>Practiced</a:t>
            </a:r>
            <a:endParaRPr sz="1600"/>
          </a:p>
          <a:p xmlns:a="http://schemas.openxmlformats.org/drawingml/2006/main">
            <a:pPr marL="0" indent="0" algn="ctr">
              <a:buNone/>
            </a:pPr>
            <a:r>
              <a:rPr sz="1725" b="1">
                <a:solidFill>
                  <a:srgbClr val="172033"/>
                </a:solidFill>
              </a:rPr>
              <a:t>judgment</a:t>
            </a:r>
            <a:endParaRPr sz="1600"/>
          </a:p>
        </p:txBody>
      </p:sp>
      <p:sp>
        <p:nvSpPr>
          <p:cNvPr id="31" name="Text 29">
            <a:extLst xmlns:a="http://schemas.openxmlformats.org/drawingml/2006/main">
              <a:ext uri="{FF2B5EF4-FFF2-40B4-BE49-F238E27FC236}">
                <a16:creationId xmlns:a16="http://schemas.microsoft.com/office/drawing/2014/main" id="{52C58446-06D5-4F54-83CB-3C15BAC14752}"/>
              </a:ext>
            </a:extLst>
          </p:cNvPr>
          <p:cNvSpPr>
            <a:spLocks xmlns:a="http://schemas.openxmlformats.org/drawingml/2006/main" noGrp="1"/>
          </p:cNvSpPr>
          <p:nvPr/>
        </p:nvSpPr>
        <p:spPr>
          <a:xfrm xmlns:a="http://schemas.openxmlformats.org/drawingml/2006/main">
            <a:off x="10341864" y="3831336"/>
            <a:ext cx="1563624" cy="859536"/>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a:solidFill>
                  <a:srgbClr val="6F7782"/>
                </a:solidFill>
              </a:rPr>
              <a:t>Could the child explain a decision independently?</a:t>
            </a:r>
            <a:endParaRPr sz="1000"/>
          </a:p>
        </p:txBody>
      </p:sp>
      <p:sp>
        <p:nvSpPr>
          <p:cNvPr id="32" name="Shape 30">
            <a:extLst xmlns:a="http://schemas.openxmlformats.org/drawingml/2006/main">
              <a:ext uri="{FF2B5EF4-FFF2-40B4-BE49-F238E27FC236}">
                <a16:creationId xmlns:a16="http://schemas.microsoft.com/office/drawing/2014/main" id="{660E079D-94B9-42D4-A622-3A2B673B8C0C}"/>
              </a:ext>
            </a:extLst>
          </p:cNvPr>
          <p:cNvSpPr>
            <a:spLocks xmlns:a="http://schemas.openxmlformats.org/drawingml/2006/main" noGrp="1"/>
          </p:cNvSpPr>
          <p:nvPr/>
        </p:nvSpPr>
        <p:spPr>
          <a:xfrm xmlns:a="http://schemas.openxmlformats.org/drawingml/2006/main">
            <a:off x="713232" y="5285232"/>
            <a:ext cx="5175504" cy="621792"/>
          </a:xfrm>
          <a:prstGeom xmlns:a="http://schemas.openxmlformats.org/drawingml/2006/main" prst="roundRect">
            <a:avLst/>
          </a:prstGeom>
          <a:solidFill xmlns:a="http://schemas.openxmlformats.org/drawingml/2006/main">
            <a:srgbClr val="EFF6F0"/>
          </a:solidFill>
          <a:ln xmlns:a="http://schemas.openxmlformats.org/drawingml/2006/main" w="12700">
            <a:solidFill>
              <a:srgbClr val="BBD8C3"/>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31">
            <a:extLst xmlns:a="http://schemas.openxmlformats.org/drawingml/2006/main">
              <a:ext uri="{FF2B5EF4-FFF2-40B4-BE49-F238E27FC236}">
                <a16:creationId xmlns:a16="http://schemas.microsoft.com/office/drawing/2014/main" id="{85E674A9-BDDD-4BF0-83D5-E67C564A5567}"/>
              </a:ext>
            </a:extLst>
          </p:cNvPr>
          <p:cNvSpPr>
            <a:spLocks xmlns:a="http://schemas.openxmlformats.org/drawingml/2006/main" noGrp="1"/>
          </p:cNvSpPr>
          <p:nvPr/>
        </p:nvSpPr>
        <p:spPr>
          <a:xfrm xmlns:a="http://schemas.openxmlformats.org/drawingml/2006/main">
            <a:off x="914400" y="5449824"/>
            <a:ext cx="1234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2D8A57"/>
                </a:solidFill>
              </a:rPr>
              <a:t>REVIEW &amp; LEARN</a:t>
            </a:r>
            <a:endParaRPr sz="1000"/>
          </a:p>
        </p:txBody>
      </p:sp>
      <p:sp>
        <p:nvSpPr>
          <p:cNvPr id="34" name="Text 32">
            <a:extLst xmlns:a="http://schemas.openxmlformats.org/drawingml/2006/main">
              <a:ext uri="{FF2B5EF4-FFF2-40B4-BE49-F238E27FC236}">
                <a16:creationId xmlns:a16="http://schemas.microsoft.com/office/drawing/2014/main" id="{C0F810D6-0B95-4995-929E-13AC30ECDF68}"/>
              </a:ext>
            </a:extLst>
          </p:cNvPr>
          <p:cNvSpPr>
            <a:spLocks xmlns:a="http://schemas.openxmlformats.org/drawingml/2006/main" noGrp="1"/>
          </p:cNvSpPr>
          <p:nvPr/>
        </p:nvSpPr>
        <p:spPr>
          <a:xfrm xmlns:a="http://schemas.openxmlformats.org/drawingml/2006/main">
            <a:off x="2212848" y="5413248"/>
            <a:ext cx="34015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b="1">
                <a:solidFill>
                  <a:srgbClr val="172033"/>
                </a:solidFill>
              </a:rPr>
              <a:t>Ask what worked. Keep only context the family approves.</a:t>
            </a:r>
            <a:endParaRPr sz="1050"/>
          </a:p>
        </p:txBody>
      </p:sp>
      <p:sp>
        <p:nvSpPr>
          <p:cNvPr id="35" name="Shape 33">
            <a:extLst xmlns:a="http://schemas.openxmlformats.org/drawingml/2006/main">
              <a:ext uri="{FF2B5EF4-FFF2-40B4-BE49-F238E27FC236}">
                <a16:creationId xmlns:a16="http://schemas.microsoft.com/office/drawing/2014/main" id="{DC1EFC9F-48C8-444F-A506-C6FA97C33D45}"/>
              </a:ext>
            </a:extLst>
          </p:cNvPr>
          <p:cNvSpPr>
            <a:spLocks xmlns:a="http://schemas.openxmlformats.org/drawingml/2006/main" noGrp="1"/>
          </p:cNvSpPr>
          <p:nvPr/>
        </p:nvSpPr>
        <p:spPr>
          <a:xfrm xmlns:a="http://schemas.openxmlformats.org/drawingml/2006/main">
            <a:off x="6126480" y="5285232"/>
            <a:ext cx="5175504" cy="621792"/>
          </a:xfrm>
          <a:prstGeom xmlns:a="http://schemas.openxmlformats.org/drawingml/2006/main" prst="roundRect">
            <a:avLst/>
          </a:prstGeom>
          <a:solidFill xmlns:a="http://schemas.openxmlformats.org/drawingml/2006/main">
            <a:srgbClr val="F7ECEA"/>
          </a:solidFill>
          <a:ln xmlns:a="http://schemas.openxmlformats.org/drawingml/2006/main" w="12700">
            <a:solidFill>
              <a:srgbClr val="E1B7B2"/>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B6768148-463C-4018-A517-8C43E63E87A0}"/>
              </a:ext>
            </a:extLst>
          </p:cNvPr>
          <p:cNvSpPr>
            <a:spLocks xmlns:a="http://schemas.openxmlformats.org/drawingml/2006/main" noGrp="1"/>
          </p:cNvSpPr>
          <p:nvPr/>
        </p:nvSpPr>
        <p:spPr>
          <a:xfrm xmlns:a="http://schemas.openxmlformats.org/drawingml/2006/main">
            <a:off x="6355080" y="5449824"/>
            <a:ext cx="14173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14B48"/>
                </a:solidFill>
              </a:rPr>
              <a:t>SAFETY ESCALATION</a:t>
            </a:r>
            <a:endParaRPr sz="1000"/>
          </a:p>
        </p:txBody>
      </p:sp>
      <p:sp>
        <p:nvSpPr>
          <p:cNvPr id="37" name="Text 35">
            <a:extLst xmlns:a="http://schemas.openxmlformats.org/drawingml/2006/main">
              <a:ext uri="{FF2B5EF4-FFF2-40B4-BE49-F238E27FC236}">
                <a16:creationId xmlns:a16="http://schemas.microsoft.com/office/drawing/2014/main" id="{6B507F51-CC72-48DB-82D6-9D9100FB7C21}"/>
              </a:ext>
            </a:extLst>
          </p:cNvPr>
          <p:cNvSpPr>
            <a:spLocks xmlns:a="http://schemas.openxmlformats.org/drawingml/2006/main" noGrp="1"/>
          </p:cNvSpPr>
          <p:nvPr/>
        </p:nvSpPr>
        <p:spPr>
          <a:xfrm xmlns:a="http://schemas.openxmlformats.org/drawingml/2006/main">
            <a:off x="7818120" y="5413248"/>
            <a:ext cx="3200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ctr">
              <a:buNone/>
            </a:pPr>
            <a:r>
              <a:rPr sz="1350" b="1">
                <a:solidFill>
                  <a:srgbClr val="172033"/>
                </a:solidFill>
              </a:rPr>
              <a:t>Use clear escalation rules and human support. No diagnosis.</a:t>
            </a:r>
            <a:endParaRPr sz="1050"/>
          </a:p>
        </p:txBody>
      </p:sp>
      <p:sp>
        <p:nvSpPr>
          <p:cNvPr id="38" name="Shape 36">
            <a:extLst xmlns:a="http://schemas.openxmlformats.org/drawingml/2006/main">
              <a:ext uri="{FF2B5EF4-FFF2-40B4-BE49-F238E27FC236}">
                <a16:creationId xmlns:a16="http://schemas.microsoft.com/office/drawing/2014/main" id="{0FBB4ECA-4380-4B59-ACAF-FF4A9BC14EA6}"/>
              </a:ext>
            </a:extLst>
          </p:cNvPr>
          <p:cNvSpPr>
            <a:spLocks xmlns:a="http://schemas.openxmlformats.org/drawingml/2006/main" noGrp="1"/>
          </p:cNvSpPr>
          <p:nvPr/>
        </p:nvSpPr>
        <p:spPr>
          <a:xfrm xmlns:a="http://schemas.openxmlformats.org/drawingml/2006/main">
            <a:off x="1847088" y="6144768"/>
            <a:ext cx="8503920" cy="365760"/>
          </a:xfrm>
          <a:prstGeom xmlns:a="http://schemas.openxmlformats.org/drawingml/2006/main" prst="roundRect">
            <a:avLst>
              <a:gd name="adj" fmla="val 20000"/>
            </a:avLst>
          </a:prstGeom>
          <a:solidFill xmlns:a="http://schemas.openxmlformats.org/drawingml/2006/main">
            <a:srgbClr val="F57C00"/>
          </a:solidFill>
          <a:ln xmlns:a="http://schemas.openxmlformats.org/drawingml/2006/main" w="12700">
            <a:solidFill>
              <a:srgbClr val="F57C00"/>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A2BDFF66-6817-4CC7-84FB-AD5FD754494F}"/>
              </a:ext>
            </a:extLst>
          </p:cNvPr>
          <p:cNvSpPr>
            <a:spLocks xmlns:a="http://schemas.openxmlformats.org/drawingml/2006/main" noGrp="1"/>
          </p:cNvSpPr>
          <p:nvPr/>
        </p:nvSpPr>
        <p:spPr>
          <a:xfrm xmlns:a="http://schemas.openxmlformats.org/drawingml/2006/main">
            <a:off x="1920240" y="6217920"/>
            <a:ext cx="835761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marL="0" indent="0" algn="ctr">
              <a:buNone/>
            </a:pPr>
            <a:r>
              <a:rPr sz="1650" b="1">
                <a:solidFill>
                  <a:srgbClr val="FFFFFF"/>
                </a:solidFill>
              </a:rPr>
              <a:t>Success means a useful real-world outcome for the family.</a:t>
            </a:r>
            <a:endParaRPr sz="1400"/>
          </a:p>
        </p:txBody>
      </p:sp>
      <p:sp>
        <p:nvSpPr>
          <p:cNvPr id="40" name="Slide Number Placeholder 0">
            <a:extLst xmlns:a="http://schemas.openxmlformats.org/drawingml/2006/main">
              <a:ext uri="{FF2B5EF4-FFF2-40B4-BE49-F238E27FC236}">
                <a16:creationId xmlns:a16="http://schemas.microsoft.com/office/drawing/2014/main" id="{47E9CDD8-6236-4E37-8FF2-80C48D833649}"/>
              </a:ext>
            </a:extLst>
          </p:cNvPr>
          <p:cNvSpPr>
            <a:spLocks xmlns:a="http://schemas.openxmlformats.org/drawingml/2006/main" noGrp="1"/>
          </p:cNvSpPr>
          <p:nvPr>
            <p:ph type="sldNum" idx="4294967295"/>
          </p:nvPr>
        </p:nvSpPr>
        <p:spPr>
          <a:xfrm xmlns:a="http://schemas.openxmlformats.org/drawingml/2006/main">
            <a:off x="11887200" y="201168"/>
            <a:ext cx="1905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A0A0A0"/>
                </a:solidFill>
              </a:defRPr>
            </a:lvl1pPr>
          </a:lstStyle>
          <a:p xmlns:a="http://schemas.openxmlformats.org/drawingml/2006/main">
            <a:pPr algn="l">
              <a:buNone/>
            </a:pPr>
            <a:fld id="{30394428-F1DC-E5F6-DB0C-7DE31F3D8A23}" type="slidenum">
              <a:rPr b="0"/>
              <a:t>11</a:t>
            </a:fld>
            <a:endParaRPr/>
          </a:p>
        </p:txBody>
      </p:sp>
    </p:spTree>
    <p:extLst>
      <p:ext uri="{BB962C8B-B14F-4D97-AF65-F5344CB8AC3E}">
        <p14:creationId xmlns:p14="http://schemas.microsoft.com/office/powerpoint/2010/main" val="4196959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4D60D7E6-AF9A-4D1E-8D7E-AD1233636398}"/>
              </a:ext>
            </a:extLst>
          </p:cNvPr>
          <p:cNvSpPr>
            <a:spLocks xmlns:a="http://schemas.openxmlformats.org/drawingml/2006/main" noGrp="1"/>
          </p:cNvSpPr>
          <p:nvPr/>
        </p:nvSpPr>
        <p:spPr>
          <a:xfrm xmlns:a="http://schemas.openxmlformats.org/drawingml/2006/main">
            <a:off x="504825" y="5334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1">
                <a:solidFill>
                  <a:srgbClr val="2F73B9"/>
                </a:solidFill>
                <a:latin typeface="Aptos"/>
                <a:ea typeface="Aptos"/>
                <a:cs typeface="Aptos"/>
              </a:defRPr>
            </a:defPPr>
            <a:lvl1pPr>
              <a:defRPr sz="1050" b="1">
                <a:solidFill>
                  <a:srgbClr val="2F73B9"/>
                </a:solidFill>
                <a:latin typeface="Aptos"/>
                <a:ea typeface="Aptos"/>
                <a:cs typeface="Aptos"/>
              </a:defRPr>
            </a:lvl1pPr>
            <a:lvl2pPr>
              <a:defRPr sz="1050" b="1">
                <a:solidFill>
                  <a:srgbClr val="2F73B9"/>
                </a:solidFill>
                <a:latin typeface="Aptos"/>
                <a:ea typeface="Aptos"/>
                <a:cs typeface="Aptos"/>
              </a:defRPr>
            </a:lvl2pPr>
            <a:lvl3pPr>
              <a:defRPr sz="1050" b="1">
                <a:solidFill>
                  <a:srgbClr val="2F73B9"/>
                </a:solidFill>
                <a:latin typeface="Aptos"/>
                <a:ea typeface="Aptos"/>
                <a:cs typeface="Aptos"/>
              </a:defRPr>
            </a:lvl3pPr>
            <a:lvl4pPr>
              <a:defRPr sz="1050" b="1">
                <a:solidFill>
                  <a:srgbClr val="2F73B9"/>
                </a:solidFill>
                <a:latin typeface="Aptos"/>
                <a:ea typeface="Aptos"/>
                <a:cs typeface="Aptos"/>
              </a:defRPr>
            </a:lvl4pPr>
            <a:lvl5pPr>
              <a:defRPr sz="1050" b="1">
                <a:solidFill>
                  <a:srgbClr val="2F73B9"/>
                </a:solidFill>
                <a:latin typeface="Aptos"/>
                <a:ea typeface="Aptos"/>
                <a:cs typeface="Aptos"/>
              </a:defRPr>
            </a:lvl5pPr>
            <a:lvl6pPr>
              <a:defRPr sz="1050" b="1">
                <a:solidFill>
                  <a:srgbClr val="2F73B9"/>
                </a:solidFill>
                <a:latin typeface="Aptos"/>
                <a:ea typeface="Aptos"/>
                <a:cs typeface="Aptos"/>
              </a:defRPr>
            </a:lvl6pPr>
            <a:lvl7pPr>
              <a:defRPr sz="1050" b="1">
                <a:solidFill>
                  <a:srgbClr val="2F73B9"/>
                </a:solidFill>
                <a:latin typeface="Aptos"/>
                <a:ea typeface="Aptos"/>
                <a:cs typeface="Aptos"/>
              </a:defRPr>
            </a:lvl7pPr>
            <a:lvl8pPr>
              <a:defRPr sz="1050" b="1">
                <a:solidFill>
                  <a:srgbClr val="2F73B9"/>
                </a:solidFill>
                <a:latin typeface="Aptos"/>
                <a:ea typeface="Aptos"/>
                <a:cs typeface="Aptos"/>
              </a:defRPr>
            </a:lvl8pPr>
            <a:lvl9pPr>
              <a:defRPr sz="1050" b="1">
                <a:solidFill>
                  <a:srgbClr val="2F73B9"/>
                </a:solidFill>
                <a:latin typeface="Aptos"/>
                <a:ea typeface="Aptos"/>
                <a:cs typeface="Aptos"/>
              </a:defRPr>
            </a:lvl9pPr>
          </a:lstStyle>
          <a:p xmlns:a="http://schemas.openxmlformats.org/drawingml/2006/main">
            <a:pPr>
              <a:defRPr sz="1050" b="1">
                <a:solidFill>
                  <a:srgbClr val="2F73B9"/>
                </a:solidFill>
                <a:latin typeface="Aptos"/>
                <a:ea typeface="Aptos"/>
                <a:cs typeface="Aptos"/>
              </a:defRPr>
            </a:pPr>
            <a:r>
              <a:rPr sz="1050" b="1">
                <a:solidFill>
                  <a:srgbClr val="2F73B9"/>
                </a:solidFill>
                <a:latin typeface="Aptos"/>
                <a:ea typeface="Aptos"/>
                <a:cs typeface="Aptos"/>
              </a:rPr>
              <a:t>AI PRACTICE 6 OF 6</a:t>
            </a:r>
          </a:p>
        </p:txBody>
      </p:sp>
      <p:sp>
        <p:nvSpPr>
          <p:cNvPr id="2" name="title">
            <a:extLst xmlns:a="http://schemas.openxmlformats.org/drawingml/2006/main">
              <a:ext uri="{FF2B5EF4-FFF2-40B4-BE49-F238E27FC236}">
                <a16:creationId xmlns:a16="http://schemas.microsoft.com/office/drawing/2014/main" id="{DCF1883A-762E-4810-962B-BD1232916DEA}"/>
              </a:ext>
            </a:extLst>
          </p:cNvPr>
          <p:cNvSpPr>
            <a:spLocks xmlns:a="http://schemas.openxmlformats.org/drawingml/2006/main" noGrp="1"/>
          </p:cNvSpPr>
          <p:nvPr/>
        </p:nvSpPr>
        <p:spPr>
          <a:xfrm xmlns:a="http://schemas.openxmlformats.org/drawingml/2006/main">
            <a:off x="504825" y="885825"/>
            <a:ext cx="11182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2033"/>
                </a:solidFill>
                <a:latin typeface="Aptos"/>
                <a:ea typeface="Aptos"/>
                <a:cs typeface="Aptos"/>
              </a:defRPr>
            </a:defPPr>
            <a:lvl1pPr>
              <a:defRPr sz="2850" b="1">
                <a:solidFill>
                  <a:srgbClr val="172033"/>
                </a:solidFill>
                <a:latin typeface="Aptos"/>
                <a:ea typeface="Aptos"/>
                <a:cs typeface="Aptos"/>
              </a:defRPr>
            </a:lvl1pPr>
            <a:lvl2pPr>
              <a:defRPr sz="2850" b="1">
                <a:solidFill>
                  <a:srgbClr val="172033"/>
                </a:solidFill>
                <a:latin typeface="Aptos"/>
                <a:ea typeface="Aptos"/>
                <a:cs typeface="Aptos"/>
              </a:defRPr>
            </a:lvl2pPr>
            <a:lvl3pPr>
              <a:defRPr sz="2850" b="1">
                <a:solidFill>
                  <a:srgbClr val="172033"/>
                </a:solidFill>
                <a:latin typeface="Aptos"/>
                <a:ea typeface="Aptos"/>
                <a:cs typeface="Aptos"/>
              </a:defRPr>
            </a:lvl3pPr>
            <a:lvl4pPr>
              <a:defRPr sz="2850" b="1">
                <a:solidFill>
                  <a:srgbClr val="172033"/>
                </a:solidFill>
                <a:latin typeface="Aptos"/>
                <a:ea typeface="Aptos"/>
                <a:cs typeface="Aptos"/>
              </a:defRPr>
            </a:lvl4pPr>
            <a:lvl5pPr>
              <a:defRPr sz="2850" b="1">
                <a:solidFill>
                  <a:srgbClr val="172033"/>
                </a:solidFill>
                <a:latin typeface="Aptos"/>
                <a:ea typeface="Aptos"/>
                <a:cs typeface="Aptos"/>
              </a:defRPr>
            </a:lvl5pPr>
            <a:lvl6pPr>
              <a:defRPr sz="2850" b="1">
                <a:solidFill>
                  <a:srgbClr val="172033"/>
                </a:solidFill>
                <a:latin typeface="Aptos"/>
                <a:ea typeface="Aptos"/>
                <a:cs typeface="Aptos"/>
              </a:defRPr>
            </a:lvl6pPr>
            <a:lvl7pPr>
              <a:defRPr sz="2850" b="1">
                <a:solidFill>
                  <a:srgbClr val="172033"/>
                </a:solidFill>
                <a:latin typeface="Aptos"/>
                <a:ea typeface="Aptos"/>
                <a:cs typeface="Aptos"/>
              </a:defRPr>
            </a:lvl7pPr>
            <a:lvl8pPr>
              <a:defRPr sz="2850" b="1">
                <a:solidFill>
                  <a:srgbClr val="172033"/>
                </a:solidFill>
                <a:latin typeface="Aptos"/>
                <a:ea typeface="Aptos"/>
                <a:cs typeface="Aptos"/>
              </a:defRPr>
            </a:lvl8pPr>
            <a:lvl9pPr>
              <a:defRPr sz="2850" b="1">
                <a:solidFill>
                  <a:srgbClr val="172033"/>
                </a:solidFill>
                <a:latin typeface="Aptos"/>
                <a:ea typeface="Aptos"/>
                <a:cs typeface="Aptos"/>
              </a:defRPr>
            </a:lvl9pPr>
          </a:lstStyle>
          <a:p xmlns:a="http://schemas.openxmlformats.org/drawingml/2006/main">
            <a:pPr>
              <a:defRPr sz="2850" b="1">
                <a:solidFill>
                  <a:srgbClr val="172033"/>
                </a:solidFill>
                <a:latin typeface="Aptos"/>
                <a:ea typeface="Aptos"/>
                <a:cs typeface="Aptos"/>
              </a:defRPr>
            </a:pPr>
            <a:r>
              <a:rPr sz="2850" b="1">
                <a:solidFill>
                  <a:srgbClr val="172033"/>
                </a:solidFill>
                <a:latin typeface="Aptos"/>
                <a:ea typeface="Aptos"/>
                <a:cs typeface="Aptos"/>
              </a:rPr>
              <a:t>Class exercise: a better Saturday</a:t>
            </a:r>
          </a:p>
        </p:txBody>
      </p:sp>
      <p:sp>
        <p:nvSpPr>
          <p:cNvPr id="3" name="subtitle">
            <a:extLst xmlns:a="http://schemas.openxmlformats.org/drawingml/2006/main">
              <a:ext uri="{FF2B5EF4-FFF2-40B4-BE49-F238E27FC236}">
                <a16:creationId xmlns:a16="http://schemas.microsoft.com/office/drawing/2014/main" id="{C9D4FE70-A47F-468E-82AC-38D65497ED4E}"/>
              </a:ext>
            </a:extLst>
          </p:cNvPr>
          <p:cNvSpPr>
            <a:spLocks xmlns:a="http://schemas.openxmlformats.org/drawingml/2006/main" noGrp="1"/>
          </p:cNvSpPr>
          <p:nvPr/>
        </p:nvSpPr>
        <p:spPr>
          <a:xfrm xmlns:a="http://schemas.openxmlformats.org/drawingml/2006/main">
            <a:off x="504825" y="1457325"/>
            <a:ext cx="11182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F7782"/>
                </a:solidFill>
                <a:latin typeface="Aptos"/>
                <a:ea typeface="Aptos"/>
                <a:cs typeface="Aptos"/>
              </a:defRPr>
            </a:defPPr>
            <a:lvl1pPr>
              <a:defRPr sz="1650" b="0">
                <a:solidFill>
                  <a:srgbClr val="6F7782"/>
                </a:solidFill>
                <a:latin typeface="Aptos"/>
                <a:ea typeface="Aptos"/>
                <a:cs typeface="Aptos"/>
              </a:defRPr>
            </a:lvl1pPr>
            <a:lvl2pPr>
              <a:defRPr sz="1650" b="0">
                <a:solidFill>
                  <a:srgbClr val="6F7782"/>
                </a:solidFill>
                <a:latin typeface="Aptos"/>
                <a:ea typeface="Aptos"/>
                <a:cs typeface="Aptos"/>
              </a:defRPr>
            </a:lvl2pPr>
            <a:lvl3pPr>
              <a:defRPr sz="1650" b="0">
                <a:solidFill>
                  <a:srgbClr val="6F7782"/>
                </a:solidFill>
                <a:latin typeface="Aptos"/>
                <a:ea typeface="Aptos"/>
                <a:cs typeface="Aptos"/>
              </a:defRPr>
            </a:lvl3pPr>
            <a:lvl4pPr>
              <a:defRPr sz="1650" b="0">
                <a:solidFill>
                  <a:srgbClr val="6F7782"/>
                </a:solidFill>
                <a:latin typeface="Aptos"/>
                <a:ea typeface="Aptos"/>
                <a:cs typeface="Aptos"/>
              </a:defRPr>
            </a:lvl4pPr>
            <a:lvl5pPr>
              <a:defRPr sz="1650" b="0">
                <a:solidFill>
                  <a:srgbClr val="6F7782"/>
                </a:solidFill>
                <a:latin typeface="Aptos"/>
                <a:ea typeface="Aptos"/>
                <a:cs typeface="Aptos"/>
              </a:defRPr>
            </a:lvl5pPr>
            <a:lvl6pPr>
              <a:defRPr sz="1650" b="0">
                <a:solidFill>
                  <a:srgbClr val="6F7782"/>
                </a:solidFill>
                <a:latin typeface="Aptos"/>
                <a:ea typeface="Aptos"/>
                <a:cs typeface="Aptos"/>
              </a:defRPr>
            </a:lvl6pPr>
            <a:lvl7pPr>
              <a:defRPr sz="1650" b="0">
                <a:solidFill>
                  <a:srgbClr val="6F7782"/>
                </a:solidFill>
                <a:latin typeface="Aptos"/>
                <a:ea typeface="Aptos"/>
                <a:cs typeface="Aptos"/>
              </a:defRPr>
            </a:lvl7pPr>
            <a:lvl8pPr>
              <a:defRPr sz="1650" b="0">
                <a:solidFill>
                  <a:srgbClr val="6F7782"/>
                </a:solidFill>
                <a:latin typeface="Aptos"/>
                <a:ea typeface="Aptos"/>
                <a:cs typeface="Aptos"/>
              </a:defRPr>
            </a:lvl8pPr>
            <a:lvl9pPr>
              <a:defRPr sz="1650" b="0">
                <a:solidFill>
                  <a:srgbClr val="6F7782"/>
                </a:solidFill>
                <a:latin typeface="Aptos"/>
                <a:ea typeface="Aptos"/>
                <a:cs typeface="Aptos"/>
              </a:defRPr>
            </a:lvl9pPr>
          </a:lstStyle>
          <a:p xmlns:a="http://schemas.openxmlformats.org/drawingml/2006/main">
            <a:pPr>
              <a:defRPr sz="1650" b="0">
                <a:solidFill>
                  <a:srgbClr val="6F7782"/>
                </a:solidFill>
                <a:latin typeface="Aptos"/>
                <a:ea typeface="Aptos"/>
                <a:cs typeface="Aptos"/>
              </a:defRPr>
            </a:pPr>
            <a:r>
              <a:rPr sz="1650" b="0">
                <a:solidFill>
                  <a:srgbClr val="6F7782"/>
                </a:solidFill>
                <a:latin typeface="Aptos"/>
                <a:ea typeface="Aptos"/>
                <a:cs typeface="Aptos"/>
              </a:rPr>
              <a:t>Use ChatGPT, Claude, or Gemini with fictional data. Compare a vague request with a grounded one.</a:t>
            </a:r>
          </a:p>
        </p:txBody>
      </p:sp>
      <p:sp>
        <p:nvSpPr>
          <p:cNvPr id="4" name="scenario-heading">
            <a:extLst xmlns:a="http://schemas.openxmlformats.org/drawingml/2006/main">
              <a:ext uri="{FF2B5EF4-FFF2-40B4-BE49-F238E27FC236}">
                <a16:creationId xmlns:a16="http://schemas.microsoft.com/office/drawing/2014/main" id="{65DAEB2A-82B6-4C87-9787-A42921458CC1}"/>
              </a:ext>
            </a:extLst>
          </p:cNvPr>
          <p:cNvSpPr>
            <a:spLocks xmlns:a="http://schemas.openxmlformats.org/drawingml/2006/main" noGrp="1"/>
          </p:cNvSpPr>
          <p:nvPr/>
        </p:nvSpPr>
        <p:spPr>
          <a:xfrm xmlns:a="http://schemas.openxmlformats.org/drawingml/2006/main">
            <a:off x="504825" y="21145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57C00"/>
                </a:solidFill>
                <a:latin typeface="Aptos"/>
                <a:ea typeface="Aptos"/>
                <a:cs typeface="Aptos"/>
              </a:defRPr>
            </a:defPPr>
            <a:lvl1pPr>
              <a:defRPr sz="2175" b="1">
                <a:solidFill>
                  <a:srgbClr val="F57C00"/>
                </a:solidFill>
                <a:latin typeface="Aptos"/>
                <a:ea typeface="Aptos"/>
                <a:cs typeface="Aptos"/>
              </a:defRPr>
            </a:lvl1pPr>
            <a:lvl2pPr>
              <a:defRPr sz="2175" b="1">
                <a:solidFill>
                  <a:srgbClr val="F57C00"/>
                </a:solidFill>
                <a:latin typeface="Aptos"/>
                <a:ea typeface="Aptos"/>
                <a:cs typeface="Aptos"/>
              </a:defRPr>
            </a:lvl2pPr>
            <a:lvl3pPr>
              <a:defRPr sz="2175" b="1">
                <a:solidFill>
                  <a:srgbClr val="F57C00"/>
                </a:solidFill>
                <a:latin typeface="Aptos"/>
                <a:ea typeface="Aptos"/>
                <a:cs typeface="Aptos"/>
              </a:defRPr>
            </a:lvl3pPr>
            <a:lvl4pPr>
              <a:defRPr sz="2175" b="1">
                <a:solidFill>
                  <a:srgbClr val="F57C00"/>
                </a:solidFill>
                <a:latin typeface="Aptos"/>
                <a:ea typeface="Aptos"/>
                <a:cs typeface="Aptos"/>
              </a:defRPr>
            </a:lvl4pPr>
            <a:lvl5pPr>
              <a:defRPr sz="2175" b="1">
                <a:solidFill>
                  <a:srgbClr val="F57C00"/>
                </a:solidFill>
                <a:latin typeface="Aptos"/>
                <a:ea typeface="Aptos"/>
                <a:cs typeface="Aptos"/>
              </a:defRPr>
            </a:lvl5pPr>
            <a:lvl6pPr>
              <a:defRPr sz="2175" b="1">
                <a:solidFill>
                  <a:srgbClr val="F57C00"/>
                </a:solidFill>
                <a:latin typeface="Aptos"/>
                <a:ea typeface="Aptos"/>
                <a:cs typeface="Aptos"/>
              </a:defRPr>
            </a:lvl6pPr>
            <a:lvl7pPr>
              <a:defRPr sz="2175" b="1">
                <a:solidFill>
                  <a:srgbClr val="F57C00"/>
                </a:solidFill>
                <a:latin typeface="Aptos"/>
                <a:ea typeface="Aptos"/>
                <a:cs typeface="Aptos"/>
              </a:defRPr>
            </a:lvl7pPr>
            <a:lvl8pPr>
              <a:defRPr sz="2175" b="1">
                <a:solidFill>
                  <a:srgbClr val="F57C00"/>
                </a:solidFill>
                <a:latin typeface="Aptos"/>
                <a:ea typeface="Aptos"/>
                <a:cs typeface="Aptos"/>
              </a:defRPr>
            </a:lvl8pPr>
            <a:lvl9pPr>
              <a:defRPr sz="2175" b="1">
                <a:solidFill>
                  <a:srgbClr val="F57C00"/>
                </a:solidFill>
                <a:latin typeface="Aptos"/>
                <a:ea typeface="Aptos"/>
                <a:cs typeface="Aptos"/>
              </a:defRPr>
            </a:lvl9pPr>
          </a:lstStyle>
          <a:p xmlns:a="http://schemas.openxmlformats.org/drawingml/2006/main">
            <a:pPr>
              <a:defRPr sz="2175" b="1">
                <a:solidFill>
                  <a:srgbClr val="F57C00"/>
                </a:solidFill>
                <a:latin typeface="Aptos"/>
                <a:ea typeface="Aptos"/>
                <a:cs typeface="Aptos"/>
              </a:defRPr>
            </a:pPr>
            <a:r>
              <a:rPr sz="2175" b="1">
                <a:solidFill>
                  <a:srgbClr val="F57C00"/>
                </a:solidFill>
                <a:latin typeface="Aptos"/>
                <a:ea typeface="Aptos"/>
                <a:cs typeface="Aptos"/>
              </a:rPr>
              <a:t>Fictional family</a:t>
            </a:r>
          </a:p>
        </p:txBody>
      </p:sp>
      <p:sp>
        <p:nvSpPr>
          <p:cNvPr id="5" name="scenario">
            <a:extLst xmlns:a="http://schemas.openxmlformats.org/drawingml/2006/main">
              <a:ext uri="{FF2B5EF4-FFF2-40B4-BE49-F238E27FC236}">
                <a16:creationId xmlns:a16="http://schemas.microsoft.com/office/drawing/2014/main" id="{B44884E3-9602-4D92-920A-10B3C3826B2F}"/>
              </a:ext>
            </a:extLst>
          </p:cNvPr>
          <p:cNvSpPr>
            <a:spLocks xmlns:a="http://schemas.openxmlformats.org/drawingml/2006/main" noGrp="1"/>
          </p:cNvSpPr>
          <p:nvPr/>
        </p:nvSpPr>
        <p:spPr>
          <a:xfrm xmlns:a="http://schemas.openxmlformats.org/drawingml/2006/main">
            <a:off x="504825" y="2647950"/>
            <a:ext cx="4857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2033"/>
                </a:solidFill>
                <a:latin typeface="Aptos"/>
                <a:ea typeface="Aptos"/>
                <a:cs typeface="Aptos"/>
              </a:defRPr>
            </a:defPPr>
            <a:lvl1pPr>
              <a:defRPr sz="2025" b="0">
                <a:solidFill>
                  <a:srgbClr val="172033"/>
                </a:solidFill>
                <a:latin typeface="Aptos"/>
                <a:ea typeface="Aptos"/>
                <a:cs typeface="Aptos"/>
              </a:defRPr>
            </a:lvl1pPr>
            <a:lvl2pPr>
              <a:defRPr sz="2025" b="0">
                <a:solidFill>
                  <a:srgbClr val="172033"/>
                </a:solidFill>
                <a:latin typeface="Aptos"/>
                <a:ea typeface="Aptos"/>
                <a:cs typeface="Aptos"/>
              </a:defRPr>
            </a:lvl2pPr>
            <a:lvl3pPr>
              <a:defRPr sz="2025" b="0">
                <a:solidFill>
                  <a:srgbClr val="172033"/>
                </a:solidFill>
                <a:latin typeface="Aptos"/>
                <a:ea typeface="Aptos"/>
                <a:cs typeface="Aptos"/>
              </a:defRPr>
            </a:lvl3pPr>
            <a:lvl4pPr>
              <a:defRPr sz="2025" b="0">
                <a:solidFill>
                  <a:srgbClr val="172033"/>
                </a:solidFill>
                <a:latin typeface="Aptos"/>
                <a:ea typeface="Aptos"/>
                <a:cs typeface="Aptos"/>
              </a:defRPr>
            </a:lvl4pPr>
            <a:lvl5pPr>
              <a:defRPr sz="2025" b="0">
                <a:solidFill>
                  <a:srgbClr val="172033"/>
                </a:solidFill>
                <a:latin typeface="Aptos"/>
                <a:ea typeface="Aptos"/>
                <a:cs typeface="Aptos"/>
              </a:defRPr>
            </a:lvl5pPr>
            <a:lvl6pPr>
              <a:defRPr sz="2025" b="0">
                <a:solidFill>
                  <a:srgbClr val="172033"/>
                </a:solidFill>
                <a:latin typeface="Aptos"/>
                <a:ea typeface="Aptos"/>
                <a:cs typeface="Aptos"/>
              </a:defRPr>
            </a:lvl6pPr>
            <a:lvl7pPr>
              <a:defRPr sz="2025" b="0">
                <a:solidFill>
                  <a:srgbClr val="172033"/>
                </a:solidFill>
                <a:latin typeface="Aptos"/>
                <a:ea typeface="Aptos"/>
                <a:cs typeface="Aptos"/>
              </a:defRPr>
            </a:lvl7pPr>
            <a:lvl8pPr>
              <a:defRPr sz="2025" b="0">
                <a:solidFill>
                  <a:srgbClr val="172033"/>
                </a:solidFill>
                <a:latin typeface="Aptos"/>
                <a:ea typeface="Aptos"/>
                <a:cs typeface="Aptos"/>
              </a:defRPr>
            </a:lvl8pPr>
            <a:lvl9pPr>
              <a:defRPr sz="2025" b="0">
                <a:solidFill>
                  <a:srgbClr val="172033"/>
                </a:solidFill>
                <a:latin typeface="Aptos"/>
                <a:ea typeface="Aptos"/>
                <a:cs typeface="Aptos"/>
              </a:defRPr>
            </a:lvl9pPr>
          </a:lstStyle>
          <a:p xmlns:a="http://schemas.openxmlformats.org/drawingml/2006/main">
            <a:pPr>
              <a:defRPr sz="2025" b="0">
                <a:solidFill>
                  <a:srgbClr val="172033"/>
                </a:solidFill>
                <a:latin typeface="Aptos"/>
                <a:ea typeface="Aptos"/>
                <a:cs typeface="Aptos"/>
              </a:defRPr>
            </a:pPr>
            <a:r>
              <a:rPr sz="2025" b="0">
                <a:solidFill>
                  <a:srgbClr val="172033"/>
                </a:solidFill>
                <a:latin typeface="Aptos"/>
                <a:ea typeface="Aptos"/>
                <a:cs typeface="Aptos"/>
              </a:rPr>
              <a:t>Age 12, Santa Clara</a:t>
            </a:r>
          </a:p>
          <a:p xmlns:a="http://schemas.openxmlformats.org/drawingml/2006/main">
            <a:pPr>
              <a:defRPr sz="2025" b="0">
                <a:solidFill>
                  <a:srgbClr val="172033"/>
                </a:solidFill>
                <a:latin typeface="Aptos"/>
                <a:ea typeface="Aptos"/>
                <a:cs typeface="Aptos"/>
              </a:defRPr>
            </a:pPr>
            <a:r>
              <a:rPr sz="2025" b="0">
                <a:solidFill>
                  <a:srgbClr val="172033"/>
                </a:solidFill>
                <a:latin typeface="Aptos"/>
                <a:ea typeface="Aptos"/>
                <a:cs typeface="Aptos"/>
              </a:rPr>
              <a:t>Likes drawing and soccer</a:t>
            </a:r>
          </a:p>
          <a:p xmlns:a="http://schemas.openxmlformats.org/drawingml/2006/main">
            <a:pPr>
              <a:defRPr sz="2025" b="0">
                <a:solidFill>
                  <a:srgbClr val="172033"/>
                </a:solidFill>
                <a:latin typeface="Aptos"/>
                <a:ea typeface="Aptos"/>
                <a:cs typeface="Aptos"/>
              </a:defRPr>
            </a:pPr>
            <a:r>
              <a:rPr sz="2025" b="0">
                <a:solidFill>
                  <a:srgbClr val="172033"/>
                </a:solidFill>
                <a:latin typeface="Aptos"/>
                <a:ea typeface="Aptos"/>
                <a:cs typeface="Aptos"/>
              </a:rPr>
              <a:t>Saturday, 2–4 p.m.</a:t>
            </a:r>
          </a:p>
          <a:p xmlns:a="http://schemas.openxmlformats.org/drawingml/2006/main">
            <a:pPr>
              <a:defRPr sz="2025" b="0">
                <a:solidFill>
                  <a:srgbClr val="172033"/>
                </a:solidFill>
                <a:latin typeface="Aptos"/>
                <a:ea typeface="Aptos"/>
                <a:cs typeface="Aptos"/>
              </a:defRPr>
            </a:pPr>
            <a:r>
              <a:rPr sz="2025" b="0">
                <a:solidFill>
                  <a:srgbClr val="172033"/>
                </a:solidFill>
                <a:latin typeface="Aptos"/>
                <a:ea typeface="Aptos"/>
                <a:cs typeface="Aptos"/>
              </a:rPr>
              <a:t>Budget: $20 per activity</a:t>
            </a:r>
          </a:p>
        </p:txBody>
      </p:sp>
      <p:sp>
        <p:nvSpPr>
          <p:cNvPr id="6" name="activity-heading">
            <a:extLst xmlns:a="http://schemas.openxmlformats.org/drawingml/2006/main">
              <a:ext uri="{FF2B5EF4-FFF2-40B4-BE49-F238E27FC236}">
                <a16:creationId xmlns:a16="http://schemas.microsoft.com/office/drawing/2014/main" id="{B4BEA348-FE81-46E5-9D10-DC8A905A9EC2}"/>
              </a:ext>
            </a:extLst>
          </p:cNvPr>
          <p:cNvSpPr>
            <a:spLocks xmlns:a="http://schemas.openxmlformats.org/drawingml/2006/main" noGrp="1"/>
          </p:cNvSpPr>
          <p:nvPr/>
        </p:nvSpPr>
        <p:spPr>
          <a:xfrm xmlns:a="http://schemas.openxmlformats.org/drawingml/2006/main">
            <a:off x="6286500" y="2114550"/>
            <a:ext cx="5400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F73B9"/>
                </a:solidFill>
                <a:latin typeface="Aptos"/>
                <a:ea typeface="Aptos"/>
                <a:cs typeface="Aptos"/>
              </a:defRPr>
            </a:defPPr>
            <a:lvl1pPr>
              <a:defRPr sz="2175" b="1">
                <a:solidFill>
                  <a:srgbClr val="2F73B9"/>
                </a:solidFill>
                <a:latin typeface="Aptos"/>
                <a:ea typeface="Aptos"/>
                <a:cs typeface="Aptos"/>
              </a:defRPr>
            </a:lvl1pPr>
            <a:lvl2pPr>
              <a:defRPr sz="2175" b="1">
                <a:solidFill>
                  <a:srgbClr val="2F73B9"/>
                </a:solidFill>
                <a:latin typeface="Aptos"/>
                <a:ea typeface="Aptos"/>
                <a:cs typeface="Aptos"/>
              </a:defRPr>
            </a:lvl2pPr>
            <a:lvl3pPr>
              <a:defRPr sz="2175" b="1">
                <a:solidFill>
                  <a:srgbClr val="2F73B9"/>
                </a:solidFill>
                <a:latin typeface="Aptos"/>
                <a:ea typeface="Aptos"/>
                <a:cs typeface="Aptos"/>
              </a:defRPr>
            </a:lvl3pPr>
            <a:lvl4pPr>
              <a:defRPr sz="2175" b="1">
                <a:solidFill>
                  <a:srgbClr val="2F73B9"/>
                </a:solidFill>
                <a:latin typeface="Aptos"/>
                <a:ea typeface="Aptos"/>
                <a:cs typeface="Aptos"/>
              </a:defRPr>
            </a:lvl4pPr>
            <a:lvl5pPr>
              <a:defRPr sz="2175" b="1">
                <a:solidFill>
                  <a:srgbClr val="2F73B9"/>
                </a:solidFill>
                <a:latin typeface="Aptos"/>
                <a:ea typeface="Aptos"/>
                <a:cs typeface="Aptos"/>
              </a:defRPr>
            </a:lvl5pPr>
            <a:lvl6pPr>
              <a:defRPr sz="2175" b="1">
                <a:solidFill>
                  <a:srgbClr val="2F73B9"/>
                </a:solidFill>
                <a:latin typeface="Aptos"/>
                <a:ea typeface="Aptos"/>
                <a:cs typeface="Aptos"/>
              </a:defRPr>
            </a:lvl6pPr>
            <a:lvl7pPr>
              <a:defRPr sz="2175" b="1">
                <a:solidFill>
                  <a:srgbClr val="2F73B9"/>
                </a:solidFill>
                <a:latin typeface="Aptos"/>
                <a:ea typeface="Aptos"/>
                <a:cs typeface="Aptos"/>
              </a:defRPr>
            </a:lvl7pPr>
            <a:lvl8pPr>
              <a:defRPr sz="2175" b="1">
                <a:solidFill>
                  <a:srgbClr val="2F73B9"/>
                </a:solidFill>
                <a:latin typeface="Aptos"/>
                <a:ea typeface="Aptos"/>
                <a:cs typeface="Aptos"/>
              </a:defRPr>
            </a:lvl8pPr>
            <a:lvl9pPr>
              <a:defRPr sz="2175" b="1">
                <a:solidFill>
                  <a:srgbClr val="2F73B9"/>
                </a:solidFill>
                <a:latin typeface="Aptos"/>
                <a:ea typeface="Aptos"/>
                <a:cs typeface="Aptos"/>
              </a:defRPr>
            </a:lvl9pPr>
          </a:lstStyle>
          <a:p xmlns:a="http://schemas.openxmlformats.org/drawingml/2006/main">
            <a:pPr>
              <a:defRPr sz="2175" b="1">
                <a:solidFill>
                  <a:srgbClr val="2F73B9"/>
                </a:solidFill>
                <a:latin typeface="Aptos"/>
                <a:ea typeface="Aptos"/>
                <a:cs typeface="Aptos"/>
              </a:defRPr>
            </a:pPr>
            <a:r>
              <a:rPr sz="2175" b="1">
                <a:solidFill>
                  <a:srgbClr val="2F73B9"/>
                </a:solidFill>
                <a:latin typeface="Aptos"/>
                <a:ea typeface="Aptos"/>
                <a:cs typeface="Aptos"/>
              </a:rPr>
              <a:t>Fictional activity records</a:t>
            </a:r>
          </a:p>
        </p:txBody>
      </p:sp>
      <p:sp>
        <p:nvSpPr>
          <p:cNvPr id="7" name="activity-records">
            <a:extLst xmlns:a="http://schemas.openxmlformats.org/drawingml/2006/main">
              <a:ext uri="{FF2B5EF4-FFF2-40B4-BE49-F238E27FC236}">
                <a16:creationId xmlns:a16="http://schemas.microsoft.com/office/drawing/2014/main" id="{751BF5E1-CB06-4FFF-9CFD-3CB6BF61EB23}"/>
              </a:ext>
            </a:extLst>
          </p:cNvPr>
          <p:cNvSpPr>
            <a:spLocks xmlns:a="http://schemas.openxmlformats.org/drawingml/2006/main" noGrp="1"/>
          </p:cNvSpPr>
          <p:nvPr/>
        </p:nvSpPr>
        <p:spPr>
          <a:xfrm xmlns:a="http://schemas.openxmlformats.org/drawingml/2006/main">
            <a:off x="6286500" y="2667000"/>
            <a:ext cx="54006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72033"/>
                </a:solidFill>
                <a:latin typeface="Aptos"/>
                <a:ea typeface="Aptos"/>
                <a:cs typeface="Aptos"/>
              </a:defRPr>
            </a:defPPr>
            <a:lvl1pPr>
              <a:defRPr sz="1725" b="0">
                <a:solidFill>
                  <a:srgbClr val="172033"/>
                </a:solidFill>
                <a:latin typeface="Aptos"/>
                <a:ea typeface="Aptos"/>
                <a:cs typeface="Aptos"/>
              </a:defRPr>
            </a:lvl1pPr>
            <a:lvl2pPr>
              <a:defRPr sz="1725" b="0">
                <a:solidFill>
                  <a:srgbClr val="172033"/>
                </a:solidFill>
                <a:latin typeface="Aptos"/>
                <a:ea typeface="Aptos"/>
                <a:cs typeface="Aptos"/>
              </a:defRPr>
            </a:lvl2pPr>
            <a:lvl3pPr>
              <a:defRPr sz="1725" b="0">
                <a:solidFill>
                  <a:srgbClr val="172033"/>
                </a:solidFill>
                <a:latin typeface="Aptos"/>
                <a:ea typeface="Aptos"/>
                <a:cs typeface="Aptos"/>
              </a:defRPr>
            </a:lvl3pPr>
            <a:lvl4pPr>
              <a:defRPr sz="1725" b="0">
                <a:solidFill>
                  <a:srgbClr val="172033"/>
                </a:solidFill>
                <a:latin typeface="Aptos"/>
                <a:ea typeface="Aptos"/>
                <a:cs typeface="Aptos"/>
              </a:defRPr>
            </a:lvl4pPr>
            <a:lvl5pPr>
              <a:defRPr sz="1725" b="0">
                <a:solidFill>
                  <a:srgbClr val="172033"/>
                </a:solidFill>
                <a:latin typeface="Aptos"/>
                <a:ea typeface="Aptos"/>
                <a:cs typeface="Aptos"/>
              </a:defRPr>
            </a:lvl5pPr>
            <a:lvl6pPr>
              <a:defRPr sz="1725" b="0">
                <a:solidFill>
                  <a:srgbClr val="172033"/>
                </a:solidFill>
                <a:latin typeface="Aptos"/>
                <a:ea typeface="Aptos"/>
                <a:cs typeface="Aptos"/>
              </a:defRPr>
            </a:lvl6pPr>
            <a:lvl7pPr>
              <a:defRPr sz="1725" b="0">
                <a:solidFill>
                  <a:srgbClr val="172033"/>
                </a:solidFill>
                <a:latin typeface="Aptos"/>
                <a:ea typeface="Aptos"/>
                <a:cs typeface="Aptos"/>
              </a:defRPr>
            </a:lvl7pPr>
            <a:lvl8pPr>
              <a:defRPr sz="1725" b="0">
                <a:solidFill>
                  <a:srgbClr val="172033"/>
                </a:solidFill>
                <a:latin typeface="Aptos"/>
                <a:ea typeface="Aptos"/>
                <a:cs typeface="Aptos"/>
              </a:defRPr>
            </a:lvl8pPr>
            <a:lvl9pPr>
              <a:defRPr sz="1725" b="0">
                <a:solidFill>
                  <a:srgbClr val="172033"/>
                </a:solidFill>
                <a:latin typeface="Aptos"/>
                <a:ea typeface="Aptos"/>
                <a:cs typeface="Aptos"/>
              </a:defRPr>
            </a:lvl9pPr>
          </a:lstStyle>
          <a:p xmlns:a="http://schemas.openxmlformats.org/drawingml/2006/main">
            <a:pPr>
              <a:defRPr sz="1725" b="0">
                <a:solidFill>
                  <a:srgbClr val="172033"/>
                </a:solidFill>
                <a:latin typeface="Aptos"/>
                <a:ea typeface="Aptos"/>
                <a:cs typeface="Aptos"/>
              </a:defRPr>
            </a:pPr>
            <a:r>
              <a:rPr sz="1725" b="0">
                <a:solidFill>
                  <a:srgbClr val="172033"/>
                </a:solidFill>
                <a:latin typeface="Aptos"/>
                <a:ea typeface="Aptos"/>
                <a:cs typeface="Aptos"/>
              </a:rPr>
              <a:t>A  Drawing: 2 p.m., $15, ages 10–14</a:t>
            </a:r>
          </a:p>
          <a:p xmlns:a="http://schemas.openxmlformats.org/drawingml/2006/main">
            <a:pPr>
              <a:defRPr sz="1725" b="0">
                <a:solidFill>
                  <a:srgbClr val="172033"/>
                </a:solidFill>
                <a:latin typeface="Aptos"/>
                <a:ea typeface="Aptos"/>
                <a:cs typeface="Aptos"/>
              </a:defRPr>
            </a:pPr>
            <a:r>
              <a:rPr sz="1725" b="0">
                <a:solidFill>
                  <a:srgbClr val="172033"/>
                </a:solidFill>
                <a:latin typeface="Aptos"/>
                <a:ea typeface="Aptos"/>
                <a:cs typeface="Aptos"/>
              </a:rPr>
              <a:t>B  Soccer: 3 p.m., free, ages 11–13</a:t>
            </a:r>
          </a:p>
          <a:p xmlns:a="http://schemas.openxmlformats.org/drawingml/2006/main">
            <a:pPr>
              <a:defRPr sz="1725" b="0">
                <a:solidFill>
                  <a:srgbClr val="172033"/>
                </a:solidFill>
                <a:latin typeface="Aptos"/>
                <a:ea typeface="Aptos"/>
                <a:cs typeface="Aptos"/>
              </a:defRPr>
            </a:pPr>
            <a:r>
              <a:rPr sz="1725" b="0">
                <a:solidFill>
                  <a:srgbClr val="172033"/>
                </a:solidFill>
                <a:latin typeface="Aptos"/>
                <a:ea typeface="Aptos"/>
                <a:cs typeface="Aptos"/>
              </a:rPr>
              <a:t>C  Robotics: 2 p.m., $35, ages 10–14</a:t>
            </a:r>
          </a:p>
        </p:txBody>
      </p:sp>
      <p:sp>
        <p:nvSpPr>
          <p:cNvPr id="8" name="prompt-label">
            <a:extLst xmlns:a="http://schemas.openxmlformats.org/drawingml/2006/main">
              <a:ext uri="{FF2B5EF4-FFF2-40B4-BE49-F238E27FC236}">
                <a16:creationId xmlns:a16="http://schemas.microsoft.com/office/drawing/2014/main" id="{372FE75D-2ED6-4A27-9786-C76C380A03BC}"/>
              </a:ext>
            </a:extLst>
          </p:cNvPr>
          <p:cNvSpPr>
            <a:spLocks xmlns:a="http://schemas.openxmlformats.org/drawingml/2006/main" noGrp="1"/>
          </p:cNvSpPr>
          <p:nvPr/>
        </p:nvSpPr>
        <p:spPr>
          <a:xfrm xmlns:a="http://schemas.openxmlformats.org/drawingml/2006/main">
            <a:off x="504825" y="44958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F57C00"/>
                </a:solidFill>
                <a:latin typeface="Aptos"/>
                <a:ea typeface="Aptos"/>
                <a:cs typeface="Aptos"/>
              </a:defRPr>
            </a:defPPr>
            <a:lvl1pPr>
              <a:defRPr sz="1125" b="1">
                <a:solidFill>
                  <a:srgbClr val="F57C00"/>
                </a:solidFill>
                <a:latin typeface="Aptos"/>
                <a:ea typeface="Aptos"/>
                <a:cs typeface="Aptos"/>
              </a:defRPr>
            </a:lvl1pPr>
            <a:lvl2pPr>
              <a:defRPr sz="1125" b="1">
                <a:solidFill>
                  <a:srgbClr val="F57C00"/>
                </a:solidFill>
                <a:latin typeface="Aptos"/>
                <a:ea typeface="Aptos"/>
                <a:cs typeface="Aptos"/>
              </a:defRPr>
            </a:lvl2pPr>
            <a:lvl3pPr>
              <a:defRPr sz="1125" b="1">
                <a:solidFill>
                  <a:srgbClr val="F57C00"/>
                </a:solidFill>
                <a:latin typeface="Aptos"/>
                <a:ea typeface="Aptos"/>
                <a:cs typeface="Aptos"/>
              </a:defRPr>
            </a:lvl3pPr>
            <a:lvl4pPr>
              <a:defRPr sz="1125" b="1">
                <a:solidFill>
                  <a:srgbClr val="F57C00"/>
                </a:solidFill>
                <a:latin typeface="Aptos"/>
                <a:ea typeface="Aptos"/>
                <a:cs typeface="Aptos"/>
              </a:defRPr>
            </a:lvl4pPr>
            <a:lvl5pPr>
              <a:defRPr sz="1125" b="1">
                <a:solidFill>
                  <a:srgbClr val="F57C00"/>
                </a:solidFill>
                <a:latin typeface="Aptos"/>
                <a:ea typeface="Aptos"/>
                <a:cs typeface="Aptos"/>
              </a:defRPr>
            </a:lvl5pPr>
            <a:lvl6pPr>
              <a:defRPr sz="1125" b="1">
                <a:solidFill>
                  <a:srgbClr val="F57C00"/>
                </a:solidFill>
                <a:latin typeface="Aptos"/>
                <a:ea typeface="Aptos"/>
                <a:cs typeface="Aptos"/>
              </a:defRPr>
            </a:lvl6pPr>
            <a:lvl7pPr>
              <a:defRPr sz="1125" b="1">
                <a:solidFill>
                  <a:srgbClr val="F57C00"/>
                </a:solidFill>
                <a:latin typeface="Aptos"/>
                <a:ea typeface="Aptos"/>
                <a:cs typeface="Aptos"/>
              </a:defRPr>
            </a:lvl7pPr>
            <a:lvl8pPr>
              <a:defRPr sz="1125" b="1">
                <a:solidFill>
                  <a:srgbClr val="F57C00"/>
                </a:solidFill>
                <a:latin typeface="Aptos"/>
                <a:ea typeface="Aptos"/>
                <a:cs typeface="Aptos"/>
              </a:defRPr>
            </a:lvl8pPr>
            <a:lvl9pPr>
              <a:defRPr sz="1125" b="1">
                <a:solidFill>
                  <a:srgbClr val="F57C00"/>
                </a:solidFill>
                <a:latin typeface="Aptos"/>
                <a:ea typeface="Aptos"/>
                <a:cs typeface="Aptos"/>
              </a:defRPr>
            </a:lvl9pPr>
          </a:lstStyle>
          <a:p xmlns:a="http://schemas.openxmlformats.org/drawingml/2006/main">
            <a:pPr>
              <a:defRPr sz="1125" b="1">
                <a:solidFill>
                  <a:srgbClr val="F57C00"/>
                </a:solidFill>
                <a:latin typeface="Aptos"/>
                <a:ea typeface="Aptos"/>
                <a:cs typeface="Aptos"/>
              </a:defRPr>
            </a:pPr>
            <a:r>
              <a:rPr sz="1125" b="1">
                <a:solidFill>
                  <a:srgbClr val="F57C00"/>
                </a:solidFill>
                <a:latin typeface="Aptos"/>
                <a:ea typeface="Aptos"/>
                <a:cs typeface="Aptos"/>
              </a:rPr>
              <a:t>GROUNDED PROMPT</a:t>
            </a:r>
          </a:p>
        </p:txBody>
      </p:sp>
      <p:sp>
        <p:nvSpPr>
          <p:cNvPr id="9" name="demo-prompt">
            <a:extLst xmlns:a="http://schemas.openxmlformats.org/drawingml/2006/main">
              <a:ext uri="{FF2B5EF4-FFF2-40B4-BE49-F238E27FC236}">
                <a16:creationId xmlns:a16="http://schemas.microsoft.com/office/drawing/2014/main" id="{0224A5AC-DD57-47B5-9ED4-0301F0E75974}"/>
              </a:ext>
            </a:extLst>
          </p:cNvPr>
          <p:cNvSpPr>
            <a:spLocks xmlns:a="http://schemas.openxmlformats.org/drawingml/2006/main" noGrp="1"/>
          </p:cNvSpPr>
          <p:nvPr/>
        </p:nvSpPr>
        <p:spPr>
          <a:xfrm xmlns:a="http://schemas.openxmlformats.org/drawingml/2006/main">
            <a:off x="504825" y="4867275"/>
            <a:ext cx="11182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2033"/>
                </a:solidFill>
                <a:latin typeface="Aptos"/>
                <a:ea typeface="Aptos"/>
                <a:cs typeface="Aptos"/>
              </a:defRPr>
            </a:defPPr>
            <a:lvl1pPr>
              <a:defRPr sz="2100" b="1">
                <a:solidFill>
                  <a:srgbClr val="172033"/>
                </a:solidFill>
                <a:latin typeface="Aptos"/>
                <a:ea typeface="Aptos"/>
                <a:cs typeface="Aptos"/>
              </a:defRPr>
            </a:lvl1pPr>
            <a:lvl2pPr>
              <a:defRPr sz="2100" b="1">
                <a:solidFill>
                  <a:srgbClr val="172033"/>
                </a:solidFill>
                <a:latin typeface="Aptos"/>
                <a:ea typeface="Aptos"/>
                <a:cs typeface="Aptos"/>
              </a:defRPr>
            </a:lvl2pPr>
            <a:lvl3pPr>
              <a:defRPr sz="2100" b="1">
                <a:solidFill>
                  <a:srgbClr val="172033"/>
                </a:solidFill>
                <a:latin typeface="Aptos"/>
                <a:ea typeface="Aptos"/>
                <a:cs typeface="Aptos"/>
              </a:defRPr>
            </a:lvl3pPr>
            <a:lvl4pPr>
              <a:defRPr sz="2100" b="1">
                <a:solidFill>
                  <a:srgbClr val="172033"/>
                </a:solidFill>
                <a:latin typeface="Aptos"/>
                <a:ea typeface="Aptos"/>
                <a:cs typeface="Aptos"/>
              </a:defRPr>
            </a:lvl4pPr>
            <a:lvl5pPr>
              <a:defRPr sz="2100" b="1">
                <a:solidFill>
                  <a:srgbClr val="172033"/>
                </a:solidFill>
                <a:latin typeface="Aptos"/>
                <a:ea typeface="Aptos"/>
                <a:cs typeface="Aptos"/>
              </a:defRPr>
            </a:lvl5pPr>
            <a:lvl6pPr>
              <a:defRPr sz="2100" b="1">
                <a:solidFill>
                  <a:srgbClr val="172033"/>
                </a:solidFill>
                <a:latin typeface="Aptos"/>
                <a:ea typeface="Aptos"/>
                <a:cs typeface="Aptos"/>
              </a:defRPr>
            </a:lvl6pPr>
            <a:lvl7pPr>
              <a:defRPr sz="2100" b="1">
                <a:solidFill>
                  <a:srgbClr val="172033"/>
                </a:solidFill>
                <a:latin typeface="Aptos"/>
                <a:ea typeface="Aptos"/>
                <a:cs typeface="Aptos"/>
              </a:defRPr>
            </a:lvl7pPr>
            <a:lvl8pPr>
              <a:defRPr sz="2100" b="1">
                <a:solidFill>
                  <a:srgbClr val="172033"/>
                </a:solidFill>
                <a:latin typeface="Aptos"/>
                <a:ea typeface="Aptos"/>
                <a:cs typeface="Aptos"/>
              </a:defRPr>
            </a:lvl8pPr>
            <a:lvl9pPr>
              <a:defRPr sz="2100" b="1">
                <a:solidFill>
                  <a:srgbClr val="172033"/>
                </a:solidFill>
                <a:latin typeface="Aptos"/>
                <a:ea typeface="Aptos"/>
                <a:cs typeface="Aptos"/>
              </a:defRPr>
            </a:lvl9pPr>
          </a:lstStyle>
          <a:p xmlns:a="http://schemas.openxmlformats.org/drawingml/2006/main">
            <a:pPr>
              <a:defRPr sz="2100" b="1">
                <a:solidFill>
                  <a:srgbClr val="172033"/>
                </a:solidFill>
                <a:latin typeface="Aptos"/>
                <a:ea typeface="Aptos"/>
                <a:cs typeface="Aptos"/>
              </a:defRPr>
            </a:pPr>
            <a:r>
              <a:rPr sz="2100" b="1">
                <a:solidFill>
                  <a:srgbClr val="172033"/>
                </a:solidFill>
                <a:latin typeface="Aptos"/>
                <a:ea typeface="Aptos"/>
                <a:cs typeface="Aptos"/>
              </a:rPr>
              <a:t>“Using only these records, suggest two alternatives. Explain the fit, flag what is unknown, and ask for approval before any action.”</a:t>
            </a:r>
          </a:p>
        </p:txBody>
      </p:sp>
      <p:sp>
        <p:nvSpPr>
          <p:cNvPr id="10" name="demo-output">
            <a:extLst xmlns:a="http://schemas.openxmlformats.org/drawingml/2006/main">
              <a:ext uri="{FF2B5EF4-FFF2-40B4-BE49-F238E27FC236}">
                <a16:creationId xmlns:a16="http://schemas.microsoft.com/office/drawing/2014/main" id="{9C0A4FE9-58E4-4865-BE69-BB729BB38313}"/>
              </a:ext>
            </a:extLst>
          </p:cNvPr>
          <p:cNvSpPr>
            <a:spLocks xmlns:a="http://schemas.openxmlformats.org/drawingml/2006/main" noGrp="1"/>
          </p:cNvSpPr>
          <p:nvPr/>
        </p:nvSpPr>
        <p:spPr>
          <a:xfrm xmlns:a="http://schemas.openxmlformats.org/drawingml/2006/main">
            <a:off x="504825" y="5905500"/>
            <a:ext cx="11182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F7782"/>
                </a:solidFill>
                <a:latin typeface="Aptos"/>
                <a:ea typeface="Aptos"/>
                <a:cs typeface="Aptos"/>
              </a:defRPr>
            </a:defPPr>
            <a:lvl1pPr>
              <a:defRPr sz="1650" b="0">
                <a:solidFill>
                  <a:srgbClr val="6F7782"/>
                </a:solidFill>
                <a:latin typeface="Aptos"/>
                <a:ea typeface="Aptos"/>
                <a:cs typeface="Aptos"/>
              </a:defRPr>
            </a:lvl1pPr>
            <a:lvl2pPr>
              <a:defRPr sz="1650" b="0">
                <a:solidFill>
                  <a:srgbClr val="6F7782"/>
                </a:solidFill>
                <a:latin typeface="Aptos"/>
                <a:ea typeface="Aptos"/>
                <a:cs typeface="Aptos"/>
              </a:defRPr>
            </a:lvl2pPr>
            <a:lvl3pPr>
              <a:defRPr sz="1650" b="0">
                <a:solidFill>
                  <a:srgbClr val="6F7782"/>
                </a:solidFill>
                <a:latin typeface="Aptos"/>
                <a:ea typeface="Aptos"/>
                <a:cs typeface="Aptos"/>
              </a:defRPr>
            </a:lvl3pPr>
            <a:lvl4pPr>
              <a:defRPr sz="1650" b="0">
                <a:solidFill>
                  <a:srgbClr val="6F7782"/>
                </a:solidFill>
                <a:latin typeface="Aptos"/>
                <a:ea typeface="Aptos"/>
                <a:cs typeface="Aptos"/>
              </a:defRPr>
            </a:lvl4pPr>
            <a:lvl5pPr>
              <a:defRPr sz="1650" b="0">
                <a:solidFill>
                  <a:srgbClr val="6F7782"/>
                </a:solidFill>
                <a:latin typeface="Aptos"/>
                <a:ea typeface="Aptos"/>
                <a:cs typeface="Aptos"/>
              </a:defRPr>
            </a:lvl5pPr>
            <a:lvl6pPr>
              <a:defRPr sz="1650" b="0">
                <a:solidFill>
                  <a:srgbClr val="6F7782"/>
                </a:solidFill>
                <a:latin typeface="Aptos"/>
                <a:ea typeface="Aptos"/>
                <a:cs typeface="Aptos"/>
              </a:defRPr>
            </a:lvl6pPr>
            <a:lvl7pPr>
              <a:defRPr sz="1650" b="0">
                <a:solidFill>
                  <a:srgbClr val="6F7782"/>
                </a:solidFill>
                <a:latin typeface="Aptos"/>
                <a:ea typeface="Aptos"/>
                <a:cs typeface="Aptos"/>
              </a:defRPr>
            </a:lvl7pPr>
            <a:lvl8pPr>
              <a:defRPr sz="1650" b="0">
                <a:solidFill>
                  <a:srgbClr val="6F7782"/>
                </a:solidFill>
                <a:latin typeface="Aptos"/>
                <a:ea typeface="Aptos"/>
                <a:cs typeface="Aptos"/>
              </a:defRPr>
            </a:lvl8pPr>
            <a:lvl9pPr>
              <a:defRPr sz="1650" b="0">
                <a:solidFill>
                  <a:srgbClr val="6F7782"/>
                </a:solidFill>
                <a:latin typeface="Aptos"/>
                <a:ea typeface="Aptos"/>
                <a:cs typeface="Aptos"/>
              </a:defRPr>
            </a:lvl9pPr>
          </a:lstStyle>
          <a:p xmlns:a="http://schemas.openxmlformats.org/drawingml/2006/main">
            <a:pPr>
              <a:defRPr sz="1650" b="0">
                <a:solidFill>
                  <a:srgbClr val="6F7782"/>
                </a:solidFill>
                <a:latin typeface="Aptos"/>
                <a:ea typeface="Aptos"/>
                <a:cs typeface="Aptos"/>
              </a:defRPr>
            </a:pPr>
            <a:r>
              <a:rPr sz="1650" b="0">
                <a:solidFill>
                  <a:srgbClr val="6F7782"/>
                </a:solidFill>
                <a:latin typeface="Aptos"/>
                <a:ea typeface="Aptos"/>
                <a:cs typeface="Aptos"/>
              </a:rPr>
              <a:t>Check: A and B are candidates. C exceeds budget. Confirm duration, travel, and availability.</a:t>
            </a:r>
          </a:p>
        </p:txBody>
      </p:sp>
      <p:sp>
        <p:nvSpPr>
          <p:cNvPr id="11" name="page-number">
            <a:extLst xmlns:a="http://schemas.openxmlformats.org/drawingml/2006/main">
              <a:ext uri="{FF2B5EF4-FFF2-40B4-BE49-F238E27FC236}">
                <a16:creationId xmlns:a16="http://schemas.microsoft.com/office/drawing/2014/main" id="{65941D46-616D-48EE-80D0-A4DC4394D4AB}"/>
              </a:ext>
            </a:extLst>
          </p:cNvPr>
          <p:cNvSpPr>
            <a:spLocks xmlns:a="http://schemas.openxmlformats.org/drawingml/2006/main" noGrp="1"/>
          </p:cNvSpPr>
          <p:nvPr/>
        </p:nvSpPr>
        <p:spPr>
          <a:xfrm xmlns:a="http://schemas.openxmlformats.org/drawingml/2006/main">
            <a:off x="11896725" y="266700"/>
            <a:ext cx="190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825" b="0">
                <a:solidFill>
                  <a:srgbClr val="9F9F9F"/>
                </a:solidFill>
                <a:latin typeface="Aptos"/>
                <a:ea typeface="Aptos"/>
                <a:cs typeface="Aptos"/>
              </a:defRPr>
            </a:defPPr>
            <a:lvl1pPr>
              <a:defRPr sz="825" b="0">
                <a:solidFill>
                  <a:srgbClr val="9F9F9F"/>
                </a:solidFill>
                <a:latin typeface="Aptos"/>
                <a:ea typeface="Aptos"/>
                <a:cs typeface="Aptos"/>
              </a:defRPr>
            </a:lvl1pPr>
            <a:lvl2pPr>
              <a:defRPr sz="825" b="0">
                <a:solidFill>
                  <a:srgbClr val="9F9F9F"/>
                </a:solidFill>
                <a:latin typeface="Aptos"/>
                <a:ea typeface="Aptos"/>
                <a:cs typeface="Aptos"/>
              </a:defRPr>
            </a:lvl2pPr>
            <a:lvl3pPr>
              <a:defRPr sz="825" b="0">
                <a:solidFill>
                  <a:srgbClr val="9F9F9F"/>
                </a:solidFill>
                <a:latin typeface="Aptos"/>
                <a:ea typeface="Aptos"/>
                <a:cs typeface="Aptos"/>
              </a:defRPr>
            </a:lvl3pPr>
            <a:lvl4pPr>
              <a:defRPr sz="825" b="0">
                <a:solidFill>
                  <a:srgbClr val="9F9F9F"/>
                </a:solidFill>
                <a:latin typeface="Aptos"/>
                <a:ea typeface="Aptos"/>
                <a:cs typeface="Aptos"/>
              </a:defRPr>
            </a:lvl4pPr>
            <a:lvl5pPr>
              <a:defRPr sz="825" b="0">
                <a:solidFill>
                  <a:srgbClr val="9F9F9F"/>
                </a:solidFill>
                <a:latin typeface="Aptos"/>
                <a:ea typeface="Aptos"/>
                <a:cs typeface="Aptos"/>
              </a:defRPr>
            </a:lvl5pPr>
            <a:lvl6pPr>
              <a:defRPr sz="825" b="0">
                <a:solidFill>
                  <a:srgbClr val="9F9F9F"/>
                </a:solidFill>
                <a:latin typeface="Aptos"/>
                <a:ea typeface="Aptos"/>
                <a:cs typeface="Aptos"/>
              </a:defRPr>
            </a:lvl6pPr>
            <a:lvl7pPr>
              <a:defRPr sz="825" b="0">
                <a:solidFill>
                  <a:srgbClr val="9F9F9F"/>
                </a:solidFill>
                <a:latin typeface="Aptos"/>
                <a:ea typeface="Aptos"/>
                <a:cs typeface="Aptos"/>
              </a:defRPr>
            </a:lvl7pPr>
            <a:lvl8pPr>
              <a:defRPr sz="825" b="0">
                <a:solidFill>
                  <a:srgbClr val="9F9F9F"/>
                </a:solidFill>
                <a:latin typeface="Aptos"/>
                <a:ea typeface="Aptos"/>
                <a:cs typeface="Aptos"/>
              </a:defRPr>
            </a:lvl8pPr>
            <a:lvl9pPr>
              <a:defRPr sz="825" b="0">
                <a:solidFill>
                  <a:srgbClr val="9F9F9F"/>
                </a:solidFill>
                <a:latin typeface="Aptos"/>
                <a:ea typeface="Aptos"/>
                <a:cs typeface="Aptos"/>
              </a:defRPr>
            </a:lvl9pPr>
          </a:lstStyle>
          <a:p xmlns:a="http://schemas.openxmlformats.org/drawingml/2006/main">
            <a:pPr>
              <a:defRPr sz="825" b="0">
                <a:solidFill>
                  <a:srgbClr val="9F9F9F"/>
                </a:solidFill>
                <a:latin typeface="Aptos"/>
                <a:ea typeface="Aptos"/>
                <a:cs typeface="Aptos"/>
              </a:defRPr>
            </a:pPr>
            <a:r>
              <a:rPr sz="825" b="0">
                <a:solidFill>
                  <a:srgbClr val="9F9F9F"/>
                </a:solidFill>
                <a:latin typeface="Aptos"/>
                <a:ea typeface="Aptos"/>
                <a:cs typeface="Aptos"/>
              </a:rPr>
              <a:t>12</a:t>
            </a:r>
          </a:p>
        </p:txBody>
      </p:sp>
    </p:spTree>
    <p:extLst>
      <p:ext uri="{BB962C8B-B14F-4D97-AF65-F5344CB8AC3E}">
        <p14:creationId xmlns:p14="http://schemas.microsoft.com/office/powerpoint/2010/main" val="127622533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2026-10-30T17:56:44.4920000Z</dcterms:created>
  <dcterms:modified xsi:type="dcterms:W3CDTF">2026-10-30T17:56:44.4920000Z</dcterms:modified>
</coreProperties>
</file>